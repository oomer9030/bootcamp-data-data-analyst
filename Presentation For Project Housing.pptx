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71" r:id="rId14"/>
    <p:sldId id="272"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76" autoAdjust="0"/>
    <p:restoredTop sz="94610"/>
  </p:normalViewPr>
  <p:slideViewPr>
    <p:cSldViewPr snapToGrid="0" snapToObjects="1">
      <p:cViewPr>
        <p:scale>
          <a:sx n="125" d="100"/>
          <a:sy n="125" d="100"/>
        </p:scale>
        <p:origin x="9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328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350"/>
            <a:ext cx="9144000" cy="5143500"/>
          </a:xfrm>
          <a:prstGeom prst="rect">
            <a:avLst/>
          </a:prstGeom>
        </p:spPr>
      </p:pic>
      <p:sp>
        <p:nvSpPr>
          <p:cNvPr id="3" name="Text 0"/>
          <p:cNvSpPr/>
          <p:nvPr/>
        </p:nvSpPr>
        <p:spPr>
          <a:xfrm>
            <a:off x="498332" y="1533088"/>
            <a:ext cx="8147307" cy="548618"/>
          </a:xfrm>
          <a:prstGeom prst="rect">
            <a:avLst/>
          </a:prstGeom>
          <a:noFill/>
          <a:ln/>
        </p:spPr>
        <p:txBody>
          <a:bodyPr wrap="none" lIns="0" tIns="0" rIns="0" bIns="0" rtlCol="0" anchor="t">
            <a:spAutoFit/>
          </a:bodyPr>
          <a:lstStyle/>
          <a:p>
            <a:pPr marL="0" indent="0" algn="ctr">
              <a:lnSpc>
                <a:spcPts val="4300"/>
              </a:lnSpc>
              <a:buNone/>
            </a:pPr>
            <a:r>
              <a:rPr lang="en-US" sz="3294" b="1" dirty="0">
                <a:solidFill>
                  <a:srgbClr val="1A1A1A"/>
                </a:solidFill>
              </a:rPr>
              <a:t>Predicting Our Dream Home's Price</a:t>
            </a:r>
            <a:endParaRPr lang="en-US" sz="3294" dirty="0"/>
          </a:p>
        </p:txBody>
      </p:sp>
      <p:sp>
        <p:nvSpPr>
          <p:cNvPr id="4" name="Text 1"/>
          <p:cNvSpPr/>
          <p:nvPr/>
        </p:nvSpPr>
        <p:spPr>
          <a:xfrm>
            <a:off x="1209749" y="2224580"/>
            <a:ext cx="6724501" cy="297163"/>
          </a:xfrm>
          <a:prstGeom prst="rect">
            <a:avLst/>
          </a:prstGeom>
          <a:noFill/>
          <a:ln/>
        </p:spPr>
        <p:txBody>
          <a:bodyPr wrap="none" lIns="0" tIns="0" rIns="0" bIns="0" rtlCol="0" anchor="t">
            <a:spAutoFit/>
          </a:bodyPr>
          <a:lstStyle/>
          <a:p>
            <a:pPr marL="0" indent="0" algn="ctr">
              <a:lnSpc>
                <a:spcPts val="2300"/>
              </a:lnSpc>
              <a:buNone/>
            </a:pPr>
            <a:r>
              <a:rPr lang="en-US" sz="1602" b="1" dirty="0">
                <a:solidFill>
                  <a:srgbClr val="007BFF"/>
                </a:solidFill>
              </a:rPr>
              <a:t>A Complete Data Science Deep Dive with Machine Learning</a:t>
            </a:r>
            <a:endParaRPr lang="en-US" sz="1602" dirty="0"/>
          </a:p>
        </p:txBody>
      </p:sp>
      <p:sp>
        <p:nvSpPr>
          <p:cNvPr id="5" name="Text 2"/>
          <p:cNvSpPr/>
          <p:nvPr/>
        </p:nvSpPr>
        <p:spPr>
          <a:xfrm>
            <a:off x="1714500" y="2807494"/>
            <a:ext cx="5715000" cy="617153"/>
          </a:xfrm>
          <a:prstGeom prst="rect">
            <a:avLst/>
          </a:prstGeom>
          <a:noFill/>
          <a:ln/>
        </p:spPr>
        <p:txBody>
          <a:bodyPr wrap="square" lIns="0" tIns="0" rIns="0" bIns="0" rtlCol="0" anchor="t">
            <a:spAutoFit/>
          </a:bodyPr>
          <a:lstStyle/>
          <a:p>
            <a:pPr marL="0" indent="0" algn="ctr">
              <a:lnSpc>
                <a:spcPts val="1600"/>
              </a:lnSpc>
              <a:buNone/>
            </a:pPr>
            <a:r>
              <a:rPr lang="en-US" sz="942" dirty="0">
                <a:solidFill>
                  <a:srgbClr val="495057"/>
                </a:solidFill>
              </a:rPr>
              <a:t>From data loading and cleaning to model training and evaluation, explore how machine learning algorithms predict house prices with accuracy and insight. A comprehensive journey through the entire data science pipeline.</a:t>
            </a:r>
            <a:endParaRPr lang="en-US" sz="942" dirty="0"/>
          </a:p>
        </p:txBody>
      </p:sp>
      <p:sp>
        <p:nvSpPr>
          <p:cNvPr id="6" name="Shape 3"/>
          <p:cNvSpPr/>
          <p:nvPr/>
        </p:nvSpPr>
        <p:spPr>
          <a:xfrm>
            <a:off x="1162547" y="4634736"/>
            <a:ext cx="8286750" cy="285750"/>
          </a:xfrm>
          <a:prstGeom prst="rect">
            <a:avLst/>
          </a:prstGeom>
          <a:solidFill>
            <a:srgbClr val="000000">
              <a:alpha val="0"/>
            </a:srgbClr>
          </a:solidFill>
          <a:ln/>
        </p:spPr>
        <p:txBody>
          <a:bodyPr/>
          <a:lstStyle/>
          <a:p>
            <a:endParaRPr lang="en-MU" dirty="0"/>
          </a:p>
        </p:txBody>
      </p:sp>
      <p:sp>
        <p:nvSpPr>
          <p:cNvPr id="7" name="Shape 4"/>
          <p:cNvSpPr/>
          <p:nvPr/>
        </p:nvSpPr>
        <p:spPr>
          <a:xfrm>
            <a:off x="428625" y="4572000"/>
            <a:ext cx="8286750" cy="7144"/>
          </a:xfrm>
          <a:prstGeom prst="rect">
            <a:avLst/>
          </a:prstGeom>
          <a:solidFill>
            <a:srgbClr val="E0E0E0"/>
          </a:solidFill>
          <a:ln/>
        </p:spPr>
        <p:txBody>
          <a:bodyPr/>
          <a:lstStyle/>
          <a:p>
            <a:endParaRPr lang="en-MU"/>
          </a:p>
        </p:txBody>
      </p:sp>
      <p:sp>
        <p:nvSpPr>
          <p:cNvPr id="8" name="Text 5"/>
          <p:cNvSpPr/>
          <p:nvPr/>
        </p:nvSpPr>
        <p:spPr>
          <a:xfrm>
            <a:off x="428625" y="4722019"/>
            <a:ext cx="339837" cy="111184"/>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007BFF"/>
                </a:solidFill>
              </a:rPr>
              <a:t>17 Slides</a:t>
            </a:r>
            <a:r>
              <a:rPr lang="en-US" sz="727" dirty="0">
                <a:solidFill>
                  <a:srgbClr val="495057"/>
                </a:solidFill>
              </a:rPr>
              <a:t> </a:t>
            </a:r>
            <a:endParaRPr lang="en-US" sz="683" dirty="0"/>
          </a:p>
        </p:txBody>
      </p:sp>
      <p:sp>
        <p:nvSpPr>
          <p:cNvPr id="10" name="Text 6">
            <a:extLst>
              <a:ext uri="{FF2B5EF4-FFF2-40B4-BE49-F238E27FC236}">
                <a16:creationId xmlns:a16="http://schemas.microsoft.com/office/drawing/2014/main" id="{98C7D136-216D-6DD1-BA10-C4877AFCF3EA}"/>
              </a:ext>
            </a:extLst>
          </p:cNvPr>
          <p:cNvSpPr/>
          <p:nvPr/>
        </p:nvSpPr>
        <p:spPr>
          <a:xfrm>
            <a:off x="4787900" y="4660900"/>
            <a:ext cx="4298453" cy="140680"/>
          </a:xfrm>
          <a:prstGeom prst="rect">
            <a:avLst/>
          </a:prstGeom>
          <a:noFill/>
          <a:ln/>
        </p:spPr>
        <p:txBody>
          <a:bodyPr wrap="square" lIns="0" tIns="0" rIns="0" bIns="0" rtlCol="0" anchor="t">
            <a:spAutoFit/>
          </a:bodyPr>
          <a:lstStyle/>
          <a:p>
            <a:pPr marL="0" indent="0" algn="l">
              <a:lnSpc>
                <a:spcPts val="900"/>
              </a:lnSpc>
              <a:buNone/>
            </a:pPr>
            <a:r>
              <a:rPr lang="en-US" sz="1600" dirty="0"/>
              <a:t>Prepared By Mohamad Oomer Habib Moussa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50119"/>
          </a:xfrm>
          <a:prstGeom prst="rect">
            <a:avLst/>
          </a:prstGeom>
          <a:solidFill>
            <a:srgbClr val="000000">
              <a:alpha val="0"/>
            </a:srgbClr>
          </a:solidFill>
          <a:ln/>
        </p:spPr>
        <p:txBody>
          <a:bodyPr/>
          <a:lstStyle/>
          <a:p>
            <a:endParaRPr lang="en-MU"/>
          </a:p>
        </p:txBody>
      </p:sp>
      <p:sp>
        <p:nvSpPr>
          <p:cNvPr id="4" name="Shape 1"/>
          <p:cNvSpPr/>
          <p:nvPr/>
        </p:nvSpPr>
        <p:spPr>
          <a:xfrm>
            <a:off x="0" y="935831"/>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Our Digital Toolkit</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Python Libraries for Data Science</a:t>
            </a:r>
            <a:endParaRPr lang="en-US" sz="987" dirty="0"/>
          </a:p>
        </p:txBody>
      </p:sp>
      <p:sp>
        <p:nvSpPr>
          <p:cNvPr id="7" name="Shape 4"/>
          <p:cNvSpPr/>
          <p:nvPr/>
        </p:nvSpPr>
        <p:spPr>
          <a:xfrm>
            <a:off x="428625" y="1078706"/>
            <a:ext cx="2643188" cy="765777"/>
          </a:xfrm>
          <a:prstGeom prst="rect">
            <a:avLst/>
          </a:prstGeom>
          <a:solidFill>
            <a:srgbClr val="F8F9FA"/>
          </a:solidFill>
          <a:ln/>
        </p:spPr>
        <p:txBody>
          <a:bodyPr/>
          <a:lstStyle/>
          <a:p>
            <a:endParaRPr lang="en-MU"/>
          </a:p>
        </p:txBody>
      </p:sp>
      <p:sp>
        <p:nvSpPr>
          <p:cNvPr id="8" name="Shape 5"/>
          <p:cNvSpPr/>
          <p:nvPr/>
        </p:nvSpPr>
        <p:spPr>
          <a:xfrm>
            <a:off x="428625" y="1078706"/>
            <a:ext cx="28575" cy="765777"/>
          </a:xfrm>
          <a:prstGeom prst="rect">
            <a:avLst/>
          </a:prstGeom>
          <a:solidFill>
            <a:srgbClr val="007BFF"/>
          </a:solidFill>
          <a:ln/>
        </p:spPr>
        <p:txBody>
          <a:bodyPr/>
          <a:lstStyle/>
          <a:p>
            <a:endParaRPr lang="en-MU"/>
          </a:p>
        </p:txBody>
      </p:sp>
      <p:sp>
        <p:nvSpPr>
          <p:cNvPr id="9" name="Shape 6"/>
          <p:cNvSpPr/>
          <p:nvPr/>
        </p:nvSpPr>
        <p:spPr>
          <a:xfrm>
            <a:off x="485775" y="1135856"/>
            <a:ext cx="2528888" cy="245734"/>
          </a:xfrm>
          <a:prstGeom prst="rect">
            <a:avLst/>
          </a:prstGeom>
          <a:solidFill>
            <a:srgbClr val="1A1A1A"/>
          </a:solidFill>
          <a:ln/>
        </p:spPr>
        <p:txBody>
          <a:bodyPr/>
          <a:lstStyle/>
          <a:p>
            <a:endParaRPr lang="en-MU"/>
          </a:p>
        </p:txBody>
      </p:sp>
      <p:sp>
        <p:nvSpPr>
          <p:cNvPr id="10" name="Text 7"/>
          <p:cNvSpPr/>
          <p:nvPr/>
        </p:nvSpPr>
        <p:spPr>
          <a:xfrm>
            <a:off x="485775" y="1135856"/>
            <a:ext cx="2528888"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import pandas as pd</a:t>
            </a:r>
            <a:endParaRPr lang="en-US" sz="568" dirty="0"/>
          </a:p>
          <a:p>
            <a:pPr marL="0" indent="0" algn="l">
              <a:lnSpc>
                <a:spcPts val="700"/>
              </a:lnSpc>
              <a:buNone/>
            </a:pPr>
            <a:r>
              <a:rPr lang="en-US" sz="568" dirty="0">
                <a:solidFill>
                  <a:srgbClr val="28A745"/>
                </a:solidFill>
              </a:rPr>
              <a:t>import numpy as np</a:t>
            </a:r>
            <a:endParaRPr lang="en-US" sz="568" dirty="0"/>
          </a:p>
        </p:txBody>
      </p:sp>
      <p:sp>
        <p:nvSpPr>
          <p:cNvPr id="11" name="Text 8"/>
          <p:cNvSpPr/>
          <p:nvPr/>
        </p:nvSpPr>
        <p:spPr>
          <a:xfrm>
            <a:off x="571500" y="1403021"/>
            <a:ext cx="48069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pandas (pd):</a:t>
            </a:r>
            <a:endParaRPr lang="en-US" sz="534" dirty="0"/>
          </a:p>
        </p:txBody>
      </p:sp>
      <p:sp>
        <p:nvSpPr>
          <p:cNvPr id="12" name="Text 9"/>
          <p:cNvSpPr/>
          <p:nvPr/>
        </p:nvSpPr>
        <p:spPr>
          <a:xfrm>
            <a:off x="571500" y="1506680"/>
            <a:ext cx="2258932"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Data manipulation and analysis library. Handles DataFrames (tables of data).</a:t>
            </a:r>
            <a:endParaRPr lang="en-US" sz="568" dirty="0"/>
          </a:p>
        </p:txBody>
      </p:sp>
      <p:sp>
        <p:nvSpPr>
          <p:cNvPr id="13" name="Text 10"/>
          <p:cNvSpPr/>
          <p:nvPr/>
        </p:nvSpPr>
        <p:spPr>
          <a:xfrm>
            <a:off x="571500" y="1591605"/>
            <a:ext cx="470790"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numpy (np):</a:t>
            </a:r>
            <a:endParaRPr lang="en-US" sz="534" dirty="0"/>
          </a:p>
        </p:txBody>
      </p:sp>
      <p:sp>
        <p:nvSpPr>
          <p:cNvPr id="14" name="Text 11"/>
          <p:cNvSpPr/>
          <p:nvPr/>
        </p:nvSpPr>
        <p:spPr>
          <a:xfrm>
            <a:off x="574235" y="1716695"/>
            <a:ext cx="1931324"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Numerical computing library. Performs mathematical and array operations.</a:t>
            </a:r>
            <a:endParaRPr lang="en-US" sz="568" dirty="0"/>
          </a:p>
        </p:txBody>
      </p:sp>
      <p:sp>
        <p:nvSpPr>
          <p:cNvPr id="15" name="Shape 12"/>
          <p:cNvSpPr/>
          <p:nvPr/>
        </p:nvSpPr>
        <p:spPr>
          <a:xfrm>
            <a:off x="428625" y="1901633"/>
            <a:ext cx="2643188" cy="671485"/>
          </a:xfrm>
          <a:prstGeom prst="rect">
            <a:avLst/>
          </a:prstGeom>
          <a:solidFill>
            <a:srgbClr val="F8F9FA"/>
          </a:solidFill>
          <a:ln/>
        </p:spPr>
        <p:txBody>
          <a:bodyPr/>
          <a:lstStyle/>
          <a:p>
            <a:endParaRPr lang="en-MU"/>
          </a:p>
        </p:txBody>
      </p:sp>
      <p:sp>
        <p:nvSpPr>
          <p:cNvPr id="16" name="Shape 13"/>
          <p:cNvSpPr/>
          <p:nvPr/>
        </p:nvSpPr>
        <p:spPr>
          <a:xfrm>
            <a:off x="428625" y="1901633"/>
            <a:ext cx="28575" cy="671485"/>
          </a:xfrm>
          <a:prstGeom prst="rect">
            <a:avLst/>
          </a:prstGeom>
          <a:solidFill>
            <a:srgbClr val="007BFF"/>
          </a:solidFill>
          <a:ln/>
        </p:spPr>
        <p:txBody>
          <a:bodyPr/>
          <a:lstStyle/>
          <a:p>
            <a:endParaRPr lang="en-MU"/>
          </a:p>
        </p:txBody>
      </p:sp>
      <p:sp>
        <p:nvSpPr>
          <p:cNvPr id="17" name="Shape 14"/>
          <p:cNvSpPr/>
          <p:nvPr/>
        </p:nvSpPr>
        <p:spPr>
          <a:xfrm>
            <a:off x="485775" y="1958783"/>
            <a:ext cx="2528888" cy="245734"/>
          </a:xfrm>
          <a:prstGeom prst="rect">
            <a:avLst/>
          </a:prstGeom>
          <a:solidFill>
            <a:srgbClr val="1A1A1A"/>
          </a:solidFill>
          <a:ln/>
        </p:spPr>
        <p:txBody>
          <a:bodyPr/>
          <a:lstStyle/>
          <a:p>
            <a:endParaRPr lang="en-MU"/>
          </a:p>
        </p:txBody>
      </p:sp>
      <p:sp>
        <p:nvSpPr>
          <p:cNvPr id="18" name="Text 15"/>
          <p:cNvSpPr/>
          <p:nvPr/>
        </p:nvSpPr>
        <p:spPr>
          <a:xfrm>
            <a:off x="485775" y="1958783"/>
            <a:ext cx="2528888"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import matplotlib.pyplot as plt</a:t>
            </a:r>
            <a:endParaRPr lang="en-US" sz="568" dirty="0"/>
          </a:p>
          <a:p>
            <a:pPr marL="0" indent="0" algn="l">
              <a:lnSpc>
                <a:spcPts val="700"/>
              </a:lnSpc>
              <a:buNone/>
            </a:pPr>
            <a:r>
              <a:rPr lang="en-US" sz="568" dirty="0">
                <a:solidFill>
                  <a:srgbClr val="28A745"/>
                </a:solidFill>
              </a:rPr>
              <a:t>import seaborn as sns</a:t>
            </a:r>
            <a:endParaRPr lang="en-US" sz="568" dirty="0"/>
          </a:p>
        </p:txBody>
      </p:sp>
      <p:sp>
        <p:nvSpPr>
          <p:cNvPr id="19" name="Text 16"/>
          <p:cNvSpPr/>
          <p:nvPr/>
        </p:nvSpPr>
        <p:spPr>
          <a:xfrm>
            <a:off x="571500" y="2225948"/>
            <a:ext cx="43526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matplotlib:</a:t>
            </a:r>
            <a:endParaRPr lang="en-US" sz="534" dirty="0"/>
          </a:p>
        </p:txBody>
      </p:sp>
      <p:sp>
        <p:nvSpPr>
          <p:cNvPr id="20" name="Text 17"/>
          <p:cNvSpPr/>
          <p:nvPr/>
        </p:nvSpPr>
        <p:spPr>
          <a:xfrm>
            <a:off x="1006766" y="2225948"/>
            <a:ext cx="1963527"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Plotting library for creating charts and visualizations.</a:t>
            </a:r>
            <a:endParaRPr lang="en-US" sz="568" dirty="0"/>
          </a:p>
        </p:txBody>
      </p:sp>
      <p:sp>
        <p:nvSpPr>
          <p:cNvPr id="21" name="Text 18"/>
          <p:cNvSpPr/>
          <p:nvPr/>
        </p:nvSpPr>
        <p:spPr>
          <a:xfrm>
            <a:off x="571500" y="2320240"/>
            <a:ext cx="54451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seaborn (sns):</a:t>
            </a:r>
            <a:endParaRPr lang="en-US" sz="534" dirty="0"/>
          </a:p>
        </p:txBody>
      </p:sp>
      <p:sp>
        <p:nvSpPr>
          <p:cNvPr id="22" name="Text 19"/>
          <p:cNvSpPr/>
          <p:nvPr/>
        </p:nvSpPr>
        <p:spPr>
          <a:xfrm>
            <a:off x="574235" y="2444531"/>
            <a:ext cx="2375157"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Statistical visualization library built on matplotlib. Creates beautiful heatmaps and plots.</a:t>
            </a:r>
            <a:endParaRPr lang="en-US" sz="568" dirty="0"/>
          </a:p>
        </p:txBody>
      </p:sp>
      <p:sp>
        <p:nvSpPr>
          <p:cNvPr id="23" name="Shape 20"/>
          <p:cNvSpPr/>
          <p:nvPr/>
        </p:nvSpPr>
        <p:spPr>
          <a:xfrm>
            <a:off x="428625" y="2630267"/>
            <a:ext cx="2643188" cy="1142944"/>
          </a:xfrm>
          <a:prstGeom prst="rect">
            <a:avLst/>
          </a:prstGeom>
          <a:solidFill>
            <a:srgbClr val="F8F9FA"/>
          </a:solidFill>
          <a:ln/>
        </p:spPr>
        <p:txBody>
          <a:bodyPr/>
          <a:lstStyle/>
          <a:p>
            <a:endParaRPr lang="en-MU"/>
          </a:p>
        </p:txBody>
      </p:sp>
      <p:sp>
        <p:nvSpPr>
          <p:cNvPr id="24" name="Shape 21"/>
          <p:cNvSpPr/>
          <p:nvPr/>
        </p:nvSpPr>
        <p:spPr>
          <a:xfrm>
            <a:off x="428625" y="2630267"/>
            <a:ext cx="28575" cy="1142944"/>
          </a:xfrm>
          <a:prstGeom prst="rect">
            <a:avLst/>
          </a:prstGeom>
          <a:solidFill>
            <a:srgbClr val="007BFF"/>
          </a:solidFill>
          <a:ln/>
        </p:spPr>
        <p:txBody>
          <a:bodyPr/>
          <a:lstStyle/>
          <a:p>
            <a:endParaRPr lang="en-MU"/>
          </a:p>
        </p:txBody>
      </p:sp>
      <p:sp>
        <p:nvSpPr>
          <p:cNvPr id="25" name="Shape 22"/>
          <p:cNvSpPr/>
          <p:nvPr/>
        </p:nvSpPr>
        <p:spPr>
          <a:xfrm>
            <a:off x="485775" y="2687417"/>
            <a:ext cx="2528888" cy="434318"/>
          </a:xfrm>
          <a:prstGeom prst="rect">
            <a:avLst/>
          </a:prstGeom>
          <a:solidFill>
            <a:srgbClr val="1A1A1A"/>
          </a:solidFill>
          <a:ln/>
        </p:spPr>
        <p:txBody>
          <a:bodyPr/>
          <a:lstStyle/>
          <a:p>
            <a:endParaRPr lang="en-MU"/>
          </a:p>
        </p:txBody>
      </p:sp>
      <p:sp>
        <p:nvSpPr>
          <p:cNvPr id="26" name="Text 23"/>
          <p:cNvSpPr/>
          <p:nvPr/>
        </p:nvSpPr>
        <p:spPr>
          <a:xfrm>
            <a:off x="485775" y="2687417"/>
            <a:ext cx="2528888" cy="434318"/>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from sklearn.model_selection import train_test_split</a:t>
            </a:r>
            <a:endParaRPr lang="en-US" sz="568" dirty="0"/>
          </a:p>
          <a:p>
            <a:pPr marL="0" indent="0" algn="l">
              <a:lnSpc>
                <a:spcPts val="700"/>
              </a:lnSpc>
              <a:buNone/>
            </a:pPr>
            <a:r>
              <a:rPr lang="en-US" sz="568" dirty="0">
                <a:solidFill>
                  <a:srgbClr val="28A745"/>
                </a:solidFill>
              </a:rPr>
              <a:t>from sklearn.linear_model import LinearRegression</a:t>
            </a:r>
            <a:endParaRPr lang="en-US" sz="568" dirty="0"/>
          </a:p>
          <a:p>
            <a:pPr marL="0" indent="0" algn="l">
              <a:lnSpc>
                <a:spcPts val="700"/>
              </a:lnSpc>
              <a:buNone/>
            </a:pPr>
            <a:r>
              <a:rPr lang="en-US" sz="568" dirty="0">
                <a:solidFill>
                  <a:srgbClr val="28A745"/>
                </a:solidFill>
              </a:rPr>
              <a:t>from sklearn.tree import DecisionTreeRegressor</a:t>
            </a:r>
            <a:endParaRPr lang="en-US" sz="568" dirty="0"/>
          </a:p>
          <a:p>
            <a:pPr marL="0" indent="0" algn="l">
              <a:lnSpc>
                <a:spcPts val="700"/>
              </a:lnSpc>
              <a:buNone/>
            </a:pPr>
            <a:r>
              <a:rPr lang="en-US" sz="568" dirty="0">
                <a:solidFill>
                  <a:srgbClr val="28A745"/>
                </a:solidFill>
              </a:rPr>
              <a:t>from sklearn.ensemble import RandomForestRegressor</a:t>
            </a:r>
            <a:endParaRPr lang="en-US" sz="568" dirty="0"/>
          </a:p>
        </p:txBody>
      </p:sp>
      <p:sp>
        <p:nvSpPr>
          <p:cNvPr id="27" name="Text 24"/>
          <p:cNvSpPr/>
          <p:nvPr/>
        </p:nvSpPr>
        <p:spPr>
          <a:xfrm>
            <a:off x="571500" y="3143166"/>
            <a:ext cx="602810"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train_test_split:</a:t>
            </a:r>
            <a:endParaRPr lang="en-US" sz="534" dirty="0"/>
          </a:p>
        </p:txBody>
      </p:sp>
      <p:sp>
        <p:nvSpPr>
          <p:cNvPr id="28" name="Text 25"/>
          <p:cNvSpPr/>
          <p:nvPr/>
        </p:nvSpPr>
        <p:spPr>
          <a:xfrm>
            <a:off x="1174310" y="3143166"/>
            <a:ext cx="150585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Splits data into training and testing sets.</a:t>
            </a:r>
            <a:endParaRPr lang="en-US" sz="568" dirty="0"/>
          </a:p>
        </p:txBody>
      </p:sp>
      <p:sp>
        <p:nvSpPr>
          <p:cNvPr id="29" name="Text 26"/>
          <p:cNvSpPr/>
          <p:nvPr/>
        </p:nvSpPr>
        <p:spPr>
          <a:xfrm>
            <a:off x="571500" y="3237458"/>
            <a:ext cx="702934"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LinearRegression:</a:t>
            </a:r>
            <a:endParaRPr lang="en-US" sz="534" dirty="0"/>
          </a:p>
        </p:txBody>
      </p:sp>
      <p:sp>
        <p:nvSpPr>
          <p:cNvPr id="30" name="Text 27"/>
          <p:cNvSpPr/>
          <p:nvPr/>
        </p:nvSpPr>
        <p:spPr>
          <a:xfrm>
            <a:off x="1274434" y="3237458"/>
            <a:ext cx="133621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Simple linear model for predictions.</a:t>
            </a:r>
            <a:endParaRPr lang="en-US" sz="568" dirty="0"/>
          </a:p>
        </p:txBody>
      </p:sp>
      <p:sp>
        <p:nvSpPr>
          <p:cNvPr id="31" name="Text 28"/>
          <p:cNvSpPr/>
          <p:nvPr/>
        </p:nvSpPr>
        <p:spPr>
          <a:xfrm>
            <a:off x="571500" y="3331750"/>
            <a:ext cx="914233"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DecisionTreeRegressor:</a:t>
            </a:r>
            <a:endParaRPr lang="en-US" sz="534" dirty="0"/>
          </a:p>
        </p:txBody>
      </p:sp>
      <p:sp>
        <p:nvSpPr>
          <p:cNvPr id="32" name="Text 29"/>
          <p:cNvSpPr/>
          <p:nvPr/>
        </p:nvSpPr>
        <p:spPr>
          <a:xfrm>
            <a:off x="1264371" y="3337094"/>
            <a:ext cx="2124149"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Tree-based model for non-linear predictions.</a:t>
            </a:r>
            <a:endParaRPr lang="en-US" sz="568" dirty="0"/>
          </a:p>
        </p:txBody>
      </p:sp>
      <p:sp>
        <p:nvSpPr>
          <p:cNvPr id="33" name="Text 30"/>
          <p:cNvSpPr/>
          <p:nvPr/>
        </p:nvSpPr>
        <p:spPr>
          <a:xfrm>
            <a:off x="571500" y="3520334"/>
            <a:ext cx="98541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RandomForestRegressor:</a:t>
            </a:r>
            <a:endParaRPr lang="en-US" sz="534" dirty="0"/>
          </a:p>
        </p:txBody>
      </p:sp>
      <p:sp>
        <p:nvSpPr>
          <p:cNvPr id="34" name="Text 31"/>
          <p:cNvSpPr/>
          <p:nvPr/>
        </p:nvSpPr>
        <p:spPr>
          <a:xfrm>
            <a:off x="571500" y="3642488"/>
            <a:ext cx="2056647"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Ensemble of trees for robust predictions.</a:t>
            </a:r>
            <a:endParaRPr lang="en-US" sz="568" dirty="0"/>
          </a:p>
        </p:txBody>
      </p:sp>
      <p:sp>
        <p:nvSpPr>
          <p:cNvPr id="35" name="Shape 32"/>
          <p:cNvSpPr/>
          <p:nvPr/>
        </p:nvSpPr>
        <p:spPr>
          <a:xfrm>
            <a:off x="428625" y="3830362"/>
            <a:ext cx="2643188" cy="860068"/>
          </a:xfrm>
          <a:prstGeom prst="rect">
            <a:avLst/>
          </a:prstGeom>
          <a:solidFill>
            <a:srgbClr val="F8F9FA"/>
          </a:solidFill>
          <a:ln/>
        </p:spPr>
        <p:txBody>
          <a:bodyPr/>
          <a:lstStyle/>
          <a:p>
            <a:endParaRPr lang="en-MU"/>
          </a:p>
        </p:txBody>
      </p:sp>
      <p:sp>
        <p:nvSpPr>
          <p:cNvPr id="36" name="Shape 33"/>
          <p:cNvSpPr/>
          <p:nvPr/>
        </p:nvSpPr>
        <p:spPr>
          <a:xfrm>
            <a:off x="428625" y="3830362"/>
            <a:ext cx="28575" cy="860068"/>
          </a:xfrm>
          <a:prstGeom prst="rect">
            <a:avLst/>
          </a:prstGeom>
          <a:solidFill>
            <a:srgbClr val="007BFF"/>
          </a:solidFill>
          <a:ln/>
        </p:spPr>
        <p:txBody>
          <a:bodyPr/>
          <a:lstStyle/>
          <a:p>
            <a:endParaRPr lang="en-MU"/>
          </a:p>
        </p:txBody>
      </p:sp>
      <p:sp>
        <p:nvSpPr>
          <p:cNvPr id="37" name="Shape 34"/>
          <p:cNvSpPr/>
          <p:nvPr/>
        </p:nvSpPr>
        <p:spPr>
          <a:xfrm>
            <a:off x="485775" y="3887512"/>
            <a:ext cx="2528888" cy="245734"/>
          </a:xfrm>
          <a:prstGeom prst="rect">
            <a:avLst/>
          </a:prstGeom>
          <a:solidFill>
            <a:srgbClr val="1A1A1A"/>
          </a:solidFill>
          <a:ln/>
        </p:spPr>
        <p:txBody>
          <a:bodyPr/>
          <a:lstStyle/>
          <a:p>
            <a:endParaRPr lang="en-MU"/>
          </a:p>
        </p:txBody>
      </p:sp>
      <p:sp>
        <p:nvSpPr>
          <p:cNvPr id="38" name="Text 35"/>
          <p:cNvSpPr/>
          <p:nvPr/>
        </p:nvSpPr>
        <p:spPr>
          <a:xfrm>
            <a:off x="485775" y="3887512"/>
            <a:ext cx="2528888"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from sklearn.metrics import r2_score, mean_absolute_error, mean_squared_error</a:t>
            </a:r>
            <a:endParaRPr lang="en-US" sz="568" dirty="0"/>
          </a:p>
        </p:txBody>
      </p:sp>
      <p:sp>
        <p:nvSpPr>
          <p:cNvPr id="39" name="Text 36"/>
          <p:cNvSpPr/>
          <p:nvPr/>
        </p:nvSpPr>
        <p:spPr>
          <a:xfrm>
            <a:off x="571500" y="4154677"/>
            <a:ext cx="343960"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r2_score:</a:t>
            </a:r>
            <a:endParaRPr lang="en-US" sz="534" dirty="0"/>
          </a:p>
        </p:txBody>
      </p:sp>
      <p:sp>
        <p:nvSpPr>
          <p:cNvPr id="40" name="Text 37"/>
          <p:cNvSpPr/>
          <p:nvPr/>
        </p:nvSpPr>
        <p:spPr>
          <a:xfrm>
            <a:off x="569584" y="4259057"/>
            <a:ext cx="2313124"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Calculates R² (coefficient of determination) for model accuracy.</a:t>
            </a:r>
            <a:endParaRPr lang="en-US" sz="568" dirty="0"/>
          </a:p>
        </p:txBody>
      </p:sp>
      <p:sp>
        <p:nvSpPr>
          <p:cNvPr id="41" name="Text 38"/>
          <p:cNvSpPr/>
          <p:nvPr/>
        </p:nvSpPr>
        <p:spPr>
          <a:xfrm>
            <a:off x="571500" y="4343260"/>
            <a:ext cx="85127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mean_absolute_error:</a:t>
            </a:r>
            <a:endParaRPr lang="en-US" sz="534" dirty="0"/>
          </a:p>
        </p:txBody>
      </p:sp>
      <p:sp>
        <p:nvSpPr>
          <p:cNvPr id="42" name="Text 39"/>
          <p:cNvSpPr/>
          <p:nvPr/>
        </p:nvSpPr>
        <p:spPr>
          <a:xfrm>
            <a:off x="1422778" y="4343260"/>
            <a:ext cx="1323408"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Calculates average prediction error.</a:t>
            </a:r>
            <a:endParaRPr lang="en-US" sz="568" dirty="0"/>
          </a:p>
        </p:txBody>
      </p:sp>
      <p:sp>
        <p:nvSpPr>
          <p:cNvPr id="43" name="Text 40"/>
          <p:cNvSpPr/>
          <p:nvPr/>
        </p:nvSpPr>
        <p:spPr>
          <a:xfrm>
            <a:off x="571500" y="4437552"/>
            <a:ext cx="828424"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mean_squared_error:</a:t>
            </a:r>
            <a:endParaRPr lang="en-US" sz="534" dirty="0"/>
          </a:p>
        </p:txBody>
      </p:sp>
      <p:sp>
        <p:nvSpPr>
          <p:cNvPr id="44" name="Text 41"/>
          <p:cNvSpPr/>
          <p:nvPr/>
        </p:nvSpPr>
        <p:spPr>
          <a:xfrm>
            <a:off x="571500" y="4520509"/>
            <a:ext cx="2352359" cy="201448"/>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Calculates squared error (penalizes large errors).</a:t>
            </a:r>
            <a:endParaRPr lang="en-US" sz="568" dirty="0"/>
          </a:p>
        </p:txBody>
      </p:sp>
      <p:sp>
        <p:nvSpPr>
          <p:cNvPr id="45" name="Shape 42"/>
          <p:cNvSpPr/>
          <p:nvPr/>
        </p:nvSpPr>
        <p:spPr>
          <a:xfrm>
            <a:off x="3250406" y="1078706"/>
            <a:ext cx="2504080" cy="463228"/>
          </a:xfrm>
          <a:prstGeom prst="rect">
            <a:avLst/>
          </a:prstGeom>
          <a:solidFill>
            <a:srgbClr val="E6F0FF"/>
          </a:solidFill>
          <a:ln/>
        </p:spPr>
        <p:txBody>
          <a:bodyPr/>
          <a:lstStyle/>
          <a:p>
            <a:endParaRPr lang="en-MU"/>
          </a:p>
        </p:txBody>
      </p:sp>
      <p:sp>
        <p:nvSpPr>
          <p:cNvPr id="46" name="Shape 43"/>
          <p:cNvSpPr/>
          <p:nvPr/>
        </p:nvSpPr>
        <p:spPr>
          <a:xfrm>
            <a:off x="3250406" y="1078706"/>
            <a:ext cx="28575" cy="463228"/>
          </a:xfrm>
          <a:prstGeom prst="rect">
            <a:avLst/>
          </a:prstGeom>
          <a:solidFill>
            <a:srgbClr val="007BFF"/>
          </a:solidFill>
          <a:ln/>
        </p:spPr>
        <p:txBody>
          <a:bodyPr/>
          <a:lstStyle/>
          <a:p>
            <a:endParaRPr lang="en-MU"/>
          </a:p>
        </p:txBody>
      </p:sp>
      <p:sp>
        <p:nvSpPr>
          <p:cNvPr id="47" name="Text 44"/>
          <p:cNvSpPr/>
          <p:nvPr/>
        </p:nvSpPr>
        <p:spPr>
          <a:xfrm>
            <a:off x="3307556" y="1135856"/>
            <a:ext cx="238978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Pandas</a:t>
            </a:r>
            <a:endParaRPr lang="en-US" sz="584" dirty="0"/>
          </a:p>
        </p:txBody>
      </p:sp>
      <p:sp>
        <p:nvSpPr>
          <p:cNvPr id="48" name="Text 45"/>
          <p:cNvSpPr/>
          <p:nvPr/>
        </p:nvSpPr>
        <p:spPr>
          <a:xfrm>
            <a:off x="3307556" y="1280517"/>
            <a:ext cx="2389780" cy="204267"/>
          </a:xfrm>
          <a:prstGeom prst="rect">
            <a:avLst/>
          </a:prstGeom>
          <a:noFill/>
          <a:ln/>
        </p:spPr>
        <p:txBody>
          <a:bodyPr wrap="square" lIns="0" tIns="0" rIns="0" bIns="0" rtlCol="0" anchor="t">
            <a:spAutoFit/>
          </a:bodyPr>
          <a:lstStyle/>
          <a:p>
            <a:pPr marL="0" indent="0" algn="l">
              <a:lnSpc>
                <a:spcPts val="800"/>
              </a:lnSpc>
              <a:buNone/>
            </a:pPr>
            <a:r>
              <a:rPr lang="en-US" sz="568" dirty="0">
                <a:solidFill>
                  <a:srgbClr val="495057"/>
                </a:solidFill>
              </a:rPr>
              <a:t>Loads CSV data into DataFrames. Cleans, filters, and manipulates data. Handles missing values and outliers.</a:t>
            </a:r>
            <a:endParaRPr lang="en-US" sz="568" dirty="0"/>
          </a:p>
        </p:txBody>
      </p:sp>
      <p:sp>
        <p:nvSpPr>
          <p:cNvPr id="49" name="Shape 46"/>
          <p:cNvSpPr/>
          <p:nvPr/>
        </p:nvSpPr>
        <p:spPr>
          <a:xfrm>
            <a:off x="3250406" y="1599084"/>
            <a:ext cx="2504080" cy="463228"/>
          </a:xfrm>
          <a:prstGeom prst="rect">
            <a:avLst/>
          </a:prstGeom>
          <a:solidFill>
            <a:srgbClr val="E6F0FF"/>
          </a:solidFill>
          <a:ln/>
        </p:spPr>
        <p:txBody>
          <a:bodyPr/>
          <a:lstStyle/>
          <a:p>
            <a:endParaRPr lang="en-MU"/>
          </a:p>
        </p:txBody>
      </p:sp>
      <p:sp>
        <p:nvSpPr>
          <p:cNvPr id="50" name="Shape 47"/>
          <p:cNvSpPr/>
          <p:nvPr/>
        </p:nvSpPr>
        <p:spPr>
          <a:xfrm>
            <a:off x="3250406" y="1599084"/>
            <a:ext cx="28575" cy="463228"/>
          </a:xfrm>
          <a:prstGeom prst="rect">
            <a:avLst/>
          </a:prstGeom>
          <a:solidFill>
            <a:srgbClr val="007BFF"/>
          </a:solidFill>
          <a:ln/>
        </p:spPr>
        <p:txBody>
          <a:bodyPr/>
          <a:lstStyle/>
          <a:p>
            <a:endParaRPr lang="en-MU"/>
          </a:p>
        </p:txBody>
      </p:sp>
      <p:sp>
        <p:nvSpPr>
          <p:cNvPr id="51" name="Text 48"/>
          <p:cNvSpPr/>
          <p:nvPr/>
        </p:nvSpPr>
        <p:spPr>
          <a:xfrm>
            <a:off x="3307556" y="1656234"/>
            <a:ext cx="238978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NumPy</a:t>
            </a:r>
            <a:endParaRPr lang="en-US" sz="584" dirty="0"/>
          </a:p>
        </p:txBody>
      </p:sp>
      <p:sp>
        <p:nvSpPr>
          <p:cNvPr id="52" name="Text 49"/>
          <p:cNvSpPr/>
          <p:nvPr/>
        </p:nvSpPr>
        <p:spPr>
          <a:xfrm>
            <a:off x="3307556" y="1800895"/>
            <a:ext cx="2389780" cy="204267"/>
          </a:xfrm>
          <a:prstGeom prst="rect">
            <a:avLst/>
          </a:prstGeom>
          <a:noFill/>
          <a:ln/>
        </p:spPr>
        <p:txBody>
          <a:bodyPr wrap="square" lIns="0" tIns="0" rIns="0" bIns="0" rtlCol="0" anchor="t">
            <a:spAutoFit/>
          </a:bodyPr>
          <a:lstStyle/>
          <a:p>
            <a:pPr marL="0" indent="0" algn="l">
              <a:lnSpc>
                <a:spcPts val="800"/>
              </a:lnSpc>
              <a:buNone/>
            </a:pPr>
            <a:r>
              <a:rPr lang="en-US" sz="568" dirty="0">
                <a:solidFill>
                  <a:srgbClr val="495057"/>
                </a:solidFill>
              </a:rPr>
              <a:t>Performs numerical calculations. Computes statistics (mean, std, quantiles). Powers mathematical operations.</a:t>
            </a:r>
            <a:endParaRPr lang="en-US" sz="568" dirty="0"/>
          </a:p>
        </p:txBody>
      </p:sp>
      <p:sp>
        <p:nvSpPr>
          <p:cNvPr id="53" name="Shape 50"/>
          <p:cNvSpPr/>
          <p:nvPr/>
        </p:nvSpPr>
        <p:spPr>
          <a:xfrm>
            <a:off x="3250406" y="2119461"/>
            <a:ext cx="2504080" cy="463228"/>
          </a:xfrm>
          <a:prstGeom prst="rect">
            <a:avLst/>
          </a:prstGeom>
          <a:solidFill>
            <a:srgbClr val="E6F0FF"/>
          </a:solidFill>
          <a:ln/>
        </p:spPr>
        <p:txBody>
          <a:bodyPr/>
          <a:lstStyle/>
          <a:p>
            <a:endParaRPr lang="en-MU"/>
          </a:p>
        </p:txBody>
      </p:sp>
      <p:sp>
        <p:nvSpPr>
          <p:cNvPr id="54" name="Shape 51"/>
          <p:cNvSpPr/>
          <p:nvPr/>
        </p:nvSpPr>
        <p:spPr>
          <a:xfrm>
            <a:off x="3250406" y="2119461"/>
            <a:ext cx="28575" cy="463228"/>
          </a:xfrm>
          <a:prstGeom prst="rect">
            <a:avLst/>
          </a:prstGeom>
          <a:solidFill>
            <a:srgbClr val="007BFF"/>
          </a:solidFill>
          <a:ln/>
        </p:spPr>
        <p:txBody>
          <a:bodyPr/>
          <a:lstStyle/>
          <a:p>
            <a:endParaRPr lang="en-MU"/>
          </a:p>
        </p:txBody>
      </p:sp>
      <p:sp>
        <p:nvSpPr>
          <p:cNvPr id="55" name="Text 52"/>
          <p:cNvSpPr/>
          <p:nvPr/>
        </p:nvSpPr>
        <p:spPr>
          <a:xfrm>
            <a:off x="3307556" y="2176611"/>
            <a:ext cx="238978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Matplotlib &amp; Seaborn</a:t>
            </a:r>
            <a:endParaRPr lang="en-US" sz="584" dirty="0"/>
          </a:p>
        </p:txBody>
      </p:sp>
      <p:sp>
        <p:nvSpPr>
          <p:cNvPr id="56" name="Text 53"/>
          <p:cNvSpPr/>
          <p:nvPr/>
        </p:nvSpPr>
        <p:spPr>
          <a:xfrm>
            <a:off x="3307556" y="2321272"/>
            <a:ext cx="2389780" cy="204267"/>
          </a:xfrm>
          <a:prstGeom prst="rect">
            <a:avLst/>
          </a:prstGeom>
          <a:noFill/>
          <a:ln/>
        </p:spPr>
        <p:txBody>
          <a:bodyPr wrap="square" lIns="0" tIns="0" rIns="0" bIns="0" rtlCol="0" anchor="t">
            <a:spAutoFit/>
          </a:bodyPr>
          <a:lstStyle/>
          <a:p>
            <a:pPr marL="0" indent="0" algn="l">
              <a:lnSpc>
                <a:spcPts val="800"/>
              </a:lnSpc>
              <a:buNone/>
            </a:pPr>
            <a:r>
              <a:rPr lang="en-US" sz="568" dirty="0">
                <a:solidFill>
                  <a:srgbClr val="495057"/>
                </a:solidFill>
              </a:rPr>
              <a:t>Creates visualizations: histograms, boxplots, heatmaps, scatter plots. Helps understand data patterns.</a:t>
            </a:r>
            <a:endParaRPr lang="en-US" sz="568" dirty="0"/>
          </a:p>
        </p:txBody>
      </p:sp>
      <p:sp>
        <p:nvSpPr>
          <p:cNvPr id="57" name="Shape 54"/>
          <p:cNvSpPr/>
          <p:nvPr/>
        </p:nvSpPr>
        <p:spPr>
          <a:xfrm>
            <a:off x="3250406" y="2639839"/>
            <a:ext cx="2504080" cy="463228"/>
          </a:xfrm>
          <a:prstGeom prst="rect">
            <a:avLst/>
          </a:prstGeom>
          <a:solidFill>
            <a:srgbClr val="E6F0FF"/>
          </a:solidFill>
          <a:ln/>
        </p:spPr>
        <p:txBody>
          <a:bodyPr/>
          <a:lstStyle/>
          <a:p>
            <a:endParaRPr lang="en-MU"/>
          </a:p>
        </p:txBody>
      </p:sp>
      <p:sp>
        <p:nvSpPr>
          <p:cNvPr id="58" name="Shape 55"/>
          <p:cNvSpPr/>
          <p:nvPr/>
        </p:nvSpPr>
        <p:spPr>
          <a:xfrm>
            <a:off x="3250406" y="2639839"/>
            <a:ext cx="28575" cy="463228"/>
          </a:xfrm>
          <a:prstGeom prst="rect">
            <a:avLst/>
          </a:prstGeom>
          <a:solidFill>
            <a:srgbClr val="007BFF"/>
          </a:solidFill>
          <a:ln/>
        </p:spPr>
        <p:txBody>
          <a:bodyPr/>
          <a:lstStyle/>
          <a:p>
            <a:endParaRPr lang="en-MU"/>
          </a:p>
        </p:txBody>
      </p:sp>
      <p:sp>
        <p:nvSpPr>
          <p:cNvPr id="59" name="Text 56"/>
          <p:cNvSpPr/>
          <p:nvPr/>
        </p:nvSpPr>
        <p:spPr>
          <a:xfrm>
            <a:off x="3307556" y="2696989"/>
            <a:ext cx="238978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Scikit-learn</a:t>
            </a:r>
            <a:endParaRPr lang="en-US" sz="584" dirty="0"/>
          </a:p>
        </p:txBody>
      </p:sp>
      <p:sp>
        <p:nvSpPr>
          <p:cNvPr id="60" name="Text 57"/>
          <p:cNvSpPr/>
          <p:nvPr/>
        </p:nvSpPr>
        <p:spPr>
          <a:xfrm>
            <a:off x="3307556" y="2841650"/>
            <a:ext cx="2389780" cy="204267"/>
          </a:xfrm>
          <a:prstGeom prst="rect">
            <a:avLst/>
          </a:prstGeom>
          <a:noFill/>
          <a:ln/>
        </p:spPr>
        <p:txBody>
          <a:bodyPr wrap="square" lIns="0" tIns="0" rIns="0" bIns="0" rtlCol="0" anchor="t">
            <a:spAutoFit/>
          </a:bodyPr>
          <a:lstStyle/>
          <a:p>
            <a:pPr marL="0" indent="0" algn="l">
              <a:lnSpc>
                <a:spcPts val="800"/>
              </a:lnSpc>
              <a:buNone/>
            </a:pPr>
            <a:r>
              <a:rPr lang="en-US" sz="568" dirty="0">
                <a:solidFill>
                  <a:srgbClr val="495057"/>
                </a:solidFill>
              </a:rPr>
              <a:t>Machine learning toolkit. Provides models (Linear Regression, Decision Tree, Random Forest) and evaluation metrics.</a:t>
            </a:r>
            <a:endParaRPr lang="en-US" sz="568" dirty="0"/>
          </a:p>
        </p:txBody>
      </p:sp>
      <p:sp>
        <p:nvSpPr>
          <p:cNvPr id="61" name="Shape 58"/>
          <p:cNvSpPr/>
          <p:nvPr/>
        </p:nvSpPr>
        <p:spPr>
          <a:xfrm>
            <a:off x="5933080" y="1343416"/>
            <a:ext cx="2782295" cy="2857500"/>
          </a:xfrm>
          <a:prstGeom prst="rect">
            <a:avLst/>
          </a:prstGeom>
          <a:solidFill>
            <a:srgbClr val="F8F9FA"/>
          </a:solidFill>
          <a:ln w="9144">
            <a:solidFill>
              <a:srgbClr val="E0E0E0"/>
            </a:solidFill>
            <a:prstDash val="solid"/>
          </a:ln>
        </p:spPr>
        <p:txBody>
          <a:bodyPr/>
          <a:lstStyle/>
          <a:p>
            <a:endParaRPr lang="en-MU"/>
          </a:p>
        </p:txBody>
      </p:sp>
      <p:pic>
        <p:nvPicPr>
          <p:cNvPr id="62" name="Image 1" descr="preencoded.png"/>
          <p:cNvPicPr>
            <a:picLocks noChangeAspect="1"/>
          </p:cNvPicPr>
          <p:nvPr/>
        </p:nvPicPr>
        <p:blipFill>
          <a:blip r:embed="rId4"/>
          <a:stretch>
            <a:fillRect/>
          </a:stretch>
        </p:blipFill>
        <p:spPr>
          <a:xfrm>
            <a:off x="6018805" y="1851738"/>
            <a:ext cx="2610845" cy="1840827"/>
          </a:xfrm>
          <a:prstGeom prst="rect">
            <a:avLst/>
          </a:prstGeom>
        </p:spPr>
      </p:pic>
      <p:sp>
        <p:nvSpPr>
          <p:cNvPr id="63" name="Shape 59"/>
          <p:cNvSpPr/>
          <p:nvPr/>
        </p:nvSpPr>
        <p:spPr>
          <a:xfrm>
            <a:off x="5933080" y="4286641"/>
            <a:ext cx="2782295" cy="449275"/>
          </a:xfrm>
          <a:prstGeom prst="rect">
            <a:avLst/>
          </a:prstGeom>
          <a:solidFill>
            <a:srgbClr val="FFF3CD"/>
          </a:solidFill>
          <a:ln/>
        </p:spPr>
        <p:txBody>
          <a:bodyPr/>
          <a:lstStyle/>
          <a:p>
            <a:endParaRPr lang="en-MU"/>
          </a:p>
        </p:txBody>
      </p:sp>
      <p:sp>
        <p:nvSpPr>
          <p:cNvPr id="64" name="Shape 60"/>
          <p:cNvSpPr/>
          <p:nvPr/>
        </p:nvSpPr>
        <p:spPr>
          <a:xfrm>
            <a:off x="5933080" y="4286641"/>
            <a:ext cx="28575" cy="449275"/>
          </a:xfrm>
          <a:prstGeom prst="rect">
            <a:avLst/>
          </a:prstGeom>
          <a:solidFill>
            <a:srgbClr val="FFA500"/>
          </a:solidFill>
          <a:ln/>
        </p:spPr>
        <p:txBody>
          <a:bodyPr/>
          <a:lstStyle/>
          <a:p>
            <a:endParaRPr lang="en-MU"/>
          </a:p>
        </p:txBody>
      </p:sp>
      <p:sp>
        <p:nvSpPr>
          <p:cNvPr id="65" name="Text 61"/>
          <p:cNvSpPr/>
          <p:nvPr/>
        </p:nvSpPr>
        <p:spPr>
          <a:xfrm>
            <a:off x="5933080" y="4286641"/>
            <a:ext cx="2782295" cy="370614"/>
          </a:xfrm>
          <a:prstGeom prst="rect">
            <a:avLst/>
          </a:prstGeom>
          <a:noFill/>
          <a:ln/>
        </p:spPr>
        <p:txBody>
          <a:bodyPr wrap="square" lIns="85090" tIns="85090" rIns="85090" bIns="85090" rtlCol="0" anchor="t">
            <a:spAutoFit/>
          </a:bodyPr>
          <a:lstStyle/>
          <a:p>
            <a:pPr marL="0" indent="0" algn="l">
              <a:lnSpc>
                <a:spcPts val="800"/>
              </a:lnSpc>
              <a:buNone/>
            </a:pPr>
            <a:r>
              <a:rPr lang="en-US" sz="534" b="1" dirty="0">
                <a:solidFill>
                  <a:srgbClr val="FFA500"/>
                </a:solidFill>
              </a:rPr>
              <a:t>Toolkit Overview:</a:t>
            </a:r>
            <a:r>
              <a:rPr lang="en-US" sz="568" dirty="0">
                <a:solidFill>
                  <a:srgbClr val="1A1A1A"/>
                </a:solidFill>
              </a:rPr>
              <a:t> These libraries form a complete data science pipeline: load data (Pandas), analyze (NumPy), visualize (Matplotlib/Seaborn), and predict (Scikit-learn).</a:t>
            </a:r>
            <a:endParaRPr lang="en-US" sz="5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0"/>
            <a:ext cx="9144000" cy="950119"/>
          </a:xfrm>
          <a:prstGeom prst="rect">
            <a:avLst/>
          </a:prstGeom>
          <a:solidFill>
            <a:srgbClr val="000000">
              <a:alpha val="0"/>
            </a:srgbClr>
          </a:solidFill>
          <a:ln/>
        </p:spPr>
        <p:txBody>
          <a:bodyPr/>
          <a:lstStyle/>
          <a:p>
            <a:endParaRPr lang="en-MU"/>
          </a:p>
        </p:txBody>
      </p:sp>
      <p:sp>
        <p:nvSpPr>
          <p:cNvPr id="4" name="Shape 1"/>
          <p:cNvSpPr/>
          <p:nvPr/>
        </p:nvSpPr>
        <p:spPr>
          <a:xfrm>
            <a:off x="0" y="935831"/>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Finding Our Data Home</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Loading the Housing Dataset from Kaggle</a:t>
            </a:r>
            <a:endParaRPr lang="en-US" sz="987" dirty="0"/>
          </a:p>
        </p:txBody>
      </p:sp>
      <p:sp>
        <p:nvSpPr>
          <p:cNvPr id="7" name="Shape 4"/>
          <p:cNvSpPr/>
          <p:nvPr/>
        </p:nvSpPr>
        <p:spPr>
          <a:xfrm>
            <a:off x="428625" y="1078706"/>
            <a:ext cx="4439841" cy="728607"/>
          </a:xfrm>
          <a:prstGeom prst="rect">
            <a:avLst/>
          </a:prstGeom>
          <a:solidFill>
            <a:srgbClr val="F8F9FA"/>
          </a:solidFill>
          <a:ln/>
        </p:spPr>
        <p:txBody>
          <a:bodyPr/>
          <a:lstStyle/>
          <a:p>
            <a:endParaRPr lang="en-MU"/>
          </a:p>
        </p:txBody>
      </p:sp>
      <p:sp>
        <p:nvSpPr>
          <p:cNvPr id="8" name="Shape 5"/>
          <p:cNvSpPr/>
          <p:nvPr/>
        </p:nvSpPr>
        <p:spPr>
          <a:xfrm>
            <a:off x="428625" y="1078706"/>
            <a:ext cx="28575" cy="728607"/>
          </a:xfrm>
          <a:prstGeom prst="rect">
            <a:avLst/>
          </a:prstGeom>
          <a:solidFill>
            <a:srgbClr val="007BFF"/>
          </a:solidFill>
          <a:ln/>
        </p:spPr>
        <p:txBody>
          <a:bodyPr/>
          <a:lstStyle/>
          <a:p>
            <a:endParaRPr lang="en-MU"/>
          </a:p>
        </p:txBody>
      </p:sp>
      <p:sp>
        <p:nvSpPr>
          <p:cNvPr id="9" name="Shape 6"/>
          <p:cNvSpPr/>
          <p:nvPr/>
        </p:nvSpPr>
        <p:spPr>
          <a:xfrm>
            <a:off x="500063" y="1150144"/>
            <a:ext cx="4296966" cy="291443"/>
          </a:xfrm>
          <a:prstGeom prst="rect">
            <a:avLst/>
          </a:prstGeom>
          <a:solidFill>
            <a:srgbClr val="1A1A1A"/>
          </a:solidFill>
          <a:ln/>
        </p:spPr>
        <p:txBody>
          <a:bodyPr/>
          <a:lstStyle/>
          <a:p>
            <a:endParaRPr lang="en-MU"/>
          </a:p>
        </p:txBody>
      </p:sp>
      <p:sp>
        <p:nvSpPr>
          <p:cNvPr id="10" name="Text 7"/>
          <p:cNvSpPr/>
          <p:nvPr/>
        </p:nvSpPr>
        <p:spPr>
          <a:xfrm>
            <a:off x="500063" y="1150144"/>
            <a:ext cx="4296966" cy="29144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#1 – Import Pandas Library</a:t>
            </a:r>
            <a:endParaRPr lang="en-US" sz="621" dirty="0"/>
          </a:p>
          <a:p>
            <a:pPr marL="0" indent="0" algn="l">
              <a:lnSpc>
                <a:spcPts val="800"/>
              </a:lnSpc>
              <a:buNone/>
            </a:pPr>
            <a:r>
              <a:rPr lang="en-US" sz="621" dirty="0">
                <a:solidFill>
                  <a:srgbClr val="28A745"/>
                </a:solidFill>
              </a:rPr>
              <a:t>import pandas as pd</a:t>
            </a:r>
            <a:endParaRPr lang="en-US" sz="621" dirty="0"/>
          </a:p>
        </p:txBody>
      </p:sp>
      <p:sp>
        <p:nvSpPr>
          <p:cNvPr id="11" name="Text 8"/>
          <p:cNvSpPr/>
          <p:nvPr/>
        </p:nvSpPr>
        <p:spPr>
          <a:xfrm>
            <a:off x="600075" y="1480877"/>
            <a:ext cx="899024"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import pandas as pd:</a:t>
            </a:r>
            <a:endParaRPr lang="en-US" sz="584" dirty="0"/>
          </a:p>
        </p:txBody>
      </p:sp>
      <p:sp>
        <p:nvSpPr>
          <p:cNvPr id="12" name="Text 9"/>
          <p:cNvSpPr/>
          <p:nvPr/>
        </p:nvSpPr>
        <p:spPr>
          <a:xfrm>
            <a:off x="1499099" y="1480877"/>
            <a:ext cx="2841622"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Imports the Pandas library and gives it a short alias 'pd' for easier use.</a:t>
            </a:r>
            <a:endParaRPr lang="en-US" sz="621" dirty="0"/>
          </a:p>
        </p:txBody>
      </p:sp>
      <p:sp>
        <p:nvSpPr>
          <p:cNvPr id="13" name="Text 10"/>
          <p:cNvSpPr/>
          <p:nvPr/>
        </p:nvSpPr>
        <p:spPr>
          <a:xfrm>
            <a:off x="600075" y="1606590"/>
            <a:ext cx="33503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Pandas:</a:t>
            </a:r>
            <a:endParaRPr lang="en-US" sz="584" dirty="0"/>
          </a:p>
        </p:txBody>
      </p:sp>
      <p:sp>
        <p:nvSpPr>
          <p:cNvPr id="14" name="Text 11"/>
          <p:cNvSpPr/>
          <p:nvPr/>
        </p:nvSpPr>
        <p:spPr>
          <a:xfrm>
            <a:off x="935106" y="1606590"/>
            <a:ext cx="2588047"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 powerful library for data manipulation, analysis, and cleaning.</a:t>
            </a:r>
            <a:endParaRPr lang="en-US" sz="621" dirty="0"/>
          </a:p>
        </p:txBody>
      </p:sp>
      <p:sp>
        <p:nvSpPr>
          <p:cNvPr id="15" name="Shape 12"/>
          <p:cNvSpPr/>
          <p:nvPr/>
        </p:nvSpPr>
        <p:spPr>
          <a:xfrm>
            <a:off x="428625" y="1878750"/>
            <a:ext cx="4439841" cy="980033"/>
          </a:xfrm>
          <a:prstGeom prst="rect">
            <a:avLst/>
          </a:prstGeom>
          <a:solidFill>
            <a:srgbClr val="F8F9FA"/>
          </a:solidFill>
          <a:ln/>
        </p:spPr>
        <p:txBody>
          <a:bodyPr/>
          <a:lstStyle/>
          <a:p>
            <a:endParaRPr lang="en-MU"/>
          </a:p>
        </p:txBody>
      </p:sp>
      <p:sp>
        <p:nvSpPr>
          <p:cNvPr id="16" name="Shape 13"/>
          <p:cNvSpPr/>
          <p:nvPr/>
        </p:nvSpPr>
        <p:spPr>
          <a:xfrm>
            <a:off x="428625" y="1878750"/>
            <a:ext cx="28575" cy="980033"/>
          </a:xfrm>
          <a:prstGeom prst="rect">
            <a:avLst/>
          </a:prstGeom>
          <a:solidFill>
            <a:srgbClr val="007BFF"/>
          </a:solidFill>
          <a:ln/>
        </p:spPr>
        <p:txBody>
          <a:bodyPr/>
          <a:lstStyle/>
          <a:p>
            <a:endParaRPr lang="en-MU"/>
          </a:p>
        </p:txBody>
      </p:sp>
      <p:sp>
        <p:nvSpPr>
          <p:cNvPr id="17" name="Shape 14"/>
          <p:cNvSpPr/>
          <p:nvPr/>
        </p:nvSpPr>
        <p:spPr>
          <a:xfrm>
            <a:off x="500063" y="1950188"/>
            <a:ext cx="4296966" cy="291443"/>
          </a:xfrm>
          <a:prstGeom prst="rect">
            <a:avLst/>
          </a:prstGeom>
          <a:solidFill>
            <a:srgbClr val="1A1A1A"/>
          </a:solidFill>
          <a:ln/>
        </p:spPr>
        <p:txBody>
          <a:bodyPr/>
          <a:lstStyle/>
          <a:p>
            <a:endParaRPr lang="en-MU"/>
          </a:p>
        </p:txBody>
      </p:sp>
      <p:sp>
        <p:nvSpPr>
          <p:cNvPr id="18" name="Text 15"/>
          <p:cNvSpPr/>
          <p:nvPr/>
        </p:nvSpPr>
        <p:spPr>
          <a:xfrm>
            <a:off x="500063" y="1950188"/>
            <a:ext cx="4296966" cy="29144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#2 – Load CSV File</a:t>
            </a:r>
            <a:endParaRPr lang="en-US" sz="621" dirty="0"/>
          </a:p>
          <a:p>
            <a:pPr marL="0" indent="0" algn="l">
              <a:lnSpc>
                <a:spcPts val="800"/>
              </a:lnSpc>
              <a:buNone/>
            </a:pPr>
            <a:r>
              <a:rPr lang="en-US" sz="621" dirty="0">
                <a:solidFill>
                  <a:srgbClr val="28A745"/>
                </a:solidFill>
              </a:rPr>
              <a:t>df = pd.read_csv('Housing.csv')</a:t>
            </a:r>
            <a:endParaRPr lang="en-US" sz="621" dirty="0"/>
          </a:p>
        </p:txBody>
      </p:sp>
      <p:sp>
        <p:nvSpPr>
          <p:cNvPr id="19" name="Text 16"/>
          <p:cNvSpPr/>
          <p:nvPr/>
        </p:nvSpPr>
        <p:spPr>
          <a:xfrm>
            <a:off x="600075" y="2280921"/>
            <a:ext cx="580123"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pd.read_csv():</a:t>
            </a:r>
            <a:endParaRPr lang="en-US" sz="584" dirty="0"/>
          </a:p>
        </p:txBody>
      </p:sp>
      <p:sp>
        <p:nvSpPr>
          <p:cNvPr id="20" name="Text 17"/>
          <p:cNvSpPr/>
          <p:nvPr/>
        </p:nvSpPr>
        <p:spPr>
          <a:xfrm>
            <a:off x="1180198" y="2280921"/>
            <a:ext cx="3125307"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Reads a CSV (Comma-Separated Values) file and converts it into a DataFrame.</a:t>
            </a:r>
            <a:endParaRPr lang="en-US" sz="621" dirty="0"/>
          </a:p>
        </p:txBody>
      </p:sp>
      <p:sp>
        <p:nvSpPr>
          <p:cNvPr id="21" name="Text 18"/>
          <p:cNvSpPr/>
          <p:nvPr/>
        </p:nvSpPr>
        <p:spPr>
          <a:xfrm>
            <a:off x="600075" y="2406634"/>
            <a:ext cx="587657"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'Housing.csv':</a:t>
            </a:r>
            <a:endParaRPr lang="en-US" sz="584" dirty="0"/>
          </a:p>
        </p:txBody>
      </p:sp>
      <p:sp>
        <p:nvSpPr>
          <p:cNvPr id="22" name="Text 19"/>
          <p:cNvSpPr/>
          <p:nvPr/>
        </p:nvSpPr>
        <p:spPr>
          <a:xfrm>
            <a:off x="1187732" y="2406634"/>
            <a:ext cx="2228962"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The filename containing house price data from Kaggle.</a:t>
            </a:r>
            <a:endParaRPr lang="en-US" sz="621" dirty="0"/>
          </a:p>
        </p:txBody>
      </p:sp>
      <p:sp>
        <p:nvSpPr>
          <p:cNvPr id="23" name="Text 20"/>
          <p:cNvSpPr/>
          <p:nvPr/>
        </p:nvSpPr>
        <p:spPr>
          <a:xfrm>
            <a:off x="600075" y="2532348"/>
            <a:ext cx="111872"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df:</a:t>
            </a:r>
            <a:endParaRPr lang="en-US" sz="584" dirty="0"/>
          </a:p>
        </p:txBody>
      </p:sp>
      <p:sp>
        <p:nvSpPr>
          <p:cNvPr id="24" name="Text 21"/>
          <p:cNvSpPr/>
          <p:nvPr/>
        </p:nvSpPr>
        <p:spPr>
          <a:xfrm>
            <a:off x="711947" y="2532348"/>
            <a:ext cx="3237179"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Variable name for the DataFrame (a table-like structure with rows and columns).</a:t>
            </a:r>
            <a:endParaRPr lang="en-US" sz="621" dirty="0"/>
          </a:p>
        </p:txBody>
      </p:sp>
      <p:sp>
        <p:nvSpPr>
          <p:cNvPr id="25" name="Text 22"/>
          <p:cNvSpPr/>
          <p:nvPr/>
        </p:nvSpPr>
        <p:spPr>
          <a:xfrm>
            <a:off x="600075" y="2658061"/>
            <a:ext cx="293954"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Result:</a:t>
            </a:r>
            <a:endParaRPr lang="en-US" sz="584" dirty="0"/>
          </a:p>
        </p:txBody>
      </p:sp>
      <p:sp>
        <p:nvSpPr>
          <p:cNvPr id="26" name="Text 23"/>
          <p:cNvSpPr/>
          <p:nvPr/>
        </p:nvSpPr>
        <p:spPr>
          <a:xfrm>
            <a:off x="894029" y="2658061"/>
            <a:ext cx="2157719"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 DataFrame with all housing data ready for analysis.</a:t>
            </a:r>
            <a:endParaRPr lang="en-US" sz="621" dirty="0"/>
          </a:p>
        </p:txBody>
      </p:sp>
      <p:sp>
        <p:nvSpPr>
          <p:cNvPr id="27" name="Shape 24"/>
          <p:cNvSpPr/>
          <p:nvPr/>
        </p:nvSpPr>
        <p:spPr>
          <a:xfrm>
            <a:off x="428625" y="2930221"/>
            <a:ext cx="4439841" cy="854320"/>
          </a:xfrm>
          <a:prstGeom prst="rect">
            <a:avLst/>
          </a:prstGeom>
          <a:solidFill>
            <a:srgbClr val="F8F9FA"/>
          </a:solidFill>
          <a:ln/>
        </p:spPr>
        <p:txBody>
          <a:bodyPr/>
          <a:lstStyle/>
          <a:p>
            <a:endParaRPr lang="en-MU"/>
          </a:p>
        </p:txBody>
      </p:sp>
      <p:sp>
        <p:nvSpPr>
          <p:cNvPr id="28" name="Shape 25"/>
          <p:cNvSpPr/>
          <p:nvPr/>
        </p:nvSpPr>
        <p:spPr>
          <a:xfrm>
            <a:off x="428625" y="2930221"/>
            <a:ext cx="28575" cy="854320"/>
          </a:xfrm>
          <a:prstGeom prst="rect">
            <a:avLst/>
          </a:prstGeom>
          <a:solidFill>
            <a:srgbClr val="007BFF"/>
          </a:solidFill>
          <a:ln/>
        </p:spPr>
        <p:txBody>
          <a:bodyPr/>
          <a:lstStyle/>
          <a:p>
            <a:endParaRPr lang="en-MU"/>
          </a:p>
        </p:txBody>
      </p:sp>
      <p:sp>
        <p:nvSpPr>
          <p:cNvPr id="29" name="Shape 26"/>
          <p:cNvSpPr/>
          <p:nvPr/>
        </p:nvSpPr>
        <p:spPr>
          <a:xfrm>
            <a:off x="500063" y="3001659"/>
            <a:ext cx="4296966" cy="291443"/>
          </a:xfrm>
          <a:prstGeom prst="rect">
            <a:avLst/>
          </a:prstGeom>
          <a:solidFill>
            <a:srgbClr val="1A1A1A"/>
          </a:solidFill>
          <a:ln/>
        </p:spPr>
        <p:txBody>
          <a:bodyPr/>
          <a:lstStyle/>
          <a:p>
            <a:endParaRPr lang="en-MU"/>
          </a:p>
        </p:txBody>
      </p:sp>
      <p:sp>
        <p:nvSpPr>
          <p:cNvPr id="30" name="Text 27"/>
          <p:cNvSpPr/>
          <p:nvPr/>
        </p:nvSpPr>
        <p:spPr>
          <a:xfrm>
            <a:off x="500063" y="3001659"/>
            <a:ext cx="4296966"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#3 – Give a Sample of the Data, preview the first 5 Rows</a:t>
            </a:r>
          </a:p>
          <a:p>
            <a:pPr marL="0" indent="0" algn="l">
              <a:lnSpc>
                <a:spcPts val="800"/>
              </a:lnSpc>
              <a:buNone/>
            </a:pPr>
            <a:r>
              <a:rPr lang="en-US" sz="621" dirty="0" err="1">
                <a:solidFill>
                  <a:srgbClr val="28A745"/>
                </a:solidFill>
              </a:rPr>
              <a:t>df.head</a:t>
            </a:r>
            <a:r>
              <a:rPr lang="en-US" sz="621" dirty="0">
                <a:solidFill>
                  <a:srgbClr val="28A745"/>
                </a:solidFill>
              </a:rPr>
              <a:t>()</a:t>
            </a:r>
          </a:p>
        </p:txBody>
      </p:sp>
      <p:sp>
        <p:nvSpPr>
          <p:cNvPr id="32" name="Text 29"/>
          <p:cNvSpPr/>
          <p:nvPr/>
        </p:nvSpPr>
        <p:spPr>
          <a:xfrm>
            <a:off x="904577" y="3332392"/>
            <a:ext cx="65" cy="107594"/>
          </a:xfrm>
          <a:prstGeom prst="rect">
            <a:avLst/>
          </a:prstGeom>
          <a:noFill/>
          <a:ln/>
        </p:spPr>
        <p:txBody>
          <a:bodyPr wrap="none" lIns="0" tIns="0" rIns="0" bIns="0" rtlCol="0" anchor="t">
            <a:spAutoFit/>
          </a:bodyPr>
          <a:lstStyle/>
          <a:p>
            <a:pPr marL="0" indent="0" algn="l">
              <a:lnSpc>
                <a:spcPts val="900"/>
              </a:lnSpc>
              <a:buNone/>
            </a:pPr>
            <a:endParaRPr lang="en-US" sz="621" dirty="0"/>
          </a:p>
        </p:txBody>
      </p:sp>
      <p:sp>
        <p:nvSpPr>
          <p:cNvPr id="37" name="Shape 34"/>
          <p:cNvSpPr/>
          <p:nvPr/>
        </p:nvSpPr>
        <p:spPr>
          <a:xfrm>
            <a:off x="428625" y="3855979"/>
            <a:ext cx="4439841" cy="854320"/>
          </a:xfrm>
          <a:prstGeom prst="rect">
            <a:avLst/>
          </a:prstGeom>
          <a:solidFill>
            <a:srgbClr val="F8F9FA"/>
          </a:solidFill>
          <a:ln/>
        </p:spPr>
        <p:txBody>
          <a:bodyPr/>
          <a:lstStyle/>
          <a:p>
            <a:endParaRPr lang="en-MU"/>
          </a:p>
        </p:txBody>
      </p:sp>
      <p:sp>
        <p:nvSpPr>
          <p:cNvPr id="38" name="Shape 35"/>
          <p:cNvSpPr/>
          <p:nvPr/>
        </p:nvSpPr>
        <p:spPr>
          <a:xfrm>
            <a:off x="428625" y="3855979"/>
            <a:ext cx="28575" cy="854320"/>
          </a:xfrm>
          <a:prstGeom prst="rect">
            <a:avLst/>
          </a:prstGeom>
          <a:solidFill>
            <a:srgbClr val="007BFF"/>
          </a:solidFill>
          <a:ln/>
        </p:spPr>
        <p:txBody>
          <a:bodyPr/>
          <a:lstStyle/>
          <a:p>
            <a:endParaRPr lang="en-MU"/>
          </a:p>
        </p:txBody>
      </p:sp>
      <p:sp>
        <p:nvSpPr>
          <p:cNvPr id="39" name="Shape 36"/>
          <p:cNvSpPr/>
          <p:nvPr/>
        </p:nvSpPr>
        <p:spPr>
          <a:xfrm>
            <a:off x="500063" y="3927416"/>
            <a:ext cx="4296966" cy="291443"/>
          </a:xfrm>
          <a:prstGeom prst="rect">
            <a:avLst/>
          </a:prstGeom>
          <a:solidFill>
            <a:srgbClr val="1A1A1A"/>
          </a:solidFill>
          <a:ln/>
        </p:spPr>
        <p:txBody>
          <a:bodyPr/>
          <a:lstStyle/>
          <a:p>
            <a:endParaRPr lang="en-MU"/>
          </a:p>
        </p:txBody>
      </p:sp>
      <p:sp>
        <p:nvSpPr>
          <p:cNvPr id="40" name="Text 37"/>
          <p:cNvSpPr/>
          <p:nvPr/>
        </p:nvSpPr>
        <p:spPr>
          <a:xfrm>
            <a:off x="500063" y="3927416"/>
            <a:ext cx="4296966"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#4 – View Column Names</a:t>
            </a:r>
            <a:endParaRPr lang="en-US" sz="621" dirty="0"/>
          </a:p>
          <a:p>
            <a:pPr marL="0" indent="0" algn="l">
              <a:lnSpc>
                <a:spcPts val="800"/>
              </a:lnSpc>
              <a:buNone/>
            </a:pPr>
            <a:r>
              <a:rPr lang="en-US" sz="621" dirty="0">
                <a:solidFill>
                  <a:srgbClr val="28A745"/>
                </a:solidFill>
              </a:rPr>
              <a:t>df.info()</a:t>
            </a:r>
            <a:endParaRPr lang="en-US" sz="621" dirty="0"/>
          </a:p>
        </p:txBody>
      </p:sp>
      <p:sp>
        <p:nvSpPr>
          <p:cNvPr id="41" name="Text 38"/>
          <p:cNvSpPr/>
          <p:nvPr/>
        </p:nvSpPr>
        <p:spPr>
          <a:xfrm>
            <a:off x="600075" y="4258149"/>
            <a:ext cx="411575"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.columns:</a:t>
            </a:r>
            <a:endParaRPr lang="en-US" sz="584" dirty="0"/>
          </a:p>
        </p:txBody>
      </p:sp>
      <p:sp>
        <p:nvSpPr>
          <p:cNvPr id="42" name="Text 39"/>
          <p:cNvSpPr/>
          <p:nvPr/>
        </p:nvSpPr>
        <p:spPr>
          <a:xfrm>
            <a:off x="1011650" y="4258149"/>
            <a:ext cx="212780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Displays the names of all columns in the DataFrame.</a:t>
            </a:r>
            <a:endParaRPr lang="en-US" sz="621" dirty="0"/>
          </a:p>
        </p:txBody>
      </p:sp>
      <p:sp>
        <p:nvSpPr>
          <p:cNvPr id="43" name="Text 40"/>
          <p:cNvSpPr/>
          <p:nvPr/>
        </p:nvSpPr>
        <p:spPr>
          <a:xfrm>
            <a:off x="600075" y="4383863"/>
            <a:ext cx="333998"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Output:</a:t>
            </a:r>
            <a:endParaRPr lang="en-US" sz="584" dirty="0"/>
          </a:p>
        </p:txBody>
      </p:sp>
      <p:sp>
        <p:nvSpPr>
          <p:cNvPr id="44" name="Text 41"/>
          <p:cNvSpPr/>
          <p:nvPr/>
        </p:nvSpPr>
        <p:spPr>
          <a:xfrm>
            <a:off x="934073" y="4383863"/>
            <a:ext cx="2445423"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Lists features like 'price', 'area', 'bedrooms', 'bathrooms', etc.</a:t>
            </a:r>
            <a:endParaRPr lang="en-US" sz="621" dirty="0"/>
          </a:p>
        </p:txBody>
      </p:sp>
      <p:sp>
        <p:nvSpPr>
          <p:cNvPr id="45" name="Text 42"/>
          <p:cNvSpPr/>
          <p:nvPr/>
        </p:nvSpPr>
        <p:spPr>
          <a:xfrm>
            <a:off x="600075" y="4509576"/>
            <a:ext cx="374126"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Purpose:</a:t>
            </a:r>
            <a:endParaRPr lang="en-US" sz="584" dirty="0"/>
          </a:p>
        </p:txBody>
      </p:sp>
      <p:sp>
        <p:nvSpPr>
          <p:cNvPr id="46" name="Text 43"/>
          <p:cNvSpPr/>
          <p:nvPr/>
        </p:nvSpPr>
        <p:spPr>
          <a:xfrm>
            <a:off x="974201" y="4509576"/>
            <a:ext cx="239876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Helps understand what data we have available for analysis.</a:t>
            </a:r>
            <a:endParaRPr lang="en-US" sz="621" dirty="0"/>
          </a:p>
        </p:txBody>
      </p:sp>
      <p:sp>
        <p:nvSpPr>
          <p:cNvPr id="51" name="Text 48"/>
          <p:cNvSpPr/>
          <p:nvPr/>
        </p:nvSpPr>
        <p:spPr>
          <a:xfrm>
            <a:off x="565807" y="3381943"/>
            <a:ext cx="320018"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.head():</a:t>
            </a:r>
            <a:endParaRPr lang="en-US" sz="584" dirty="0"/>
          </a:p>
        </p:txBody>
      </p:sp>
      <p:sp>
        <p:nvSpPr>
          <p:cNvPr id="52" name="Text 49"/>
          <p:cNvSpPr/>
          <p:nvPr/>
        </p:nvSpPr>
        <p:spPr>
          <a:xfrm>
            <a:off x="885825" y="3381943"/>
            <a:ext cx="207464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Shows the first 5 rows of the DataFrame by default.</a:t>
            </a:r>
            <a:endParaRPr lang="en-US" sz="621" dirty="0"/>
          </a:p>
        </p:txBody>
      </p:sp>
      <p:sp>
        <p:nvSpPr>
          <p:cNvPr id="53" name="Text 50"/>
          <p:cNvSpPr/>
          <p:nvPr/>
        </p:nvSpPr>
        <p:spPr>
          <a:xfrm>
            <a:off x="565807" y="3507656"/>
            <a:ext cx="374126"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Purpose:</a:t>
            </a:r>
            <a:endParaRPr lang="en-US" sz="584" dirty="0"/>
          </a:p>
        </p:txBody>
      </p:sp>
      <p:sp>
        <p:nvSpPr>
          <p:cNvPr id="54" name="Text 51"/>
          <p:cNvSpPr/>
          <p:nvPr/>
        </p:nvSpPr>
        <p:spPr>
          <a:xfrm>
            <a:off x="939933" y="3507656"/>
            <a:ext cx="226967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Quick visual inspection of the data structure and values.</a:t>
            </a:r>
            <a:endParaRPr lang="en-US" sz="621" dirty="0"/>
          </a:p>
        </p:txBody>
      </p:sp>
      <p:sp>
        <p:nvSpPr>
          <p:cNvPr id="55" name="Text 52"/>
          <p:cNvSpPr/>
          <p:nvPr/>
        </p:nvSpPr>
        <p:spPr>
          <a:xfrm>
            <a:off x="565807" y="3633369"/>
            <a:ext cx="507429"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Alternative:</a:t>
            </a:r>
            <a:endParaRPr lang="en-US" sz="584" dirty="0"/>
          </a:p>
        </p:txBody>
      </p:sp>
      <p:sp>
        <p:nvSpPr>
          <p:cNvPr id="56" name="Text 53"/>
          <p:cNvSpPr/>
          <p:nvPr/>
        </p:nvSpPr>
        <p:spPr>
          <a:xfrm>
            <a:off x="1073236" y="3633369"/>
            <a:ext cx="1291540"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df.head(10) shows first 10 rows.</a:t>
            </a:r>
            <a:endParaRPr lang="en-US" sz="621" dirty="0"/>
          </a:p>
        </p:txBody>
      </p:sp>
      <p:sp>
        <p:nvSpPr>
          <p:cNvPr id="57" name="Shape 54"/>
          <p:cNvSpPr/>
          <p:nvPr/>
        </p:nvSpPr>
        <p:spPr>
          <a:xfrm>
            <a:off x="5082778" y="1078706"/>
            <a:ext cx="3632597" cy="1416248"/>
          </a:xfrm>
          <a:prstGeom prst="rect">
            <a:avLst/>
          </a:prstGeom>
          <a:solidFill>
            <a:srgbClr val="F8F9FA"/>
          </a:solidFill>
          <a:ln w="9144">
            <a:solidFill>
              <a:srgbClr val="E0E0E0"/>
            </a:solidFill>
            <a:prstDash val="solid"/>
          </a:ln>
        </p:spPr>
        <p:txBody>
          <a:bodyPr/>
          <a:lstStyle/>
          <a:p>
            <a:endParaRPr lang="en-MU"/>
          </a:p>
        </p:txBody>
      </p:sp>
      <p:sp>
        <p:nvSpPr>
          <p:cNvPr id="58" name="Text 55"/>
          <p:cNvSpPr/>
          <p:nvPr/>
        </p:nvSpPr>
        <p:spPr>
          <a:xfrm>
            <a:off x="5168503" y="1164431"/>
            <a:ext cx="3461147"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Dataset Overview</a:t>
            </a:r>
            <a:endParaRPr lang="en-US" sz="683" dirty="0"/>
          </a:p>
        </p:txBody>
      </p:sp>
      <p:sp>
        <p:nvSpPr>
          <p:cNvPr id="59" name="Text 56"/>
          <p:cNvSpPr/>
          <p:nvPr/>
        </p:nvSpPr>
        <p:spPr>
          <a:xfrm>
            <a:off x="5168503" y="1400175"/>
            <a:ext cx="597005"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Total Records:</a:t>
            </a:r>
            <a:endParaRPr lang="en-US" sz="584" dirty="0"/>
          </a:p>
        </p:txBody>
      </p:sp>
      <p:sp>
        <p:nvSpPr>
          <p:cNvPr id="60" name="Text 57"/>
          <p:cNvSpPr/>
          <p:nvPr/>
        </p:nvSpPr>
        <p:spPr>
          <a:xfrm>
            <a:off x="8158665" y="1400175"/>
            <a:ext cx="470985"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545 houses</a:t>
            </a:r>
            <a:endParaRPr lang="en-US" sz="584" dirty="0"/>
          </a:p>
        </p:txBody>
      </p:sp>
      <p:sp>
        <p:nvSpPr>
          <p:cNvPr id="61" name="Text 58"/>
          <p:cNvSpPr/>
          <p:nvPr/>
        </p:nvSpPr>
        <p:spPr>
          <a:xfrm>
            <a:off x="5168503" y="1609130"/>
            <a:ext cx="632054"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Total Features:</a:t>
            </a:r>
            <a:endParaRPr lang="en-US" sz="584" dirty="0"/>
          </a:p>
        </p:txBody>
      </p:sp>
      <p:sp>
        <p:nvSpPr>
          <p:cNvPr id="62" name="Text 59"/>
          <p:cNvSpPr/>
          <p:nvPr/>
        </p:nvSpPr>
        <p:spPr>
          <a:xfrm>
            <a:off x="8146582" y="1609130"/>
            <a:ext cx="48306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13 columns</a:t>
            </a:r>
            <a:endParaRPr lang="en-US" sz="584" dirty="0"/>
          </a:p>
        </p:txBody>
      </p:sp>
      <p:sp>
        <p:nvSpPr>
          <p:cNvPr id="63" name="Text 60"/>
          <p:cNvSpPr/>
          <p:nvPr/>
        </p:nvSpPr>
        <p:spPr>
          <a:xfrm>
            <a:off x="5168503" y="1818084"/>
            <a:ext cx="45256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Data Type:</a:t>
            </a:r>
            <a:endParaRPr lang="en-US" sz="584" dirty="0"/>
          </a:p>
        </p:txBody>
      </p:sp>
      <p:sp>
        <p:nvSpPr>
          <p:cNvPr id="64" name="Text 61"/>
          <p:cNvSpPr/>
          <p:nvPr/>
        </p:nvSpPr>
        <p:spPr>
          <a:xfrm>
            <a:off x="8097636" y="1818084"/>
            <a:ext cx="532014"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CSV (Kaggle)</a:t>
            </a:r>
            <a:endParaRPr lang="en-US" sz="584" dirty="0"/>
          </a:p>
        </p:txBody>
      </p:sp>
      <p:sp>
        <p:nvSpPr>
          <p:cNvPr id="65" name="Text 62"/>
          <p:cNvSpPr/>
          <p:nvPr/>
        </p:nvSpPr>
        <p:spPr>
          <a:xfrm>
            <a:off x="5168503" y="2027039"/>
            <a:ext cx="67519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Target Variable:</a:t>
            </a:r>
            <a:endParaRPr lang="en-US" sz="584" dirty="0"/>
          </a:p>
        </p:txBody>
      </p:sp>
      <p:sp>
        <p:nvSpPr>
          <p:cNvPr id="66" name="Text 63"/>
          <p:cNvSpPr/>
          <p:nvPr/>
        </p:nvSpPr>
        <p:spPr>
          <a:xfrm>
            <a:off x="8256640" y="2027039"/>
            <a:ext cx="37301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price (₨)</a:t>
            </a:r>
            <a:endParaRPr lang="en-US" sz="584" dirty="0"/>
          </a:p>
        </p:txBody>
      </p:sp>
      <p:sp>
        <p:nvSpPr>
          <p:cNvPr id="67" name="Text 64"/>
          <p:cNvSpPr/>
          <p:nvPr/>
        </p:nvSpPr>
        <p:spPr>
          <a:xfrm>
            <a:off x="5168503" y="2235994"/>
            <a:ext cx="529977"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Price Range:</a:t>
            </a:r>
            <a:endParaRPr lang="en-US" sz="584" dirty="0"/>
          </a:p>
        </p:txBody>
      </p:sp>
      <p:sp>
        <p:nvSpPr>
          <p:cNvPr id="68" name="Text 65"/>
          <p:cNvSpPr/>
          <p:nvPr/>
        </p:nvSpPr>
        <p:spPr>
          <a:xfrm>
            <a:off x="8018162" y="2235994"/>
            <a:ext cx="61148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007BFF"/>
                </a:solidFill>
              </a:rPr>
              <a:t>₨1.1M - ₨33M</a:t>
            </a:r>
            <a:endParaRPr lang="en-US" sz="584" dirty="0"/>
          </a:p>
        </p:txBody>
      </p:sp>
      <p:sp>
        <p:nvSpPr>
          <p:cNvPr id="69" name="Shape 66"/>
          <p:cNvSpPr/>
          <p:nvPr/>
        </p:nvSpPr>
        <p:spPr>
          <a:xfrm>
            <a:off x="5082778" y="2566392"/>
            <a:ext cx="3632597" cy="752549"/>
          </a:xfrm>
          <a:prstGeom prst="rect">
            <a:avLst/>
          </a:prstGeom>
          <a:solidFill>
            <a:srgbClr val="E6F0FF"/>
          </a:solidFill>
          <a:ln/>
        </p:spPr>
        <p:txBody>
          <a:bodyPr/>
          <a:lstStyle/>
          <a:p>
            <a:endParaRPr lang="en-MU"/>
          </a:p>
        </p:txBody>
      </p:sp>
      <p:sp>
        <p:nvSpPr>
          <p:cNvPr id="70" name="Shape 67"/>
          <p:cNvSpPr/>
          <p:nvPr/>
        </p:nvSpPr>
        <p:spPr>
          <a:xfrm>
            <a:off x="5082778" y="2566392"/>
            <a:ext cx="28575" cy="752549"/>
          </a:xfrm>
          <a:prstGeom prst="rect">
            <a:avLst/>
          </a:prstGeom>
          <a:solidFill>
            <a:srgbClr val="007BFF"/>
          </a:solidFill>
          <a:ln/>
        </p:spPr>
        <p:txBody>
          <a:bodyPr/>
          <a:lstStyle/>
          <a:p>
            <a:endParaRPr lang="en-MU"/>
          </a:p>
        </p:txBody>
      </p:sp>
      <p:sp>
        <p:nvSpPr>
          <p:cNvPr id="71" name="Text 68"/>
          <p:cNvSpPr/>
          <p:nvPr/>
        </p:nvSpPr>
        <p:spPr>
          <a:xfrm>
            <a:off x="5154216" y="2637830"/>
            <a:ext cx="3489722"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007BFF"/>
                </a:solidFill>
              </a:rPr>
              <a:t>Dataset Features</a:t>
            </a:r>
            <a:endParaRPr lang="en-US" sz="634" dirty="0"/>
          </a:p>
        </p:txBody>
      </p:sp>
      <p:sp>
        <p:nvSpPr>
          <p:cNvPr id="72" name="Text 69"/>
          <p:cNvSpPr/>
          <p:nvPr/>
        </p:nvSpPr>
        <p:spPr>
          <a:xfrm>
            <a:off x="5154216" y="2807494"/>
            <a:ext cx="3489722" cy="440010"/>
          </a:xfrm>
          <a:prstGeom prst="rect">
            <a:avLst/>
          </a:prstGeom>
          <a:noFill/>
          <a:ln/>
        </p:spPr>
        <p:txBody>
          <a:bodyPr wrap="square" lIns="0" tIns="0" rIns="0" bIns="0" rtlCol="0" anchor="t">
            <a:spAutoFit/>
          </a:bodyPr>
          <a:lstStyle/>
          <a:p>
            <a:pPr marL="0" indent="0" algn="l">
              <a:lnSpc>
                <a:spcPts val="900"/>
              </a:lnSpc>
              <a:buNone/>
            </a:pPr>
            <a:r>
              <a:rPr lang="en-US" sz="534" b="1" dirty="0">
                <a:solidFill>
                  <a:srgbClr val="1A1A1A"/>
                </a:solidFill>
              </a:rPr>
              <a:t>Numerical:</a:t>
            </a:r>
            <a:r>
              <a:rPr lang="en-US" sz="568" dirty="0">
                <a:solidFill>
                  <a:srgbClr val="495057"/>
                </a:solidFill>
              </a:rPr>
              <a:t> price, area, bedrooms, bathrooms, stories, parking
</a:t>
            </a:r>
            <a:r>
              <a:rPr lang="en-US" sz="534" b="1" dirty="0">
                <a:solidFill>
                  <a:srgbClr val="1A1A1A"/>
                </a:solidFill>
              </a:rPr>
              <a:t>Categorical:</a:t>
            </a:r>
            <a:r>
              <a:rPr lang="en-US" sz="568" dirty="0">
                <a:solidFill>
                  <a:srgbClr val="495057"/>
                </a:solidFill>
              </a:rPr>
              <a:t> </a:t>
            </a:r>
            <a:r>
              <a:rPr lang="en-US" sz="568" dirty="0" err="1">
                <a:solidFill>
                  <a:srgbClr val="495057"/>
                </a:solidFill>
              </a:rPr>
              <a:t>mainroad</a:t>
            </a:r>
            <a:r>
              <a:rPr lang="en-US" sz="568" dirty="0">
                <a:solidFill>
                  <a:srgbClr val="495057"/>
                </a:solidFill>
              </a:rPr>
              <a:t>, guestroom, basement, </a:t>
            </a:r>
            <a:r>
              <a:rPr lang="en-US" sz="568" dirty="0" err="1">
                <a:solidFill>
                  <a:srgbClr val="495057"/>
                </a:solidFill>
              </a:rPr>
              <a:t>hotwaterheating</a:t>
            </a:r>
            <a:r>
              <a:rPr lang="en-US" sz="568" dirty="0">
                <a:solidFill>
                  <a:srgbClr val="495057"/>
                </a:solidFill>
              </a:rPr>
              <a:t>, </a:t>
            </a:r>
            <a:r>
              <a:rPr lang="en-US" sz="568" dirty="0" err="1">
                <a:solidFill>
                  <a:srgbClr val="495057"/>
                </a:solidFill>
              </a:rPr>
              <a:t>airconditioning</a:t>
            </a:r>
            <a:r>
              <a:rPr lang="en-US" sz="568" dirty="0">
                <a:solidFill>
                  <a:srgbClr val="495057"/>
                </a:solidFill>
              </a:rPr>
              <a:t>, </a:t>
            </a:r>
            <a:r>
              <a:rPr lang="en-US" sz="568" dirty="0" err="1">
                <a:solidFill>
                  <a:srgbClr val="495057"/>
                </a:solidFill>
              </a:rPr>
              <a:t>prefarea</a:t>
            </a:r>
            <a:r>
              <a:rPr lang="en-US" sz="568" dirty="0">
                <a:solidFill>
                  <a:srgbClr val="495057"/>
                </a:solidFill>
              </a:rPr>
              <a:t>, </a:t>
            </a:r>
            <a:r>
              <a:rPr lang="en-US" sz="568" dirty="0" err="1">
                <a:solidFill>
                  <a:srgbClr val="495057"/>
                </a:solidFill>
              </a:rPr>
              <a:t>furnishingstatus</a:t>
            </a:r>
            <a:r>
              <a:rPr lang="en-US" sz="568" dirty="0">
                <a:solidFill>
                  <a:srgbClr val="495057"/>
                </a:solidFill>
              </a:rPr>
              <a:t>
</a:t>
            </a:r>
            <a:r>
              <a:rPr lang="en-US" sz="534" b="1" dirty="0">
                <a:solidFill>
                  <a:srgbClr val="1A1A1A"/>
                </a:solidFill>
              </a:rPr>
              <a:t>Total:</a:t>
            </a:r>
            <a:r>
              <a:rPr lang="en-US" sz="568" dirty="0">
                <a:solidFill>
                  <a:srgbClr val="495057"/>
                </a:solidFill>
              </a:rPr>
              <a:t> 13 features for predicting house prices</a:t>
            </a:r>
            <a:endParaRPr lang="en-US" sz="534" dirty="0"/>
          </a:p>
        </p:txBody>
      </p:sp>
      <p:sp>
        <p:nvSpPr>
          <p:cNvPr id="73" name="Shape 70"/>
          <p:cNvSpPr/>
          <p:nvPr/>
        </p:nvSpPr>
        <p:spPr>
          <a:xfrm>
            <a:off x="5082778" y="3404667"/>
            <a:ext cx="3632597" cy="588578"/>
          </a:xfrm>
          <a:prstGeom prst="rect">
            <a:avLst/>
          </a:prstGeom>
          <a:solidFill>
            <a:srgbClr val="FFF3CD"/>
          </a:solidFill>
          <a:ln/>
        </p:spPr>
        <p:txBody>
          <a:bodyPr/>
          <a:lstStyle/>
          <a:p>
            <a:endParaRPr lang="en-MU"/>
          </a:p>
        </p:txBody>
      </p:sp>
      <p:sp>
        <p:nvSpPr>
          <p:cNvPr id="74" name="Shape 71"/>
          <p:cNvSpPr/>
          <p:nvPr/>
        </p:nvSpPr>
        <p:spPr>
          <a:xfrm>
            <a:off x="5082778" y="3404667"/>
            <a:ext cx="28575" cy="588578"/>
          </a:xfrm>
          <a:prstGeom prst="rect">
            <a:avLst/>
          </a:prstGeom>
          <a:solidFill>
            <a:srgbClr val="FFA500"/>
          </a:solidFill>
          <a:ln/>
        </p:spPr>
        <p:txBody>
          <a:bodyPr/>
          <a:lstStyle/>
          <a:p>
            <a:endParaRPr lang="en-MU"/>
          </a:p>
        </p:txBody>
      </p:sp>
      <p:sp>
        <p:nvSpPr>
          <p:cNvPr id="75" name="Text 72"/>
          <p:cNvSpPr/>
          <p:nvPr/>
        </p:nvSpPr>
        <p:spPr>
          <a:xfrm>
            <a:off x="5082778" y="3404667"/>
            <a:ext cx="3632597" cy="510268"/>
          </a:xfrm>
          <a:prstGeom prst="rect">
            <a:avLst/>
          </a:prstGeom>
          <a:noFill/>
          <a:ln/>
        </p:spPr>
        <p:txBody>
          <a:bodyPr wrap="square" lIns="85090" tIns="85090" rIns="85090" bIns="85090" rtlCol="0" anchor="t">
            <a:spAutoFit/>
          </a:bodyPr>
          <a:lstStyle/>
          <a:p>
            <a:pPr marL="0" indent="0" algn="l">
              <a:lnSpc>
                <a:spcPts val="900"/>
              </a:lnSpc>
              <a:buNone/>
            </a:pPr>
            <a:r>
              <a:rPr lang="en-US" sz="584" b="1" dirty="0">
                <a:solidFill>
                  <a:srgbClr val="FFA500"/>
                </a:solidFill>
              </a:rPr>
              <a:t>Data Loading Insight:</a:t>
            </a:r>
            <a:r>
              <a:rPr lang="en-US" sz="621" dirty="0">
                <a:solidFill>
                  <a:srgbClr val="1A1A1A"/>
                </a:solidFill>
              </a:rPr>
              <a:t> The Housing dataset from Kaggle contains 545 house records with 13 features including price, area, bedrooms, bathrooms, and various amenities. This data will be cleaned, analyzed, and used to train our machine learning models to predict house prices accurately.</a:t>
            </a:r>
            <a:endParaRPr lang="en-US" sz="5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0" y="0"/>
            <a:ext cx="9144000" cy="928688"/>
          </a:xfrm>
          <a:prstGeom prst="rect">
            <a:avLst/>
          </a:prstGeom>
          <a:solidFill>
            <a:srgbClr val="000000">
              <a:alpha val="0"/>
            </a:srgbClr>
          </a:solidFill>
          <a:ln/>
        </p:spPr>
        <p:txBody>
          <a:bodyPr/>
          <a:lstStyle/>
          <a:p>
            <a:endParaRPr lang="en-MU"/>
          </a:p>
        </p:txBody>
      </p:sp>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2588594" cy="265778"/>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First Look at Our New Dataset </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Data Inspection and Statistical Summary</a:t>
            </a:r>
            <a:endParaRPr lang="en-US" sz="987" dirty="0"/>
          </a:p>
        </p:txBody>
      </p:sp>
      <p:sp>
        <p:nvSpPr>
          <p:cNvPr id="7" name="Shape 4"/>
          <p:cNvSpPr/>
          <p:nvPr/>
        </p:nvSpPr>
        <p:spPr>
          <a:xfrm>
            <a:off x="428625" y="1000125"/>
            <a:ext cx="3851374" cy="570049"/>
          </a:xfrm>
          <a:prstGeom prst="rect">
            <a:avLst/>
          </a:prstGeom>
          <a:solidFill>
            <a:srgbClr val="F8F9FA"/>
          </a:solidFill>
          <a:ln/>
        </p:spPr>
        <p:txBody>
          <a:bodyPr/>
          <a:lstStyle/>
          <a:p>
            <a:endParaRPr lang="en-MU"/>
          </a:p>
        </p:txBody>
      </p:sp>
      <p:sp>
        <p:nvSpPr>
          <p:cNvPr id="8" name="Shape 5"/>
          <p:cNvSpPr/>
          <p:nvPr/>
        </p:nvSpPr>
        <p:spPr>
          <a:xfrm>
            <a:off x="428625" y="1000125"/>
            <a:ext cx="28575" cy="570049"/>
          </a:xfrm>
          <a:prstGeom prst="rect">
            <a:avLst/>
          </a:prstGeom>
          <a:solidFill>
            <a:srgbClr val="007BFF"/>
          </a:solidFill>
          <a:ln/>
        </p:spPr>
        <p:txBody>
          <a:bodyPr/>
          <a:lstStyle/>
          <a:p>
            <a:endParaRPr lang="en-MU"/>
          </a:p>
        </p:txBody>
      </p:sp>
      <p:sp>
        <p:nvSpPr>
          <p:cNvPr id="9" name="Shape 6"/>
          <p:cNvSpPr/>
          <p:nvPr/>
        </p:nvSpPr>
        <p:spPr>
          <a:xfrm>
            <a:off x="485775" y="1057275"/>
            <a:ext cx="3737074" cy="245734"/>
          </a:xfrm>
          <a:prstGeom prst="rect">
            <a:avLst/>
          </a:prstGeom>
          <a:solidFill>
            <a:srgbClr val="1A1A1A"/>
          </a:solidFill>
          <a:ln/>
        </p:spPr>
        <p:txBody>
          <a:bodyPr/>
          <a:lstStyle/>
          <a:p>
            <a:endParaRPr lang="en-MU"/>
          </a:p>
        </p:txBody>
      </p:sp>
      <p:sp>
        <p:nvSpPr>
          <p:cNvPr id="10" name="Text 7"/>
          <p:cNvSpPr/>
          <p:nvPr/>
        </p:nvSpPr>
        <p:spPr>
          <a:xfrm>
            <a:off x="485775" y="1057275"/>
            <a:ext cx="3737074"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#1 – View First 5 Rows</a:t>
            </a:r>
            <a:endParaRPr lang="en-US" sz="568" dirty="0"/>
          </a:p>
          <a:p>
            <a:pPr marL="0" indent="0" algn="l">
              <a:lnSpc>
                <a:spcPts val="700"/>
              </a:lnSpc>
              <a:buNone/>
            </a:pPr>
            <a:r>
              <a:rPr lang="en-US" sz="568" dirty="0" err="1">
                <a:solidFill>
                  <a:srgbClr val="28A745"/>
                </a:solidFill>
              </a:rPr>
              <a:t>df.head</a:t>
            </a:r>
            <a:r>
              <a:rPr lang="en-US" sz="568" dirty="0">
                <a:solidFill>
                  <a:srgbClr val="28A745"/>
                </a:solidFill>
              </a:rPr>
              <a:t>()</a:t>
            </a:r>
            <a:endParaRPr lang="en-US" sz="568" dirty="0"/>
          </a:p>
        </p:txBody>
      </p:sp>
      <p:sp>
        <p:nvSpPr>
          <p:cNvPr id="11" name="Text 8"/>
          <p:cNvSpPr/>
          <p:nvPr/>
        </p:nvSpPr>
        <p:spPr>
          <a:xfrm>
            <a:off x="571500" y="1317296"/>
            <a:ext cx="29336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.head():</a:t>
            </a:r>
            <a:endParaRPr lang="en-US" sz="534" dirty="0"/>
          </a:p>
        </p:txBody>
      </p:sp>
      <p:sp>
        <p:nvSpPr>
          <p:cNvPr id="12" name="Text 9"/>
          <p:cNvSpPr/>
          <p:nvPr/>
        </p:nvSpPr>
        <p:spPr>
          <a:xfrm>
            <a:off x="864868" y="1317296"/>
            <a:ext cx="1440024"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Displays first 5 rows of the DataFrame.</a:t>
            </a:r>
            <a:endParaRPr lang="en-US" sz="568" dirty="0"/>
          </a:p>
        </p:txBody>
      </p:sp>
      <p:sp>
        <p:nvSpPr>
          <p:cNvPr id="13" name="Text 10"/>
          <p:cNvSpPr/>
          <p:nvPr/>
        </p:nvSpPr>
        <p:spPr>
          <a:xfrm>
            <a:off x="571500" y="1411588"/>
            <a:ext cx="34292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Purpose:</a:t>
            </a:r>
            <a:endParaRPr lang="en-US" sz="534" dirty="0"/>
          </a:p>
        </p:txBody>
      </p:sp>
      <p:sp>
        <p:nvSpPr>
          <p:cNvPr id="14" name="Text 11"/>
          <p:cNvSpPr/>
          <p:nvPr/>
        </p:nvSpPr>
        <p:spPr>
          <a:xfrm>
            <a:off x="914428" y="1411588"/>
            <a:ext cx="1938858"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Quick visual inspection of data structure and values.</a:t>
            </a:r>
            <a:endParaRPr lang="en-US" sz="568" dirty="0"/>
          </a:p>
        </p:txBody>
      </p:sp>
      <p:sp>
        <p:nvSpPr>
          <p:cNvPr id="15" name="Shape 12"/>
          <p:cNvSpPr/>
          <p:nvPr/>
        </p:nvSpPr>
        <p:spPr>
          <a:xfrm>
            <a:off x="428625" y="1613036"/>
            <a:ext cx="3851374" cy="664341"/>
          </a:xfrm>
          <a:prstGeom prst="rect">
            <a:avLst/>
          </a:prstGeom>
          <a:solidFill>
            <a:srgbClr val="F8F9FA"/>
          </a:solidFill>
          <a:ln/>
        </p:spPr>
        <p:txBody>
          <a:bodyPr/>
          <a:lstStyle/>
          <a:p>
            <a:endParaRPr lang="en-MU"/>
          </a:p>
        </p:txBody>
      </p:sp>
      <p:sp>
        <p:nvSpPr>
          <p:cNvPr id="16" name="Shape 13"/>
          <p:cNvSpPr/>
          <p:nvPr/>
        </p:nvSpPr>
        <p:spPr>
          <a:xfrm>
            <a:off x="428625" y="1613036"/>
            <a:ext cx="28575" cy="664341"/>
          </a:xfrm>
          <a:prstGeom prst="rect">
            <a:avLst/>
          </a:prstGeom>
          <a:solidFill>
            <a:srgbClr val="007BFF"/>
          </a:solidFill>
          <a:ln/>
        </p:spPr>
        <p:txBody>
          <a:bodyPr/>
          <a:lstStyle/>
          <a:p>
            <a:endParaRPr lang="en-MU"/>
          </a:p>
        </p:txBody>
      </p:sp>
      <p:sp>
        <p:nvSpPr>
          <p:cNvPr id="17" name="Shape 14"/>
          <p:cNvSpPr/>
          <p:nvPr/>
        </p:nvSpPr>
        <p:spPr>
          <a:xfrm>
            <a:off x="485775" y="1670186"/>
            <a:ext cx="3737074" cy="245734"/>
          </a:xfrm>
          <a:prstGeom prst="rect">
            <a:avLst/>
          </a:prstGeom>
          <a:solidFill>
            <a:srgbClr val="1A1A1A"/>
          </a:solidFill>
          <a:ln/>
        </p:spPr>
        <p:txBody>
          <a:bodyPr/>
          <a:lstStyle/>
          <a:p>
            <a:endParaRPr lang="en-MU"/>
          </a:p>
        </p:txBody>
      </p:sp>
      <p:sp>
        <p:nvSpPr>
          <p:cNvPr id="18" name="Text 15"/>
          <p:cNvSpPr/>
          <p:nvPr/>
        </p:nvSpPr>
        <p:spPr>
          <a:xfrm>
            <a:off x="485775" y="1670186"/>
            <a:ext cx="3737074"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#2 – Get Data Info</a:t>
            </a:r>
            <a:endParaRPr lang="en-US" sz="568" dirty="0"/>
          </a:p>
          <a:p>
            <a:pPr marL="0" indent="0" algn="l">
              <a:lnSpc>
                <a:spcPts val="700"/>
              </a:lnSpc>
              <a:buNone/>
            </a:pPr>
            <a:r>
              <a:rPr lang="en-US" sz="568" dirty="0">
                <a:solidFill>
                  <a:srgbClr val="28A745"/>
                </a:solidFill>
              </a:rPr>
              <a:t>df.info()</a:t>
            </a:r>
            <a:endParaRPr lang="en-US" sz="568" dirty="0"/>
          </a:p>
        </p:txBody>
      </p:sp>
      <p:sp>
        <p:nvSpPr>
          <p:cNvPr id="19" name="Text 16"/>
          <p:cNvSpPr/>
          <p:nvPr/>
        </p:nvSpPr>
        <p:spPr>
          <a:xfrm>
            <a:off x="571500" y="1930208"/>
            <a:ext cx="25273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.info():</a:t>
            </a:r>
            <a:endParaRPr lang="en-US" sz="534" dirty="0"/>
          </a:p>
        </p:txBody>
      </p:sp>
      <p:sp>
        <p:nvSpPr>
          <p:cNvPr id="20" name="Text 17"/>
          <p:cNvSpPr/>
          <p:nvPr/>
        </p:nvSpPr>
        <p:spPr>
          <a:xfrm>
            <a:off x="824238" y="1930208"/>
            <a:ext cx="2048554"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Shows column names, data types, and non-null counts.</a:t>
            </a:r>
            <a:endParaRPr lang="en-US" sz="568" dirty="0"/>
          </a:p>
        </p:txBody>
      </p:sp>
      <p:sp>
        <p:nvSpPr>
          <p:cNvPr id="21" name="Text 18"/>
          <p:cNvSpPr/>
          <p:nvPr/>
        </p:nvSpPr>
        <p:spPr>
          <a:xfrm>
            <a:off x="571500" y="2024500"/>
            <a:ext cx="306177"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Output:</a:t>
            </a:r>
            <a:endParaRPr lang="en-US" sz="534" dirty="0"/>
          </a:p>
        </p:txBody>
      </p:sp>
      <p:sp>
        <p:nvSpPr>
          <p:cNvPr id="22" name="Text 19"/>
          <p:cNvSpPr/>
          <p:nvPr/>
        </p:nvSpPr>
        <p:spPr>
          <a:xfrm>
            <a:off x="877677" y="2024500"/>
            <a:ext cx="1565988"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Identifies int64, object, float64 data types.</a:t>
            </a:r>
            <a:endParaRPr lang="en-US" sz="568" dirty="0"/>
          </a:p>
        </p:txBody>
      </p:sp>
      <p:sp>
        <p:nvSpPr>
          <p:cNvPr id="23" name="Text 20"/>
          <p:cNvSpPr/>
          <p:nvPr/>
        </p:nvSpPr>
        <p:spPr>
          <a:xfrm>
            <a:off x="571500" y="2118792"/>
            <a:ext cx="320771"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Reveals:</a:t>
            </a:r>
            <a:endParaRPr lang="en-US" sz="534" dirty="0"/>
          </a:p>
        </p:txBody>
      </p:sp>
      <p:sp>
        <p:nvSpPr>
          <p:cNvPr id="24" name="Text 21"/>
          <p:cNvSpPr/>
          <p:nvPr/>
        </p:nvSpPr>
        <p:spPr>
          <a:xfrm>
            <a:off x="892271" y="2118792"/>
            <a:ext cx="2420615"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Which columns have missing values (non-null count &lt; total rows).</a:t>
            </a:r>
            <a:endParaRPr lang="en-US" sz="568" dirty="0"/>
          </a:p>
        </p:txBody>
      </p:sp>
      <p:sp>
        <p:nvSpPr>
          <p:cNvPr id="25" name="Shape 22"/>
          <p:cNvSpPr/>
          <p:nvPr/>
        </p:nvSpPr>
        <p:spPr>
          <a:xfrm>
            <a:off x="428625" y="2320240"/>
            <a:ext cx="3851374" cy="664341"/>
          </a:xfrm>
          <a:prstGeom prst="rect">
            <a:avLst/>
          </a:prstGeom>
          <a:solidFill>
            <a:srgbClr val="F8F9FA"/>
          </a:solidFill>
          <a:ln/>
        </p:spPr>
        <p:txBody>
          <a:bodyPr/>
          <a:lstStyle/>
          <a:p>
            <a:endParaRPr lang="en-MU"/>
          </a:p>
        </p:txBody>
      </p:sp>
      <p:sp>
        <p:nvSpPr>
          <p:cNvPr id="26" name="Shape 23"/>
          <p:cNvSpPr/>
          <p:nvPr/>
        </p:nvSpPr>
        <p:spPr>
          <a:xfrm>
            <a:off x="428625" y="2320240"/>
            <a:ext cx="28575" cy="664341"/>
          </a:xfrm>
          <a:prstGeom prst="rect">
            <a:avLst/>
          </a:prstGeom>
          <a:solidFill>
            <a:srgbClr val="007BFF"/>
          </a:solidFill>
          <a:ln/>
        </p:spPr>
        <p:txBody>
          <a:bodyPr/>
          <a:lstStyle/>
          <a:p>
            <a:endParaRPr lang="en-MU"/>
          </a:p>
        </p:txBody>
      </p:sp>
      <p:sp>
        <p:nvSpPr>
          <p:cNvPr id="27" name="Shape 24"/>
          <p:cNvSpPr/>
          <p:nvPr/>
        </p:nvSpPr>
        <p:spPr>
          <a:xfrm>
            <a:off x="485775" y="2377390"/>
            <a:ext cx="3737074" cy="245734"/>
          </a:xfrm>
          <a:prstGeom prst="rect">
            <a:avLst/>
          </a:prstGeom>
          <a:solidFill>
            <a:srgbClr val="1A1A1A"/>
          </a:solidFill>
          <a:ln/>
        </p:spPr>
        <p:txBody>
          <a:bodyPr/>
          <a:lstStyle/>
          <a:p>
            <a:endParaRPr lang="en-MU"/>
          </a:p>
        </p:txBody>
      </p:sp>
      <p:sp>
        <p:nvSpPr>
          <p:cNvPr id="28" name="Text 25"/>
          <p:cNvSpPr/>
          <p:nvPr/>
        </p:nvSpPr>
        <p:spPr>
          <a:xfrm>
            <a:off x="485775" y="2377390"/>
            <a:ext cx="3737074"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#3 – Statistical Summary</a:t>
            </a:r>
            <a:endParaRPr lang="en-US" sz="568" dirty="0"/>
          </a:p>
          <a:p>
            <a:pPr marL="0" indent="0" algn="l">
              <a:lnSpc>
                <a:spcPts val="700"/>
              </a:lnSpc>
              <a:buNone/>
            </a:pPr>
            <a:r>
              <a:rPr lang="en-US" sz="568" dirty="0" err="1">
                <a:solidFill>
                  <a:srgbClr val="28A745"/>
                </a:solidFill>
              </a:rPr>
              <a:t>df.describe</a:t>
            </a:r>
            <a:r>
              <a:rPr lang="en-US" sz="568" dirty="0">
                <a:solidFill>
                  <a:srgbClr val="28A745"/>
                </a:solidFill>
              </a:rPr>
              <a:t>()</a:t>
            </a:r>
            <a:endParaRPr lang="en-US" sz="568" dirty="0"/>
          </a:p>
        </p:txBody>
      </p:sp>
      <p:sp>
        <p:nvSpPr>
          <p:cNvPr id="29" name="Text 26"/>
          <p:cNvSpPr/>
          <p:nvPr/>
        </p:nvSpPr>
        <p:spPr>
          <a:xfrm>
            <a:off x="571500" y="2637411"/>
            <a:ext cx="42954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.describe():</a:t>
            </a:r>
            <a:endParaRPr lang="en-US" sz="534" dirty="0"/>
          </a:p>
        </p:txBody>
      </p:sp>
      <p:sp>
        <p:nvSpPr>
          <p:cNvPr id="30" name="Text 27"/>
          <p:cNvSpPr/>
          <p:nvPr/>
        </p:nvSpPr>
        <p:spPr>
          <a:xfrm>
            <a:off x="1001046" y="2637411"/>
            <a:ext cx="154475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Calculates statistics for numeric columns.</a:t>
            </a:r>
            <a:endParaRPr lang="en-US" sz="568" dirty="0"/>
          </a:p>
        </p:txBody>
      </p:sp>
      <p:sp>
        <p:nvSpPr>
          <p:cNvPr id="31" name="Text 28"/>
          <p:cNvSpPr/>
          <p:nvPr/>
        </p:nvSpPr>
        <p:spPr>
          <a:xfrm>
            <a:off x="571500" y="2731703"/>
            <a:ext cx="31613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Metrics:</a:t>
            </a:r>
            <a:endParaRPr lang="en-US" sz="534" dirty="0"/>
          </a:p>
        </p:txBody>
      </p:sp>
      <p:sp>
        <p:nvSpPr>
          <p:cNvPr id="32" name="Text 29"/>
          <p:cNvSpPr/>
          <p:nvPr/>
        </p:nvSpPr>
        <p:spPr>
          <a:xfrm>
            <a:off x="887639" y="2731703"/>
            <a:ext cx="163449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count, mean, std, min, 25%, 50%, 75%, max.</a:t>
            </a:r>
            <a:endParaRPr lang="en-US" sz="568" dirty="0"/>
          </a:p>
        </p:txBody>
      </p:sp>
      <p:sp>
        <p:nvSpPr>
          <p:cNvPr id="33" name="Text 30"/>
          <p:cNvSpPr/>
          <p:nvPr/>
        </p:nvSpPr>
        <p:spPr>
          <a:xfrm>
            <a:off x="571500" y="2825995"/>
            <a:ext cx="591034"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Interpretation:</a:t>
            </a:r>
            <a:endParaRPr lang="en-US" sz="534" dirty="0"/>
          </a:p>
        </p:txBody>
      </p:sp>
      <p:sp>
        <p:nvSpPr>
          <p:cNvPr id="34" name="Text 31"/>
          <p:cNvSpPr/>
          <p:nvPr/>
        </p:nvSpPr>
        <p:spPr>
          <a:xfrm>
            <a:off x="1162534" y="2825995"/>
            <a:ext cx="1549943"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Understand data distribution and ranges.</a:t>
            </a:r>
            <a:endParaRPr lang="en-US" sz="568" dirty="0"/>
          </a:p>
        </p:txBody>
      </p:sp>
      <p:sp>
        <p:nvSpPr>
          <p:cNvPr id="38" name="Text 35"/>
          <p:cNvSpPr/>
          <p:nvPr/>
        </p:nvSpPr>
        <p:spPr>
          <a:xfrm>
            <a:off x="485775" y="3084593"/>
            <a:ext cx="3737074" cy="155299"/>
          </a:xfrm>
          <a:prstGeom prst="rect">
            <a:avLst/>
          </a:prstGeom>
          <a:noFill/>
          <a:ln/>
        </p:spPr>
        <p:txBody>
          <a:bodyPr wrap="square" lIns="51054" tIns="34036" rIns="51054" bIns="34036" rtlCol="0" anchor="t">
            <a:spAutoFit/>
          </a:bodyPr>
          <a:lstStyle/>
          <a:p>
            <a:pPr marL="0" indent="0" algn="l">
              <a:lnSpc>
                <a:spcPts val="700"/>
              </a:lnSpc>
              <a:buNone/>
            </a:pPr>
            <a:endParaRPr lang="en-US" sz="568" dirty="0"/>
          </a:p>
        </p:txBody>
      </p:sp>
      <p:sp>
        <p:nvSpPr>
          <p:cNvPr id="45" name="Shape 42"/>
          <p:cNvSpPr/>
          <p:nvPr/>
        </p:nvSpPr>
        <p:spPr>
          <a:xfrm>
            <a:off x="4458593" y="1000125"/>
            <a:ext cx="4256782" cy="1112639"/>
          </a:xfrm>
          <a:prstGeom prst="rect">
            <a:avLst/>
          </a:prstGeom>
          <a:solidFill>
            <a:srgbClr val="F8F9FA"/>
          </a:solidFill>
          <a:ln w="9144">
            <a:solidFill>
              <a:srgbClr val="E0E0E0"/>
            </a:solidFill>
            <a:prstDash val="solid"/>
          </a:ln>
        </p:spPr>
        <p:txBody>
          <a:bodyPr/>
          <a:lstStyle/>
          <a:p>
            <a:endParaRPr lang="en-MU"/>
          </a:p>
        </p:txBody>
      </p:sp>
      <p:sp>
        <p:nvSpPr>
          <p:cNvPr id="46" name="Text 43"/>
          <p:cNvSpPr/>
          <p:nvPr/>
        </p:nvSpPr>
        <p:spPr>
          <a:xfrm>
            <a:off x="6226308" y="1057275"/>
            <a:ext cx="721351" cy="96758"/>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1A1A1A"/>
                </a:solidFill>
              </a:rPr>
              <a:t>Sample Data </a:t>
            </a:r>
            <a:r>
              <a:rPr lang="en-US" sz="584" b="1" dirty="0" err="1">
                <a:solidFill>
                  <a:srgbClr val="1A1A1A"/>
                </a:solidFill>
              </a:rPr>
              <a:t>df.head</a:t>
            </a:r>
            <a:r>
              <a:rPr lang="en-US" sz="584" b="1" dirty="0">
                <a:solidFill>
                  <a:srgbClr val="1A1A1A"/>
                </a:solidFill>
              </a:rPr>
              <a:t>()</a:t>
            </a:r>
            <a:endParaRPr lang="en-US" sz="584" dirty="0"/>
          </a:p>
        </p:txBody>
      </p:sp>
      <p:sp>
        <p:nvSpPr>
          <p:cNvPr id="47" name="Shape 44"/>
          <p:cNvSpPr/>
          <p:nvPr/>
        </p:nvSpPr>
        <p:spPr>
          <a:xfrm>
            <a:off x="4519315" y="1216223"/>
            <a:ext cx="4135338" cy="133945"/>
          </a:xfrm>
          <a:prstGeom prst="rect">
            <a:avLst/>
          </a:prstGeom>
          <a:solidFill>
            <a:srgbClr val="F8F9FA"/>
          </a:solidFill>
          <a:ln/>
        </p:spPr>
        <p:txBody>
          <a:bodyPr/>
          <a:lstStyle/>
          <a:p>
            <a:endParaRPr lang="en-MU"/>
          </a:p>
        </p:txBody>
      </p:sp>
      <p:sp>
        <p:nvSpPr>
          <p:cNvPr id="48" name="Shape 45"/>
          <p:cNvSpPr/>
          <p:nvPr/>
        </p:nvSpPr>
        <p:spPr>
          <a:xfrm>
            <a:off x="4519315" y="1216223"/>
            <a:ext cx="689204" cy="133945"/>
          </a:xfrm>
          <a:prstGeom prst="rect">
            <a:avLst/>
          </a:prstGeom>
          <a:solidFill>
            <a:srgbClr val="007BFF"/>
          </a:solidFill>
          <a:ln/>
        </p:spPr>
        <p:txBody>
          <a:bodyPr/>
          <a:lstStyle/>
          <a:p>
            <a:endParaRPr lang="en-MU"/>
          </a:p>
        </p:txBody>
      </p:sp>
      <p:sp>
        <p:nvSpPr>
          <p:cNvPr id="49" name="Text 46"/>
          <p:cNvSpPr/>
          <p:nvPr/>
        </p:nvSpPr>
        <p:spPr>
          <a:xfrm>
            <a:off x="4519315" y="1216223"/>
            <a:ext cx="689204" cy="133945"/>
          </a:xfrm>
          <a:prstGeom prst="rect">
            <a:avLst/>
          </a:prstGeom>
          <a:noFill/>
          <a:ln/>
        </p:spPr>
        <p:txBody>
          <a:bodyPr wrap="square" lIns="17018" tIns="25527" rIns="17018" bIns="25527" rtlCol="0" anchor="ctr">
            <a:spAutoFit/>
          </a:bodyPr>
          <a:lstStyle/>
          <a:p>
            <a:pPr marL="0" indent="0" algn="ctr">
              <a:lnSpc>
                <a:spcPts val="600"/>
              </a:lnSpc>
              <a:buNone/>
            </a:pPr>
            <a:r>
              <a:rPr lang="en-US" sz="435" b="1" dirty="0">
                <a:solidFill>
                  <a:srgbClr val="FFFFFF"/>
                </a:solidFill>
              </a:rPr>
              <a:t>Price</a:t>
            </a:r>
            <a:endParaRPr lang="en-US" sz="435" dirty="0"/>
          </a:p>
        </p:txBody>
      </p:sp>
      <p:sp>
        <p:nvSpPr>
          <p:cNvPr id="50" name="Shape 47"/>
          <p:cNvSpPr/>
          <p:nvPr/>
        </p:nvSpPr>
        <p:spPr>
          <a:xfrm>
            <a:off x="5208519" y="1216223"/>
            <a:ext cx="689204" cy="133945"/>
          </a:xfrm>
          <a:prstGeom prst="rect">
            <a:avLst/>
          </a:prstGeom>
          <a:solidFill>
            <a:srgbClr val="007BFF"/>
          </a:solidFill>
          <a:ln/>
        </p:spPr>
        <p:txBody>
          <a:bodyPr/>
          <a:lstStyle/>
          <a:p>
            <a:endParaRPr lang="en-MU"/>
          </a:p>
        </p:txBody>
      </p:sp>
      <p:sp>
        <p:nvSpPr>
          <p:cNvPr id="51" name="Text 48"/>
          <p:cNvSpPr/>
          <p:nvPr/>
        </p:nvSpPr>
        <p:spPr>
          <a:xfrm>
            <a:off x="5208519" y="1216223"/>
            <a:ext cx="689204" cy="133945"/>
          </a:xfrm>
          <a:prstGeom prst="rect">
            <a:avLst/>
          </a:prstGeom>
          <a:noFill/>
          <a:ln/>
        </p:spPr>
        <p:txBody>
          <a:bodyPr wrap="square" lIns="17018" tIns="25527" rIns="17018" bIns="25527" rtlCol="0" anchor="ctr">
            <a:spAutoFit/>
          </a:bodyPr>
          <a:lstStyle/>
          <a:p>
            <a:pPr marL="0" indent="0" algn="ctr">
              <a:lnSpc>
                <a:spcPts val="600"/>
              </a:lnSpc>
              <a:buNone/>
            </a:pPr>
            <a:r>
              <a:rPr lang="en-US" sz="435" b="1" dirty="0">
                <a:solidFill>
                  <a:srgbClr val="FFFFFF"/>
                </a:solidFill>
              </a:rPr>
              <a:t>Area</a:t>
            </a:r>
            <a:endParaRPr lang="en-US" sz="435" dirty="0"/>
          </a:p>
        </p:txBody>
      </p:sp>
      <p:sp>
        <p:nvSpPr>
          <p:cNvPr id="52" name="Shape 49"/>
          <p:cNvSpPr/>
          <p:nvPr/>
        </p:nvSpPr>
        <p:spPr>
          <a:xfrm>
            <a:off x="5897724" y="1216223"/>
            <a:ext cx="689204" cy="133945"/>
          </a:xfrm>
          <a:prstGeom prst="rect">
            <a:avLst/>
          </a:prstGeom>
          <a:solidFill>
            <a:srgbClr val="007BFF"/>
          </a:solidFill>
          <a:ln/>
        </p:spPr>
        <p:txBody>
          <a:bodyPr/>
          <a:lstStyle/>
          <a:p>
            <a:endParaRPr lang="en-MU"/>
          </a:p>
        </p:txBody>
      </p:sp>
      <p:sp>
        <p:nvSpPr>
          <p:cNvPr id="53" name="Text 50"/>
          <p:cNvSpPr/>
          <p:nvPr/>
        </p:nvSpPr>
        <p:spPr>
          <a:xfrm>
            <a:off x="5897724" y="1216223"/>
            <a:ext cx="689204" cy="133945"/>
          </a:xfrm>
          <a:prstGeom prst="rect">
            <a:avLst/>
          </a:prstGeom>
          <a:noFill/>
          <a:ln/>
        </p:spPr>
        <p:txBody>
          <a:bodyPr wrap="square" lIns="17018" tIns="25527" rIns="17018" bIns="25527" rtlCol="0" anchor="ctr">
            <a:spAutoFit/>
          </a:bodyPr>
          <a:lstStyle/>
          <a:p>
            <a:pPr marL="0" indent="0" algn="ctr">
              <a:lnSpc>
                <a:spcPts val="600"/>
              </a:lnSpc>
              <a:buNone/>
            </a:pPr>
            <a:r>
              <a:rPr lang="en-US" sz="435" b="1" dirty="0">
                <a:solidFill>
                  <a:srgbClr val="FFFFFF"/>
                </a:solidFill>
              </a:rPr>
              <a:t>Bed</a:t>
            </a:r>
            <a:endParaRPr lang="en-US" sz="435" dirty="0"/>
          </a:p>
        </p:txBody>
      </p:sp>
      <p:sp>
        <p:nvSpPr>
          <p:cNvPr id="54" name="Shape 51"/>
          <p:cNvSpPr/>
          <p:nvPr/>
        </p:nvSpPr>
        <p:spPr>
          <a:xfrm>
            <a:off x="6586928" y="1216223"/>
            <a:ext cx="689204" cy="133945"/>
          </a:xfrm>
          <a:prstGeom prst="rect">
            <a:avLst/>
          </a:prstGeom>
          <a:solidFill>
            <a:srgbClr val="007BFF"/>
          </a:solidFill>
          <a:ln/>
        </p:spPr>
        <p:txBody>
          <a:bodyPr/>
          <a:lstStyle/>
          <a:p>
            <a:endParaRPr lang="en-MU"/>
          </a:p>
        </p:txBody>
      </p:sp>
      <p:sp>
        <p:nvSpPr>
          <p:cNvPr id="55" name="Text 52"/>
          <p:cNvSpPr/>
          <p:nvPr/>
        </p:nvSpPr>
        <p:spPr>
          <a:xfrm>
            <a:off x="6586928" y="1216223"/>
            <a:ext cx="689204" cy="133945"/>
          </a:xfrm>
          <a:prstGeom prst="rect">
            <a:avLst/>
          </a:prstGeom>
          <a:noFill/>
          <a:ln/>
        </p:spPr>
        <p:txBody>
          <a:bodyPr wrap="square" lIns="17018" tIns="25527" rIns="17018" bIns="25527" rtlCol="0" anchor="ctr">
            <a:spAutoFit/>
          </a:bodyPr>
          <a:lstStyle/>
          <a:p>
            <a:pPr marL="0" indent="0" algn="ctr">
              <a:lnSpc>
                <a:spcPts val="600"/>
              </a:lnSpc>
              <a:buNone/>
            </a:pPr>
            <a:r>
              <a:rPr lang="en-US" sz="435" b="1" dirty="0">
                <a:solidFill>
                  <a:srgbClr val="FFFFFF"/>
                </a:solidFill>
              </a:rPr>
              <a:t>Bath</a:t>
            </a:r>
            <a:endParaRPr lang="en-US" sz="435" dirty="0"/>
          </a:p>
        </p:txBody>
      </p:sp>
      <p:sp>
        <p:nvSpPr>
          <p:cNvPr id="56" name="Shape 53"/>
          <p:cNvSpPr/>
          <p:nvPr/>
        </p:nvSpPr>
        <p:spPr>
          <a:xfrm>
            <a:off x="7276133" y="1216223"/>
            <a:ext cx="689204" cy="133945"/>
          </a:xfrm>
          <a:prstGeom prst="rect">
            <a:avLst/>
          </a:prstGeom>
          <a:solidFill>
            <a:srgbClr val="007BFF"/>
          </a:solidFill>
          <a:ln/>
        </p:spPr>
        <p:txBody>
          <a:bodyPr/>
          <a:lstStyle/>
          <a:p>
            <a:endParaRPr lang="en-MU"/>
          </a:p>
        </p:txBody>
      </p:sp>
      <p:sp>
        <p:nvSpPr>
          <p:cNvPr id="57" name="Text 54"/>
          <p:cNvSpPr/>
          <p:nvPr/>
        </p:nvSpPr>
        <p:spPr>
          <a:xfrm>
            <a:off x="7276133" y="1216223"/>
            <a:ext cx="689204" cy="133945"/>
          </a:xfrm>
          <a:prstGeom prst="rect">
            <a:avLst/>
          </a:prstGeom>
          <a:noFill/>
          <a:ln/>
        </p:spPr>
        <p:txBody>
          <a:bodyPr wrap="square" lIns="17018" tIns="25527" rIns="17018" bIns="25527" rtlCol="0" anchor="ctr">
            <a:spAutoFit/>
          </a:bodyPr>
          <a:lstStyle/>
          <a:p>
            <a:pPr marL="0" indent="0" algn="ctr">
              <a:lnSpc>
                <a:spcPts val="600"/>
              </a:lnSpc>
              <a:buNone/>
            </a:pPr>
            <a:r>
              <a:rPr lang="en-US" sz="435" b="1" dirty="0">
                <a:solidFill>
                  <a:srgbClr val="FFFFFF"/>
                </a:solidFill>
              </a:rPr>
              <a:t>Stories</a:t>
            </a:r>
            <a:endParaRPr lang="en-US" sz="435" dirty="0"/>
          </a:p>
        </p:txBody>
      </p:sp>
      <p:sp>
        <p:nvSpPr>
          <p:cNvPr id="58" name="Shape 55"/>
          <p:cNvSpPr/>
          <p:nvPr/>
        </p:nvSpPr>
        <p:spPr>
          <a:xfrm>
            <a:off x="7965337" y="1216223"/>
            <a:ext cx="689316" cy="133945"/>
          </a:xfrm>
          <a:prstGeom prst="rect">
            <a:avLst/>
          </a:prstGeom>
          <a:solidFill>
            <a:srgbClr val="007BFF"/>
          </a:solidFill>
          <a:ln/>
        </p:spPr>
        <p:txBody>
          <a:bodyPr/>
          <a:lstStyle/>
          <a:p>
            <a:endParaRPr lang="en-MU"/>
          </a:p>
        </p:txBody>
      </p:sp>
      <p:sp>
        <p:nvSpPr>
          <p:cNvPr id="59" name="Text 56"/>
          <p:cNvSpPr/>
          <p:nvPr/>
        </p:nvSpPr>
        <p:spPr>
          <a:xfrm>
            <a:off x="7965337" y="1216223"/>
            <a:ext cx="689316" cy="133945"/>
          </a:xfrm>
          <a:prstGeom prst="rect">
            <a:avLst/>
          </a:prstGeom>
          <a:noFill/>
          <a:ln/>
        </p:spPr>
        <p:txBody>
          <a:bodyPr wrap="square" lIns="17018" tIns="25527" rIns="17018" bIns="25527" rtlCol="0" anchor="ctr">
            <a:spAutoFit/>
          </a:bodyPr>
          <a:lstStyle/>
          <a:p>
            <a:pPr marL="0" indent="0" algn="ctr">
              <a:lnSpc>
                <a:spcPts val="600"/>
              </a:lnSpc>
              <a:buNone/>
            </a:pPr>
            <a:r>
              <a:rPr lang="en-US" sz="435" b="1" dirty="0">
                <a:solidFill>
                  <a:srgbClr val="FFFFFF"/>
                </a:solidFill>
              </a:rPr>
              <a:t>Park</a:t>
            </a:r>
            <a:endParaRPr lang="en-US" sz="435" dirty="0"/>
          </a:p>
        </p:txBody>
      </p:sp>
      <p:sp>
        <p:nvSpPr>
          <p:cNvPr id="60" name="Shape 57"/>
          <p:cNvSpPr/>
          <p:nvPr/>
        </p:nvSpPr>
        <p:spPr>
          <a:xfrm>
            <a:off x="4519315" y="1350169"/>
            <a:ext cx="4135338" cy="137517"/>
          </a:xfrm>
          <a:prstGeom prst="rect">
            <a:avLst/>
          </a:prstGeom>
          <a:solidFill>
            <a:srgbClr val="F8F9FA"/>
          </a:solidFill>
          <a:ln/>
        </p:spPr>
        <p:txBody>
          <a:bodyPr/>
          <a:lstStyle/>
          <a:p>
            <a:endParaRPr lang="en-MU"/>
          </a:p>
        </p:txBody>
      </p:sp>
      <p:sp>
        <p:nvSpPr>
          <p:cNvPr id="61" name="Text 58"/>
          <p:cNvSpPr/>
          <p:nvPr/>
        </p:nvSpPr>
        <p:spPr>
          <a:xfrm>
            <a:off x="4519315" y="1350169"/>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13.3M</a:t>
            </a:r>
            <a:endParaRPr lang="en-US" sz="463" dirty="0"/>
          </a:p>
        </p:txBody>
      </p:sp>
      <p:sp>
        <p:nvSpPr>
          <p:cNvPr id="62" name="Text 59"/>
          <p:cNvSpPr/>
          <p:nvPr/>
        </p:nvSpPr>
        <p:spPr>
          <a:xfrm>
            <a:off x="5208519" y="1350169"/>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7420</a:t>
            </a:r>
            <a:endParaRPr lang="en-US" sz="463" dirty="0"/>
          </a:p>
        </p:txBody>
      </p:sp>
      <p:sp>
        <p:nvSpPr>
          <p:cNvPr id="63" name="Text 60"/>
          <p:cNvSpPr/>
          <p:nvPr/>
        </p:nvSpPr>
        <p:spPr>
          <a:xfrm>
            <a:off x="5897724" y="1350169"/>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64" name="Text 61"/>
          <p:cNvSpPr/>
          <p:nvPr/>
        </p:nvSpPr>
        <p:spPr>
          <a:xfrm>
            <a:off x="6586928" y="1350169"/>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65" name="Text 62"/>
          <p:cNvSpPr/>
          <p:nvPr/>
        </p:nvSpPr>
        <p:spPr>
          <a:xfrm>
            <a:off x="7276133" y="1350169"/>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3</a:t>
            </a:r>
            <a:endParaRPr lang="en-US" sz="463" dirty="0"/>
          </a:p>
        </p:txBody>
      </p:sp>
      <p:sp>
        <p:nvSpPr>
          <p:cNvPr id="66" name="Text 63"/>
          <p:cNvSpPr/>
          <p:nvPr/>
        </p:nvSpPr>
        <p:spPr>
          <a:xfrm>
            <a:off x="7965337" y="1350169"/>
            <a:ext cx="689316"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67" name="Shape 64"/>
          <p:cNvSpPr/>
          <p:nvPr/>
        </p:nvSpPr>
        <p:spPr>
          <a:xfrm>
            <a:off x="4519315" y="1487686"/>
            <a:ext cx="4135338" cy="137517"/>
          </a:xfrm>
          <a:prstGeom prst="rect">
            <a:avLst/>
          </a:prstGeom>
          <a:solidFill>
            <a:srgbClr val="FFFFFF"/>
          </a:solidFill>
          <a:ln/>
        </p:spPr>
        <p:txBody>
          <a:bodyPr/>
          <a:lstStyle/>
          <a:p>
            <a:endParaRPr lang="en-MU"/>
          </a:p>
        </p:txBody>
      </p:sp>
      <p:sp>
        <p:nvSpPr>
          <p:cNvPr id="68" name="Text 65"/>
          <p:cNvSpPr/>
          <p:nvPr/>
        </p:nvSpPr>
        <p:spPr>
          <a:xfrm>
            <a:off x="4519315" y="1487686"/>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12.25M</a:t>
            </a:r>
            <a:endParaRPr lang="en-US" sz="463" dirty="0"/>
          </a:p>
        </p:txBody>
      </p:sp>
      <p:sp>
        <p:nvSpPr>
          <p:cNvPr id="69" name="Text 66"/>
          <p:cNvSpPr/>
          <p:nvPr/>
        </p:nvSpPr>
        <p:spPr>
          <a:xfrm>
            <a:off x="5208519" y="1487686"/>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8960</a:t>
            </a:r>
            <a:endParaRPr lang="en-US" sz="463" dirty="0"/>
          </a:p>
        </p:txBody>
      </p:sp>
      <p:sp>
        <p:nvSpPr>
          <p:cNvPr id="70" name="Text 67"/>
          <p:cNvSpPr/>
          <p:nvPr/>
        </p:nvSpPr>
        <p:spPr>
          <a:xfrm>
            <a:off x="5897724" y="1487686"/>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71" name="Text 68"/>
          <p:cNvSpPr/>
          <p:nvPr/>
        </p:nvSpPr>
        <p:spPr>
          <a:xfrm>
            <a:off x="6586928" y="1487686"/>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72" name="Text 69"/>
          <p:cNvSpPr/>
          <p:nvPr/>
        </p:nvSpPr>
        <p:spPr>
          <a:xfrm>
            <a:off x="7276133" y="1487686"/>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73" name="Text 70"/>
          <p:cNvSpPr/>
          <p:nvPr/>
        </p:nvSpPr>
        <p:spPr>
          <a:xfrm>
            <a:off x="7965337" y="1487686"/>
            <a:ext cx="689316"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3</a:t>
            </a:r>
            <a:endParaRPr lang="en-US" sz="463" dirty="0"/>
          </a:p>
        </p:txBody>
      </p:sp>
      <p:sp>
        <p:nvSpPr>
          <p:cNvPr id="74" name="Shape 71"/>
          <p:cNvSpPr/>
          <p:nvPr/>
        </p:nvSpPr>
        <p:spPr>
          <a:xfrm>
            <a:off x="4519315" y="1625203"/>
            <a:ext cx="4135338" cy="137517"/>
          </a:xfrm>
          <a:prstGeom prst="rect">
            <a:avLst/>
          </a:prstGeom>
          <a:solidFill>
            <a:srgbClr val="F8F9FA"/>
          </a:solidFill>
          <a:ln/>
        </p:spPr>
        <p:txBody>
          <a:bodyPr/>
          <a:lstStyle/>
          <a:p>
            <a:endParaRPr lang="en-MU"/>
          </a:p>
        </p:txBody>
      </p:sp>
      <p:sp>
        <p:nvSpPr>
          <p:cNvPr id="75" name="Text 72"/>
          <p:cNvSpPr/>
          <p:nvPr/>
        </p:nvSpPr>
        <p:spPr>
          <a:xfrm>
            <a:off x="4519315" y="1625203"/>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12.25M</a:t>
            </a:r>
            <a:endParaRPr lang="en-US" sz="463" dirty="0"/>
          </a:p>
        </p:txBody>
      </p:sp>
      <p:sp>
        <p:nvSpPr>
          <p:cNvPr id="76" name="Text 73"/>
          <p:cNvSpPr/>
          <p:nvPr/>
        </p:nvSpPr>
        <p:spPr>
          <a:xfrm>
            <a:off x="5208519" y="1625203"/>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9960</a:t>
            </a:r>
            <a:endParaRPr lang="en-US" sz="463" dirty="0"/>
          </a:p>
        </p:txBody>
      </p:sp>
      <p:sp>
        <p:nvSpPr>
          <p:cNvPr id="77" name="Text 74"/>
          <p:cNvSpPr/>
          <p:nvPr/>
        </p:nvSpPr>
        <p:spPr>
          <a:xfrm>
            <a:off x="5897724" y="1625203"/>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3</a:t>
            </a:r>
            <a:endParaRPr lang="en-US" sz="463" dirty="0"/>
          </a:p>
        </p:txBody>
      </p:sp>
      <p:sp>
        <p:nvSpPr>
          <p:cNvPr id="78" name="Text 75"/>
          <p:cNvSpPr/>
          <p:nvPr/>
        </p:nvSpPr>
        <p:spPr>
          <a:xfrm>
            <a:off x="6586928" y="1625203"/>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79" name="Text 76"/>
          <p:cNvSpPr/>
          <p:nvPr/>
        </p:nvSpPr>
        <p:spPr>
          <a:xfrm>
            <a:off x="7276133" y="1625203"/>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80" name="Text 77"/>
          <p:cNvSpPr/>
          <p:nvPr/>
        </p:nvSpPr>
        <p:spPr>
          <a:xfrm>
            <a:off x="7965337" y="1625203"/>
            <a:ext cx="689316"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81" name="Shape 78"/>
          <p:cNvSpPr/>
          <p:nvPr/>
        </p:nvSpPr>
        <p:spPr>
          <a:xfrm>
            <a:off x="4519315" y="1762720"/>
            <a:ext cx="4135338" cy="137517"/>
          </a:xfrm>
          <a:prstGeom prst="rect">
            <a:avLst/>
          </a:prstGeom>
          <a:solidFill>
            <a:srgbClr val="FFFFFF"/>
          </a:solidFill>
          <a:ln/>
        </p:spPr>
        <p:txBody>
          <a:bodyPr/>
          <a:lstStyle/>
          <a:p>
            <a:endParaRPr lang="en-MU"/>
          </a:p>
        </p:txBody>
      </p:sp>
      <p:sp>
        <p:nvSpPr>
          <p:cNvPr id="82" name="Text 79"/>
          <p:cNvSpPr/>
          <p:nvPr/>
        </p:nvSpPr>
        <p:spPr>
          <a:xfrm>
            <a:off x="4519315" y="1762720"/>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12M</a:t>
            </a:r>
            <a:endParaRPr lang="en-US" sz="463" dirty="0"/>
          </a:p>
        </p:txBody>
      </p:sp>
      <p:sp>
        <p:nvSpPr>
          <p:cNvPr id="83" name="Text 80"/>
          <p:cNvSpPr/>
          <p:nvPr/>
        </p:nvSpPr>
        <p:spPr>
          <a:xfrm>
            <a:off x="5208519" y="1762720"/>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7500</a:t>
            </a:r>
            <a:endParaRPr lang="en-US" sz="463" dirty="0"/>
          </a:p>
        </p:txBody>
      </p:sp>
      <p:sp>
        <p:nvSpPr>
          <p:cNvPr id="84" name="Text 81"/>
          <p:cNvSpPr/>
          <p:nvPr/>
        </p:nvSpPr>
        <p:spPr>
          <a:xfrm>
            <a:off x="5897724" y="1762720"/>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85" name="Text 82"/>
          <p:cNvSpPr/>
          <p:nvPr/>
        </p:nvSpPr>
        <p:spPr>
          <a:xfrm>
            <a:off x="6586928" y="1762720"/>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86" name="Text 83"/>
          <p:cNvSpPr/>
          <p:nvPr/>
        </p:nvSpPr>
        <p:spPr>
          <a:xfrm>
            <a:off x="7276133" y="1762720"/>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87" name="Text 84"/>
          <p:cNvSpPr/>
          <p:nvPr/>
        </p:nvSpPr>
        <p:spPr>
          <a:xfrm>
            <a:off x="7965337" y="1762720"/>
            <a:ext cx="689316"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3</a:t>
            </a:r>
            <a:endParaRPr lang="en-US" sz="463" dirty="0"/>
          </a:p>
        </p:txBody>
      </p:sp>
      <p:sp>
        <p:nvSpPr>
          <p:cNvPr id="88" name="Shape 85"/>
          <p:cNvSpPr/>
          <p:nvPr/>
        </p:nvSpPr>
        <p:spPr>
          <a:xfrm>
            <a:off x="4519315" y="1900238"/>
            <a:ext cx="4135338" cy="137517"/>
          </a:xfrm>
          <a:prstGeom prst="rect">
            <a:avLst/>
          </a:prstGeom>
          <a:solidFill>
            <a:srgbClr val="F8F9FA"/>
          </a:solidFill>
          <a:ln/>
        </p:spPr>
        <p:txBody>
          <a:bodyPr/>
          <a:lstStyle/>
          <a:p>
            <a:endParaRPr lang="en-MU"/>
          </a:p>
        </p:txBody>
      </p:sp>
      <p:sp>
        <p:nvSpPr>
          <p:cNvPr id="89" name="Text 86"/>
          <p:cNvSpPr/>
          <p:nvPr/>
        </p:nvSpPr>
        <p:spPr>
          <a:xfrm>
            <a:off x="4519315" y="1900238"/>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11.41M</a:t>
            </a:r>
            <a:endParaRPr lang="en-US" sz="463" dirty="0"/>
          </a:p>
        </p:txBody>
      </p:sp>
      <p:sp>
        <p:nvSpPr>
          <p:cNvPr id="90" name="Text 87"/>
          <p:cNvSpPr/>
          <p:nvPr/>
        </p:nvSpPr>
        <p:spPr>
          <a:xfrm>
            <a:off x="5208519" y="1900238"/>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7420</a:t>
            </a:r>
            <a:endParaRPr lang="en-US" sz="463" dirty="0"/>
          </a:p>
        </p:txBody>
      </p:sp>
      <p:sp>
        <p:nvSpPr>
          <p:cNvPr id="91" name="Text 88"/>
          <p:cNvSpPr/>
          <p:nvPr/>
        </p:nvSpPr>
        <p:spPr>
          <a:xfrm>
            <a:off x="5897724" y="1900238"/>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4</a:t>
            </a:r>
            <a:endParaRPr lang="en-US" sz="463" dirty="0"/>
          </a:p>
        </p:txBody>
      </p:sp>
      <p:sp>
        <p:nvSpPr>
          <p:cNvPr id="92" name="Text 89"/>
          <p:cNvSpPr/>
          <p:nvPr/>
        </p:nvSpPr>
        <p:spPr>
          <a:xfrm>
            <a:off x="6586928" y="1900238"/>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1</a:t>
            </a:r>
            <a:endParaRPr lang="en-US" sz="463" dirty="0"/>
          </a:p>
        </p:txBody>
      </p:sp>
      <p:sp>
        <p:nvSpPr>
          <p:cNvPr id="93" name="Text 90"/>
          <p:cNvSpPr/>
          <p:nvPr/>
        </p:nvSpPr>
        <p:spPr>
          <a:xfrm>
            <a:off x="7276133" y="1900238"/>
            <a:ext cx="689204"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94" name="Text 91"/>
          <p:cNvSpPr/>
          <p:nvPr/>
        </p:nvSpPr>
        <p:spPr>
          <a:xfrm>
            <a:off x="7965337" y="1900238"/>
            <a:ext cx="689316" cy="137517"/>
          </a:xfrm>
          <a:prstGeom prst="rect">
            <a:avLst/>
          </a:prstGeom>
          <a:noFill/>
          <a:ln/>
        </p:spPr>
        <p:txBody>
          <a:bodyPr wrap="square" lIns="17018" tIns="25527" rIns="17018" bIns="25527" rtlCol="0" anchor="ctr">
            <a:spAutoFit/>
          </a:bodyPr>
          <a:lstStyle/>
          <a:p>
            <a:pPr marL="0" indent="0" algn="ctr">
              <a:lnSpc>
                <a:spcPts val="600"/>
              </a:lnSpc>
              <a:buNone/>
            </a:pPr>
            <a:r>
              <a:rPr lang="en-US" sz="463" dirty="0">
                <a:solidFill>
                  <a:srgbClr val="1A1A1A"/>
                </a:solidFill>
              </a:rPr>
              <a:t>2</a:t>
            </a:r>
            <a:endParaRPr lang="en-US" sz="463" dirty="0"/>
          </a:p>
        </p:txBody>
      </p:sp>
      <p:sp>
        <p:nvSpPr>
          <p:cNvPr id="95" name="Shape 92"/>
          <p:cNvSpPr/>
          <p:nvPr/>
        </p:nvSpPr>
        <p:spPr>
          <a:xfrm>
            <a:off x="4458593" y="2155627"/>
            <a:ext cx="4256782" cy="1207294"/>
          </a:xfrm>
          <a:prstGeom prst="rect">
            <a:avLst/>
          </a:prstGeom>
          <a:solidFill>
            <a:srgbClr val="F8F9FA"/>
          </a:solidFill>
          <a:ln w="9144">
            <a:solidFill>
              <a:srgbClr val="E0E0E0"/>
            </a:solidFill>
            <a:prstDash val="solid"/>
          </a:ln>
        </p:spPr>
        <p:txBody>
          <a:bodyPr/>
          <a:lstStyle/>
          <a:p>
            <a:endParaRPr lang="en-MU"/>
          </a:p>
        </p:txBody>
      </p:sp>
      <p:sp>
        <p:nvSpPr>
          <p:cNvPr id="96" name="Text 93"/>
          <p:cNvSpPr/>
          <p:nvPr/>
        </p:nvSpPr>
        <p:spPr>
          <a:xfrm>
            <a:off x="6060397" y="2212777"/>
            <a:ext cx="1053173" cy="96758"/>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1A1A1A"/>
                </a:solidFill>
              </a:rPr>
              <a:t>Statistical Summary </a:t>
            </a:r>
            <a:r>
              <a:rPr lang="en-US" sz="584" b="1" dirty="0" err="1">
                <a:solidFill>
                  <a:srgbClr val="1A1A1A"/>
                </a:solidFill>
              </a:rPr>
              <a:t>df.describe</a:t>
            </a:r>
            <a:r>
              <a:rPr lang="en-US" sz="584" b="1" dirty="0">
                <a:solidFill>
                  <a:srgbClr val="1A1A1A"/>
                </a:solidFill>
              </a:rPr>
              <a:t>()</a:t>
            </a:r>
            <a:endParaRPr lang="en-US" sz="584" dirty="0"/>
          </a:p>
        </p:txBody>
      </p:sp>
      <p:sp>
        <p:nvSpPr>
          <p:cNvPr id="97" name="Shape 94"/>
          <p:cNvSpPr/>
          <p:nvPr/>
        </p:nvSpPr>
        <p:spPr>
          <a:xfrm>
            <a:off x="4519315" y="2371725"/>
            <a:ext cx="4135338" cy="133945"/>
          </a:xfrm>
          <a:prstGeom prst="rect">
            <a:avLst/>
          </a:prstGeom>
          <a:solidFill>
            <a:srgbClr val="F8F9FA"/>
          </a:solidFill>
          <a:ln/>
        </p:spPr>
        <p:txBody>
          <a:bodyPr/>
          <a:lstStyle/>
          <a:p>
            <a:endParaRPr lang="en-MU"/>
          </a:p>
        </p:txBody>
      </p:sp>
      <p:sp>
        <p:nvSpPr>
          <p:cNvPr id="98" name="Shape 95"/>
          <p:cNvSpPr/>
          <p:nvPr/>
        </p:nvSpPr>
        <p:spPr>
          <a:xfrm>
            <a:off x="4519315" y="2371725"/>
            <a:ext cx="728830" cy="133945"/>
          </a:xfrm>
          <a:prstGeom prst="rect">
            <a:avLst/>
          </a:prstGeom>
          <a:solidFill>
            <a:srgbClr val="007BFF"/>
          </a:solidFill>
          <a:ln/>
        </p:spPr>
        <p:txBody>
          <a:bodyPr/>
          <a:lstStyle/>
          <a:p>
            <a:endParaRPr lang="en-MU"/>
          </a:p>
        </p:txBody>
      </p:sp>
      <p:sp>
        <p:nvSpPr>
          <p:cNvPr id="99" name="Text 96"/>
          <p:cNvSpPr/>
          <p:nvPr/>
        </p:nvSpPr>
        <p:spPr>
          <a:xfrm>
            <a:off x="4519315" y="2371725"/>
            <a:ext cx="728830" cy="133945"/>
          </a:xfrm>
          <a:prstGeom prst="rect">
            <a:avLst/>
          </a:prstGeom>
          <a:noFill/>
          <a:ln/>
        </p:spPr>
        <p:txBody>
          <a:bodyPr wrap="square" lIns="17018" tIns="25527" rIns="17018" bIns="25527" rtlCol="0" anchor="ctr">
            <a:spAutoFit/>
          </a:bodyPr>
          <a:lstStyle/>
          <a:p>
            <a:pPr marL="0" indent="0" algn="l">
              <a:lnSpc>
                <a:spcPts val="600"/>
              </a:lnSpc>
              <a:buNone/>
            </a:pPr>
            <a:r>
              <a:rPr lang="en-US" sz="435" b="1" dirty="0">
                <a:solidFill>
                  <a:srgbClr val="FFFFFF"/>
                </a:solidFill>
              </a:rPr>
              <a:t>Stat</a:t>
            </a:r>
            <a:endParaRPr lang="en-US" sz="435" dirty="0"/>
          </a:p>
        </p:txBody>
      </p:sp>
      <p:sp>
        <p:nvSpPr>
          <p:cNvPr id="100" name="Shape 97"/>
          <p:cNvSpPr/>
          <p:nvPr/>
        </p:nvSpPr>
        <p:spPr>
          <a:xfrm>
            <a:off x="5248145" y="2371725"/>
            <a:ext cx="1157176" cy="133945"/>
          </a:xfrm>
          <a:prstGeom prst="rect">
            <a:avLst/>
          </a:prstGeom>
          <a:solidFill>
            <a:srgbClr val="007BFF"/>
          </a:solidFill>
          <a:ln/>
        </p:spPr>
        <p:txBody>
          <a:bodyPr/>
          <a:lstStyle/>
          <a:p>
            <a:endParaRPr lang="en-MU"/>
          </a:p>
        </p:txBody>
      </p:sp>
      <p:sp>
        <p:nvSpPr>
          <p:cNvPr id="101" name="Text 98"/>
          <p:cNvSpPr/>
          <p:nvPr/>
        </p:nvSpPr>
        <p:spPr>
          <a:xfrm>
            <a:off x="5248145" y="2371725"/>
            <a:ext cx="1157176" cy="133945"/>
          </a:xfrm>
          <a:prstGeom prst="rect">
            <a:avLst/>
          </a:prstGeom>
          <a:noFill/>
          <a:ln/>
        </p:spPr>
        <p:txBody>
          <a:bodyPr wrap="square" lIns="17018" tIns="25527" rIns="17018" bIns="25527" rtlCol="0" anchor="ctr">
            <a:spAutoFit/>
          </a:bodyPr>
          <a:lstStyle/>
          <a:p>
            <a:pPr marL="0" indent="0" algn="l">
              <a:lnSpc>
                <a:spcPts val="600"/>
              </a:lnSpc>
              <a:buNone/>
            </a:pPr>
            <a:r>
              <a:rPr lang="en-US" sz="435" b="1" dirty="0">
                <a:solidFill>
                  <a:srgbClr val="FFFFFF"/>
                </a:solidFill>
              </a:rPr>
              <a:t>Price (₨M)</a:t>
            </a:r>
            <a:endParaRPr lang="en-US" sz="435" dirty="0"/>
          </a:p>
        </p:txBody>
      </p:sp>
      <p:sp>
        <p:nvSpPr>
          <p:cNvPr id="102" name="Shape 99"/>
          <p:cNvSpPr/>
          <p:nvPr/>
        </p:nvSpPr>
        <p:spPr>
          <a:xfrm>
            <a:off x="6405321" y="2371725"/>
            <a:ext cx="1140879" cy="133945"/>
          </a:xfrm>
          <a:prstGeom prst="rect">
            <a:avLst/>
          </a:prstGeom>
          <a:solidFill>
            <a:srgbClr val="007BFF"/>
          </a:solidFill>
          <a:ln/>
        </p:spPr>
        <p:txBody>
          <a:bodyPr/>
          <a:lstStyle/>
          <a:p>
            <a:endParaRPr lang="en-MU"/>
          </a:p>
        </p:txBody>
      </p:sp>
      <p:sp>
        <p:nvSpPr>
          <p:cNvPr id="103" name="Text 100"/>
          <p:cNvSpPr/>
          <p:nvPr/>
        </p:nvSpPr>
        <p:spPr>
          <a:xfrm>
            <a:off x="6405321" y="2371725"/>
            <a:ext cx="1140879" cy="133945"/>
          </a:xfrm>
          <a:prstGeom prst="rect">
            <a:avLst/>
          </a:prstGeom>
          <a:noFill/>
          <a:ln/>
        </p:spPr>
        <p:txBody>
          <a:bodyPr wrap="square" lIns="17018" tIns="25527" rIns="17018" bIns="25527" rtlCol="0" anchor="ctr">
            <a:spAutoFit/>
          </a:bodyPr>
          <a:lstStyle/>
          <a:p>
            <a:pPr marL="0" indent="0" algn="l">
              <a:lnSpc>
                <a:spcPts val="600"/>
              </a:lnSpc>
              <a:buNone/>
            </a:pPr>
            <a:r>
              <a:rPr lang="en-US" sz="435" b="1" dirty="0">
                <a:solidFill>
                  <a:srgbClr val="FFFFFF"/>
                </a:solidFill>
              </a:rPr>
              <a:t>Area (sqft)</a:t>
            </a:r>
            <a:endParaRPr lang="en-US" sz="435" dirty="0"/>
          </a:p>
        </p:txBody>
      </p:sp>
      <p:sp>
        <p:nvSpPr>
          <p:cNvPr id="104" name="Shape 101"/>
          <p:cNvSpPr/>
          <p:nvPr/>
        </p:nvSpPr>
        <p:spPr>
          <a:xfrm>
            <a:off x="7546200" y="2371725"/>
            <a:ext cx="1108453" cy="133945"/>
          </a:xfrm>
          <a:prstGeom prst="rect">
            <a:avLst/>
          </a:prstGeom>
          <a:solidFill>
            <a:srgbClr val="007BFF"/>
          </a:solidFill>
          <a:ln/>
        </p:spPr>
        <p:txBody>
          <a:bodyPr/>
          <a:lstStyle/>
          <a:p>
            <a:endParaRPr lang="en-MU"/>
          </a:p>
        </p:txBody>
      </p:sp>
      <p:sp>
        <p:nvSpPr>
          <p:cNvPr id="105" name="Text 102"/>
          <p:cNvSpPr/>
          <p:nvPr/>
        </p:nvSpPr>
        <p:spPr>
          <a:xfrm>
            <a:off x="7546200" y="2371725"/>
            <a:ext cx="1108453" cy="133945"/>
          </a:xfrm>
          <a:prstGeom prst="rect">
            <a:avLst/>
          </a:prstGeom>
          <a:noFill/>
          <a:ln/>
        </p:spPr>
        <p:txBody>
          <a:bodyPr wrap="square" lIns="17018" tIns="25527" rIns="17018" bIns="25527" rtlCol="0" anchor="ctr">
            <a:spAutoFit/>
          </a:bodyPr>
          <a:lstStyle/>
          <a:p>
            <a:pPr marL="0" indent="0" algn="l">
              <a:lnSpc>
                <a:spcPts val="600"/>
              </a:lnSpc>
              <a:buNone/>
            </a:pPr>
            <a:r>
              <a:rPr lang="en-US" sz="435" b="1" dirty="0">
                <a:solidFill>
                  <a:srgbClr val="FFFFFF"/>
                </a:solidFill>
              </a:rPr>
              <a:t>Bedrooms</a:t>
            </a:r>
            <a:endParaRPr lang="en-US" sz="435" dirty="0"/>
          </a:p>
        </p:txBody>
      </p:sp>
      <p:sp>
        <p:nvSpPr>
          <p:cNvPr id="106" name="Shape 103"/>
          <p:cNvSpPr/>
          <p:nvPr/>
        </p:nvSpPr>
        <p:spPr>
          <a:xfrm>
            <a:off x="4519315" y="2505670"/>
            <a:ext cx="4135338" cy="130373"/>
          </a:xfrm>
          <a:prstGeom prst="rect">
            <a:avLst/>
          </a:prstGeom>
          <a:solidFill>
            <a:srgbClr val="F8F9FA"/>
          </a:solidFill>
          <a:ln/>
        </p:spPr>
        <p:txBody>
          <a:bodyPr/>
          <a:lstStyle/>
          <a:p>
            <a:endParaRPr lang="en-MU"/>
          </a:p>
        </p:txBody>
      </p:sp>
      <p:sp>
        <p:nvSpPr>
          <p:cNvPr id="107" name="Text 104"/>
          <p:cNvSpPr/>
          <p:nvPr/>
        </p:nvSpPr>
        <p:spPr>
          <a:xfrm>
            <a:off x="5033832" y="2530673"/>
            <a:ext cx="196453" cy="80367"/>
          </a:xfrm>
          <a:prstGeom prst="rect">
            <a:avLst/>
          </a:prstGeom>
          <a:noFill/>
          <a:ln/>
        </p:spPr>
        <p:txBody>
          <a:bodyPr wrap="none" lIns="0" tIns="0" rIns="0" bIns="0" rtlCol="0" anchor="t">
            <a:spAutoFit/>
          </a:bodyPr>
          <a:lstStyle/>
          <a:p>
            <a:pPr marL="0" indent="0" algn="r">
              <a:lnSpc>
                <a:spcPts val="600"/>
              </a:lnSpc>
              <a:buNone/>
            </a:pPr>
            <a:r>
              <a:rPr lang="en-US" sz="435" b="1" dirty="0">
                <a:solidFill>
                  <a:srgbClr val="1A1A1A"/>
                </a:solidFill>
              </a:rPr>
              <a:t>Count</a:t>
            </a:r>
            <a:endParaRPr lang="en-US" sz="435" dirty="0"/>
          </a:p>
        </p:txBody>
      </p:sp>
      <p:sp>
        <p:nvSpPr>
          <p:cNvPr id="108" name="Text 105"/>
          <p:cNvSpPr/>
          <p:nvPr/>
        </p:nvSpPr>
        <p:spPr>
          <a:xfrm>
            <a:off x="5248145" y="2505670"/>
            <a:ext cx="1157176"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545</a:t>
            </a:r>
            <a:endParaRPr lang="en-US" sz="463" dirty="0"/>
          </a:p>
        </p:txBody>
      </p:sp>
      <p:sp>
        <p:nvSpPr>
          <p:cNvPr id="109" name="Text 106"/>
          <p:cNvSpPr/>
          <p:nvPr/>
        </p:nvSpPr>
        <p:spPr>
          <a:xfrm>
            <a:off x="6405321" y="2505670"/>
            <a:ext cx="1140879"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545</a:t>
            </a:r>
            <a:endParaRPr lang="en-US" sz="463" dirty="0"/>
          </a:p>
        </p:txBody>
      </p:sp>
      <p:sp>
        <p:nvSpPr>
          <p:cNvPr id="110" name="Text 107"/>
          <p:cNvSpPr/>
          <p:nvPr/>
        </p:nvSpPr>
        <p:spPr>
          <a:xfrm>
            <a:off x="7546200" y="2505670"/>
            <a:ext cx="1108453"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545</a:t>
            </a:r>
            <a:endParaRPr lang="en-US" sz="463" dirty="0"/>
          </a:p>
        </p:txBody>
      </p:sp>
      <p:sp>
        <p:nvSpPr>
          <p:cNvPr id="111" name="Shape 108"/>
          <p:cNvSpPr/>
          <p:nvPr/>
        </p:nvSpPr>
        <p:spPr>
          <a:xfrm>
            <a:off x="4519315" y="2636044"/>
            <a:ext cx="4135338" cy="130373"/>
          </a:xfrm>
          <a:prstGeom prst="rect">
            <a:avLst/>
          </a:prstGeom>
          <a:solidFill>
            <a:srgbClr val="FFFFFF"/>
          </a:solidFill>
          <a:ln/>
        </p:spPr>
        <p:txBody>
          <a:bodyPr/>
          <a:lstStyle/>
          <a:p>
            <a:endParaRPr lang="en-MU"/>
          </a:p>
        </p:txBody>
      </p:sp>
      <p:sp>
        <p:nvSpPr>
          <p:cNvPr id="112" name="Text 109"/>
          <p:cNvSpPr/>
          <p:nvPr/>
        </p:nvSpPr>
        <p:spPr>
          <a:xfrm>
            <a:off x="5073123" y="2661047"/>
            <a:ext cx="157163" cy="80367"/>
          </a:xfrm>
          <a:prstGeom prst="rect">
            <a:avLst/>
          </a:prstGeom>
          <a:noFill/>
          <a:ln/>
        </p:spPr>
        <p:txBody>
          <a:bodyPr wrap="none" lIns="0" tIns="0" rIns="0" bIns="0" rtlCol="0" anchor="t">
            <a:spAutoFit/>
          </a:bodyPr>
          <a:lstStyle/>
          <a:p>
            <a:pPr marL="0" indent="0" algn="r">
              <a:lnSpc>
                <a:spcPts val="600"/>
              </a:lnSpc>
              <a:buNone/>
            </a:pPr>
            <a:r>
              <a:rPr lang="en-US" sz="435" b="1" dirty="0">
                <a:solidFill>
                  <a:srgbClr val="1A1A1A"/>
                </a:solidFill>
              </a:rPr>
              <a:t>Mean</a:t>
            </a:r>
            <a:endParaRPr lang="en-US" sz="435" dirty="0"/>
          </a:p>
        </p:txBody>
      </p:sp>
      <p:sp>
        <p:nvSpPr>
          <p:cNvPr id="113" name="Text 110"/>
          <p:cNvSpPr/>
          <p:nvPr/>
        </p:nvSpPr>
        <p:spPr>
          <a:xfrm>
            <a:off x="5248145" y="2636044"/>
            <a:ext cx="1157176"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4.77</a:t>
            </a:r>
            <a:endParaRPr lang="en-US" sz="463" dirty="0"/>
          </a:p>
        </p:txBody>
      </p:sp>
      <p:sp>
        <p:nvSpPr>
          <p:cNvPr id="114" name="Text 111"/>
          <p:cNvSpPr/>
          <p:nvPr/>
        </p:nvSpPr>
        <p:spPr>
          <a:xfrm>
            <a:off x="6405321" y="2636044"/>
            <a:ext cx="1140879"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5150</a:t>
            </a:r>
            <a:endParaRPr lang="en-US" sz="463" dirty="0"/>
          </a:p>
        </p:txBody>
      </p:sp>
      <p:sp>
        <p:nvSpPr>
          <p:cNvPr id="115" name="Text 112"/>
          <p:cNvSpPr/>
          <p:nvPr/>
        </p:nvSpPr>
        <p:spPr>
          <a:xfrm>
            <a:off x="7546200" y="2636044"/>
            <a:ext cx="1108453"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2.96</a:t>
            </a:r>
            <a:endParaRPr lang="en-US" sz="463" dirty="0"/>
          </a:p>
        </p:txBody>
      </p:sp>
      <p:sp>
        <p:nvSpPr>
          <p:cNvPr id="116" name="Shape 113"/>
          <p:cNvSpPr/>
          <p:nvPr/>
        </p:nvSpPr>
        <p:spPr>
          <a:xfrm>
            <a:off x="4519315" y="2766417"/>
            <a:ext cx="4135338" cy="130373"/>
          </a:xfrm>
          <a:prstGeom prst="rect">
            <a:avLst/>
          </a:prstGeom>
          <a:solidFill>
            <a:srgbClr val="F8F9FA"/>
          </a:solidFill>
          <a:ln/>
        </p:spPr>
        <p:txBody>
          <a:bodyPr/>
          <a:lstStyle/>
          <a:p>
            <a:endParaRPr lang="en-MU"/>
          </a:p>
        </p:txBody>
      </p:sp>
      <p:sp>
        <p:nvSpPr>
          <p:cNvPr id="117" name="Text 114"/>
          <p:cNvSpPr/>
          <p:nvPr/>
        </p:nvSpPr>
        <p:spPr>
          <a:xfrm>
            <a:off x="5112414" y="2791420"/>
            <a:ext cx="117872" cy="80367"/>
          </a:xfrm>
          <a:prstGeom prst="rect">
            <a:avLst/>
          </a:prstGeom>
          <a:noFill/>
          <a:ln/>
        </p:spPr>
        <p:txBody>
          <a:bodyPr wrap="none" lIns="0" tIns="0" rIns="0" bIns="0" rtlCol="0" anchor="t">
            <a:spAutoFit/>
          </a:bodyPr>
          <a:lstStyle/>
          <a:p>
            <a:pPr marL="0" indent="0" algn="r">
              <a:lnSpc>
                <a:spcPts val="600"/>
              </a:lnSpc>
              <a:buNone/>
            </a:pPr>
            <a:r>
              <a:rPr lang="en-US" sz="435" b="1" dirty="0">
                <a:solidFill>
                  <a:srgbClr val="1A1A1A"/>
                </a:solidFill>
              </a:rPr>
              <a:t>Std</a:t>
            </a:r>
            <a:endParaRPr lang="en-US" sz="435" dirty="0"/>
          </a:p>
        </p:txBody>
      </p:sp>
      <p:sp>
        <p:nvSpPr>
          <p:cNvPr id="118" name="Text 115"/>
          <p:cNvSpPr/>
          <p:nvPr/>
        </p:nvSpPr>
        <p:spPr>
          <a:xfrm>
            <a:off x="5248145" y="2766417"/>
            <a:ext cx="1157176"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2.41</a:t>
            </a:r>
            <a:endParaRPr lang="en-US" sz="463" dirty="0"/>
          </a:p>
        </p:txBody>
      </p:sp>
      <p:sp>
        <p:nvSpPr>
          <p:cNvPr id="119" name="Text 116"/>
          <p:cNvSpPr/>
          <p:nvPr/>
        </p:nvSpPr>
        <p:spPr>
          <a:xfrm>
            <a:off x="6405321" y="2766417"/>
            <a:ext cx="1140879"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2313</a:t>
            </a:r>
            <a:endParaRPr lang="en-US" sz="463" dirty="0"/>
          </a:p>
        </p:txBody>
      </p:sp>
      <p:sp>
        <p:nvSpPr>
          <p:cNvPr id="120" name="Text 117"/>
          <p:cNvSpPr/>
          <p:nvPr/>
        </p:nvSpPr>
        <p:spPr>
          <a:xfrm>
            <a:off x="7546200" y="2766417"/>
            <a:ext cx="1108453"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0.89</a:t>
            </a:r>
            <a:endParaRPr lang="en-US" sz="463" dirty="0"/>
          </a:p>
        </p:txBody>
      </p:sp>
      <p:sp>
        <p:nvSpPr>
          <p:cNvPr id="121" name="Shape 118"/>
          <p:cNvSpPr/>
          <p:nvPr/>
        </p:nvSpPr>
        <p:spPr>
          <a:xfrm>
            <a:off x="4519315" y="2896791"/>
            <a:ext cx="4135338" cy="130373"/>
          </a:xfrm>
          <a:prstGeom prst="rect">
            <a:avLst/>
          </a:prstGeom>
          <a:solidFill>
            <a:srgbClr val="FFFFFF"/>
          </a:solidFill>
          <a:ln/>
        </p:spPr>
        <p:txBody>
          <a:bodyPr/>
          <a:lstStyle/>
          <a:p>
            <a:endParaRPr lang="en-MU"/>
          </a:p>
        </p:txBody>
      </p:sp>
      <p:sp>
        <p:nvSpPr>
          <p:cNvPr id="122" name="Text 119"/>
          <p:cNvSpPr/>
          <p:nvPr/>
        </p:nvSpPr>
        <p:spPr>
          <a:xfrm>
            <a:off x="5112414" y="2921794"/>
            <a:ext cx="117872" cy="80367"/>
          </a:xfrm>
          <a:prstGeom prst="rect">
            <a:avLst/>
          </a:prstGeom>
          <a:noFill/>
          <a:ln/>
        </p:spPr>
        <p:txBody>
          <a:bodyPr wrap="none" lIns="0" tIns="0" rIns="0" bIns="0" rtlCol="0" anchor="t">
            <a:spAutoFit/>
          </a:bodyPr>
          <a:lstStyle/>
          <a:p>
            <a:pPr marL="0" indent="0" algn="r">
              <a:lnSpc>
                <a:spcPts val="600"/>
              </a:lnSpc>
              <a:buNone/>
            </a:pPr>
            <a:r>
              <a:rPr lang="en-US" sz="435" b="1" dirty="0">
                <a:solidFill>
                  <a:srgbClr val="1A1A1A"/>
                </a:solidFill>
              </a:rPr>
              <a:t>Min</a:t>
            </a:r>
            <a:endParaRPr lang="en-US" sz="435" dirty="0"/>
          </a:p>
        </p:txBody>
      </p:sp>
      <p:sp>
        <p:nvSpPr>
          <p:cNvPr id="123" name="Text 120"/>
          <p:cNvSpPr/>
          <p:nvPr/>
        </p:nvSpPr>
        <p:spPr>
          <a:xfrm>
            <a:off x="5248145" y="2896791"/>
            <a:ext cx="1157176"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1.1</a:t>
            </a:r>
            <a:endParaRPr lang="en-US" sz="463" dirty="0"/>
          </a:p>
        </p:txBody>
      </p:sp>
      <p:sp>
        <p:nvSpPr>
          <p:cNvPr id="124" name="Text 121"/>
          <p:cNvSpPr/>
          <p:nvPr/>
        </p:nvSpPr>
        <p:spPr>
          <a:xfrm>
            <a:off x="6405321" y="2896791"/>
            <a:ext cx="1140879"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1650</a:t>
            </a:r>
            <a:endParaRPr lang="en-US" sz="463" dirty="0"/>
          </a:p>
        </p:txBody>
      </p:sp>
      <p:sp>
        <p:nvSpPr>
          <p:cNvPr id="125" name="Text 122"/>
          <p:cNvSpPr/>
          <p:nvPr/>
        </p:nvSpPr>
        <p:spPr>
          <a:xfrm>
            <a:off x="7546200" y="2896791"/>
            <a:ext cx="1108453"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1</a:t>
            </a:r>
            <a:endParaRPr lang="en-US" sz="463" dirty="0"/>
          </a:p>
        </p:txBody>
      </p:sp>
      <p:sp>
        <p:nvSpPr>
          <p:cNvPr id="126" name="Shape 123"/>
          <p:cNvSpPr/>
          <p:nvPr/>
        </p:nvSpPr>
        <p:spPr>
          <a:xfrm>
            <a:off x="4519315" y="3027164"/>
            <a:ext cx="4135338" cy="130373"/>
          </a:xfrm>
          <a:prstGeom prst="rect">
            <a:avLst/>
          </a:prstGeom>
          <a:solidFill>
            <a:srgbClr val="F8F9FA"/>
          </a:solidFill>
          <a:ln/>
        </p:spPr>
        <p:txBody>
          <a:bodyPr/>
          <a:lstStyle/>
          <a:p>
            <a:endParaRPr lang="en-MU"/>
          </a:p>
        </p:txBody>
      </p:sp>
      <p:sp>
        <p:nvSpPr>
          <p:cNvPr id="127" name="Text 124"/>
          <p:cNvSpPr/>
          <p:nvPr/>
        </p:nvSpPr>
        <p:spPr>
          <a:xfrm>
            <a:off x="5112414" y="3052167"/>
            <a:ext cx="117872" cy="80367"/>
          </a:xfrm>
          <a:prstGeom prst="rect">
            <a:avLst/>
          </a:prstGeom>
          <a:noFill/>
          <a:ln/>
        </p:spPr>
        <p:txBody>
          <a:bodyPr wrap="none" lIns="0" tIns="0" rIns="0" bIns="0" rtlCol="0" anchor="t">
            <a:spAutoFit/>
          </a:bodyPr>
          <a:lstStyle/>
          <a:p>
            <a:pPr marL="0" indent="0" algn="r">
              <a:lnSpc>
                <a:spcPts val="600"/>
              </a:lnSpc>
              <a:buNone/>
            </a:pPr>
            <a:r>
              <a:rPr lang="en-US" sz="435" b="1" dirty="0">
                <a:solidFill>
                  <a:srgbClr val="1A1A1A"/>
                </a:solidFill>
              </a:rPr>
              <a:t>50%</a:t>
            </a:r>
            <a:endParaRPr lang="en-US" sz="435" dirty="0"/>
          </a:p>
        </p:txBody>
      </p:sp>
      <p:sp>
        <p:nvSpPr>
          <p:cNvPr id="128" name="Text 125"/>
          <p:cNvSpPr/>
          <p:nvPr/>
        </p:nvSpPr>
        <p:spPr>
          <a:xfrm>
            <a:off x="5248145" y="3027164"/>
            <a:ext cx="1157176"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3.85</a:t>
            </a:r>
            <a:endParaRPr lang="en-US" sz="463" dirty="0"/>
          </a:p>
        </p:txBody>
      </p:sp>
      <p:sp>
        <p:nvSpPr>
          <p:cNvPr id="129" name="Text 126"/>
          <p:cNvSpPr/>
          <p:nvPr/>
        </p:nvSpPr>
        <p:spPr>
          <a:xfrm>
            <a:off x="6405321" y="3027164"/>
            <a:ext cx="1140879"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4600</a:t>
            </a:r>
            <a:endParaRPr lang="en-US" sz="463" dirty="0"/>
          </a:p>
        </p:txBody>
      </p:sp>
      <p:sp>
        <p:nvSpPr>
          <p:cNvPr id="130" name="Text 127"/>
          <p:cNvSpPr/>
          <p:nvPr/>
        </p:nvSpPr>
        <p:spPr>
          <a:xfrm>
            <a:off x="7546200" y="3027164"/>
            <a:ext cx="1108453"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3</a:t>
            </a:r>
            <a:endParaRPr lang="en-US" sz="463" dirty="0"/>
          </a:p>
        </p:txBody>
      </p:sp>
      <p:sp>
        <p:nvSpPr>
          <p:cNvPr id="131" name="Shape 128"/>
          <p:cNvSpPr/>
          <p:nvPr/>
        </p:nvSpPr>
        <p:spPr>
          <a:xfrm>
            <a:off x="4519315" y="3157538"/>
            <a:ext cx="4135338" cy="130373"/>
          </a:xfrm>
          <a:prstGeom prst="rect">
            <a:avLst/>
          </a:prstGeom>
          <a:solidFill>
            <a:srgbClr val="FFFFFF"/>
          </a:solidFill>
          <a:ln/>
        </p:spPr>
        <p:txBody>
          <a:bodyPr/>
          <a:lstStyle/>
          <a:p>
            <a:endParaRPr lang="en-MU"/>
          </a:p>
        </p:txBody>
      </p:sp>
      <p:sp>
        <p:nvSpPr>
          <p:cNvPr id="132" name="Text 129"/>
          <p:cNvSpPr/>
          <p:nvPr/>
        </p:nvSpPr>
        <p:spPr>
          <a:xfrm>
            <a:off x="5112414" y="3182541"/>
            <a:ext cx="117872" cy="80367"/>
          </a:xfrm>
          <a:prstGeom prst="rect">
            <a:avLst/>
          </a:prstGeom>
          <a:noFill/>
          <a:ln/>
        </p:spPr>
        <p:txBody>
          <a:bodyPr wrap="none" lIns="0" tIns="0" rIns="0" bIns="0" rtlCol="0" anchor="t">
            <a:spAutoFit/>
          </a:bodyPr>
          <a:lstStyle/>
          <a:p>
            <a:pPr marL="0" indent="0" algn="r">
              <a:lnSpc>
                <a:spcPts val="600"/>
              </a:lnSpc>
              <a:buNone/>
            </a:pPr>
            <a:r>
              <a:rPr lang="en-US" sz="435" b="1" dirty="0">
                <a:solidFill>
                  <a:srgbClr val="1A1A1A"/>
                </a:solidFill>
              </a:rPr>
              <a:t>Max</a:t>
            </a:r>
            <a:endParaRPr lang="en-US" sz="435" dirty="0"/>
          </a:p>
        </p:txBody>
      </p:sp>
      <p:sp>
        <p:nvSpPr>
          <p:cNvPr id="133" name="Text 130"/>
          <p:cNvSpPr/>
          <p:nvPr/>
        </p:nvSpPr>
        <p:spPr>
          <a:xfrm>
            <a:off x="5248145" y="3157538"/>
            <a:ext cx="1157176"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33</a:t>
            </a:r>
            <a:endParaRPr lang="en-US" sz="463" dirty="0"/>
          </a:p>
        </p:txBody>
      </p:sp>
      <p:sp>
        <p:nvSpPr>
          <p:cNvPr id="134" name="Text 131"/>
          <p:cNvSpPr/>
          <p:nvPr/>
        </p:nvSpPr>
        <p:spPr>
          <a:xfrm>
            <a:off x="6405321" y="3157538"/>
            <a:ext cx="1140879"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16200</a:t>
            </a:r>
            <a:endParaRPr lang="en-US" sz="463" dirty="0"/>
          </a:p>
        </p:txBody>
      </p:sp>
      <p:sp>
        <p:nvSpPr>
          <p:cNvPr id="135" name="Text 132"/>
          <p:cNvSpPr/>
          <p:nvPr/>
        </p:nvSpPr>
        <p:spPr>
          <a:xfrm>
            <a:off x="7546200" y="3157538"/>
            <a:ext cx="1108453" cy="130373"/>
          </a:xfrm>
          <a:prstGeom prst="rect">
            <a:avLst/>
          </a:prstGeom>
          <a:noFill/>
          <a:ln/>
        </p:spPr>
        <p:txBody>
          <a:bodyPr wrap="square" lIns="17018" tIns="25527" rIns="17018" bIns="25527" rtlCol="0" anchor="ctr">
            <a:spAutoFit/>
          </a:bodyPr>
          <a:lstStyle/>
          <a:p>
            <a:pPr marL="0" indent="0" algn="r">
              <a:lnSpc>
                <a:spcPts val="600"/>
              </a:lnSpc>
              <a:buNone/>
            </a:pPr>
            <a:r>
              <a:rPr lang="en-US" sz="463" dirty="0">
                <a:solidFill>
                  <a:srgbClr val="1A1A1A"/>
                </a:solidFill>
              </a:rPr>
              <a:t>6</a:t>
            </a:r>
            <a:endParaRPr lang="en-US" sz="463" dirty="0"/>
          </a:p>
        </p:txBody>
      </p:sp>
      <p:sp>
        <p:nvSpPr>
          <p:cNvPr id="136" name="Shape 133"/>
          <p:cNvSpPr/>
          <p:nvPr/>
        </p:nvSpPr>
        <p:spPr>
          <a:xfrm>
            <a:off x="4458593" y="3405783"/>
            <a:ext cx="4256782" cy="420700"/>
          </a:xfrm>
          <a:prstGeom prst="rect">
            <a:avLst/>
          </a:prstGeom>
          <a:solidFill>
            <a:srgbClr val="FFF3CD"/>
          </a:solidFill>
          <a:ln/>
        </p:spPr>
        <p:txBody>
          <a:bodyPr/>
          <a:lstStyle/>
          <a:p>
            <a:endParaRPr lang="en-MU"/>
          </a:p>
        </p:txBody>
      </p:sp>
      <p:sp>
        <p:nvSpPr>
          <p:cNvPr id="137" name="Shape 134"/>
          <p:cNvSpPr/>
          <p:nvPr/>
        </p:nvSpPr>
        <p:spPr>
          <a:xfrm>
            <a:off x="4458593" y="3405783"/>
            <a:ext cx="28575" cy="420700"/>
          </a:xfrm>
          <a:prstGeom prst="rect">
            <a:avLst/>
          </a:prstGeom>
          <a:solidFill>
            <a:srgbClr val="FFA500"/>
          </a:solidFill>
          <a:ln/>
        </p:spPr>
        <p:txBody>
          <a:bodyPr/>
          <a:lstStyle/>
          <a:p>
            <a:endParaRPr lang="en-MU"/>
          </a:p>
        </p:txBody>
      </p:sp>
      <p:sp>
        <p:nvSpPr>
          <p:cNvPr id="138" name="Text 135"/>
          <p:cNvSpPr/>
          <p:nvPr/>
        </p:nvSpPr>
        <p:spPr>
          <a:xfrm>
            <a:off x="4458593" y="3405783"/>
            <a:ext cx="4256782" cy="336246"/>
          </a:xfrm>
          <a:prstGeom prst="rect">
            <a:avLst/>
          </a:prstGeom>
          <a:noFill/>
          <a:ln/>
        </p:spPr>
        <p:txBody>
          <a:bodyPr wrap="square" lIns="68072" tIns="68072" rIns="68072" bIns="68072" rtlCol="0" anchor="t">
            <a:spAutoFit/>
          </a:bodyPr>
          <a:lstStyle/>
          <a:p>
            <a:pPr marL="0" indent="0" algn="l">
              <a:lnSpc>
                <a:spcPts val="800"/>
              </a:lnSpc>
              <a:buNone/>
            </a:pPr>
            <a:r>
              <a:rPr lang="en-US" sz="534" b="1" dirty="0">
                <a:solidFill>
                  <a:srgbClr val="FFA500"/>
                </a:solidFill>
              </a:rPr>
              <a:t>Key Observations:</a:t>
            </a:r>
            <a:r>
              <a:rPr lang="en-US" sz="568" dirty="0">
                <a:solidFill>
                  <a:srgbClr val="1A1A1A"/>
                </a:solidFill>
              </a:rPr>
              <a:t> Average house price is ₨4.77M with significant variation (std: ₨2.41M). Most houses have 3 bedrooms and ~4600 sqft area. No missing values detected.</a:t>
            </a:r>
            <a:endParaRPr lang="en-US" sz="53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928688"/>
          </a:xfrm>
          <a:prstGeom prst="rect">
            <a:avLst/>
          </a:prstGeom>
          <a:solidFill>
            <a:srgbClr val="000000">
              <a:alpha val="0"/>
            </a:srgbClr>
          </a:solidFill>
          <a:ln/>
        </p:spPr>
        <p:txBody>
          <a:bodyPr/>
          <a:lstStyle/>
          <a:p>
            <a:endParaRPr lang="en-MU"/>
          </a:p>
        </p:txBody>
      </p:sp>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Spring Cleaning: Taming Outliers</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Data Cleaning Process - Removing Outliers Using Quantile-Based Filtering</a:t>
            </a:r>
            <a:endParaRPr lang="en-US" sz="987" dirty="0"/>
          </a:p>
        </p:txBody>
      </p:sp>
      <p:sp>
        <p:nvSpPr>
          <p:cNvPr id="7" name="Shape 4"/>
          <p:cNvSpPr/>
          <p:nvPr/>
        </p:nvSpPr>
        <p:spPr>
          <a:xfrm>
            <a:off x="428625" y="1000125"/>
            <a:ext cx="2676534" cy="664341"/>
          </a:xfrm>
          <a:prstGeom prst="rect">
            <a:avLst/>
          </a:prstGeom>
          <a:solidFill>
            <a:srgbClr val="F8F9FA"/>
          </a:solidFill>
          <a:ln/>
        </p:spPr>
        <p:txBody>
          <a:bodyPr/>
          <a:lstStyle/>
          <a:p>
            <a:endParaRPr lang="en-MU"/>
          </a:p>
        </p:txBody>
      </p:sp>
      <p:sp>
        <p:nvSpPr>
          <p:cNvPr id="8" name="Shape 5"/>
          <p:cNvSpPr/>
          <p:nvPr/>
        </p:nvSpPr>
        <p:spPr>
          <a:xfrm>
            <a:off x="428625" y="1000125"/>
            <a:ext cx="28575" cy="664341"/>
          </a:xfrm>
          <a:prstGeom prst="rect">
            <a:avLst/>
          </a:prstGeom>
          <a:solidFill>
            <a:srgbClr val="007BFF"/>
          </a:solidFill>
          <a:ln/>
        </p:spPr>
        <p:txBody>
          <a:bodyPr/>
          <a:lstStyle/>
          <a:p>
            <a:endParaRPr lang="en-MU"/>
          </a:p>
        </p:txBody>
      </p:sp>
      <p:sp>
        <p:nvSpPr>
          <p:cNvPr id="9" name="Shape 6"/>
          <p:cNvSpPr/>
          <p:nvPr/>
        </p:nvSpPr>
        <p:spPr>
          <a:xfrm>
            <a:off x="485775" y="1057275"/>
            <a:ext cx="2562234" cy="245734"/>
          </a:xfrm>
          <a:prstGeom prst="rect">
            <a:avLst/>
          </a:prstGeom>
          <a:solidFill>
            <a:srgbClr val="1A1A1A"/>
          </a:solidFill>
          <a:ln/>
        </p:spPr>
        <p:txBody>
          <a:bodyPr/>
          <a:lstStyle/>
          <a:p>
            <a:endParaRPr lang="en-MU"/>
          </a:p>
        </p:txBody>
      </p:sp>
      <p:sp>
        <p:nvSpPr>
          <p:cNvPr id="10" name="Text 7"/>
          <p:cNvSpPr/>
          <p:nvPr/>
        </p:nvSpPr>
        <p:spPr>
          <a:xfrm>
            <a:off x="485775" y="1057275"/>
            <a:ext cx="2562234"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#1 – Calculate 1st Percentile</a:t>
            </a:r>
            <a:endParaRPr lang="en-US" sz="568" dirty="0"/>
          </a:p>
          <a:p>
            <a:pPr marL="0" indent="0" algn="l">
              <a:lnSpc>
                <a:spcPts val="700"/>
              </a:lnSpc>
              <a:buNone/>
            </a:pPr>
            <a:r>
              <a:rPr lang="en-US" sz="568" dirty="0">
                <a:solidFill>
                  <a:srgbClr val="28A745"/>
                </a:solidFill>
              </a:rPr>
              <a:t>Q1 = </a:t>
            </a:r>
            <a:r>
              <a:rPr lang="en-US" sz="568" dirty="0" err="1">
                <a:solidFill>
                  <a:srgbClr val="28A745"/>
                </a:solidFill>
              </a:rPr>
              <a:t>price_lower</a:t>
            </a:r>
            <a:r>
              <a:rPr lang="en-US" sz="568" dirty="0">
                <a:solidFill>
                  <a:srgbClr val="28A745"/>
                </a:solidFill>
              </a:rPr>
              <a:t> </a:t>
            </a:r>
            <a:r>
              <a:rPr lang="en-US" sz="568" dirty="0" err="1">
                <a:solidFill>
                  <a:srgbClr val="28A745"/>
                </a:solidFill>
              </a:rPr>
              <a:t>df</a:t>
            </a:r>
            <a:r>
              <a:rPr lang="en-US" sz="568" dirty="0">
                <a:solidFill>
                  <a:srgbClr val="28A745"/>
                </a:solidFill>
              </a:rPr>
              <a:t>['price'].quantile(0.01)</a:t>
            </a:r>
            <a:endParaRPr lang="en-US" sz="568" dirty="0"/>
          </a:p>
        </p:txBody>
      </p:sp>
      <p:sp>
        <p:nvSpPr>
          <p:cNvPr id="11" name="Text 8"/>
          <p:cNvSpPr/>
          <p:nvPr/>
        </p:nvSpPr>
        <p:spPr>
          <a:xfrm>
            <a:off x="571500" y="1317296"/>
            <a:ext cx="584253"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.quantile(0.01):</a:t>
            </a:r>
            <a:endParaRPr lang="en-US" sz="534" dirty="0"/>
          </a:p>
        </p:txBody>
      </p:sp>
      <p:sp>
        <p:nvSpPr>
          <p:cNvPr id="12" name="Text 9"/>
          <p:cNvSpPr/>
          <p:nvPr/>
        </p:nvSpPr>
        <p:spPr>
          <a:xfrm>
            <a:off x="1155753" y="1317296"/>
            <a:ext cx="145171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Finds the 1st percentile value of prices.</a:t>
            </a:r>
            <a:endParaRPr lang="en-US" sz="568" dirty="0"/>
          </a:p>
        </p:txBody>
      </p:sp>
      <p:sp>
        <p:nvSpPr>
          <p:cNvPr id="13" name="Text 10"/>
          <p:cNvSpPr/>
          <p:nvPr/>
        </p:nvSpPr>
        <p:spPr>
          <a:xfrm>
            <a:off x="571500" y="1411588"/>
            <a:ext cx="12989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Q1:</a:t>
            </a:r>
            <a:endParaRPr lang="en-US" sz="534" dirty="0"/>
          </a:p>
        </p:txBody>
      </p:sp>
      <p:sp>
        <p:nvSpPr>
          <p:cNvPr id="14" name="Text 11"/>
          <p:cNvSpPr/>
          <p:nvPr/>
        </p:nvSpPr>
        <p:spPr>
          <a:xfrm>
            <a:off x="701399" y="1411588"/>
            <a:ext cx="1494718"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Stores the lowest 1% threshold (₨1.1M).</a:t>
            </a:r>
            <a:endParaRPr lang="en-US" sz="568" dirty="0"/>
          </a:p>
        </p:txBody>
      </p:sp>
      <p:sp>
        <p:nvSpPr>
          <p:cNvPr id="15" name="Text 12"/>
          <p:cNvSpPr/>
          <p:nvPr/>
        </p:nvSpPr>
        <p:spPr>
          <a:xfrm>
            <a:off x="571500" y="1505880"/>
            <a:ext cx="34292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Purpose:</a:t>
            </a:r>
            <a:endParaRPr lang="en-US" sz="534" dirty="0"/>
          </a:p>
        </p:txBody>
      </p:sp>
      <p:sp>
        <p:nvSpPr>
          <p:cNvPr id="16" name="Text 13"/>
          <p:cNvSpPr/>
          <p:nvPr/>
        </p:nvSpPr>
        <p:spPr>
          <a:xfrm>
            <a:off x="914428" y="1505880"/>
            <a:ext cx="1268155"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Remove extremely cheap outliers.</a:t>
            </a:r>
            <a:endParaRPr lang="en-US" sz="568" dirty="0"/>
          </a:p>
        </p:txBody>
      </p:sp>
      <p:sp>
        <p:nvSpPr>
          <p:cNvPr id="17" name="Shape 14"/>
          <p:cNvSpPr/>
          <p:nvPr/>
        </p:nvSpPr>
        <p:spPr>
          <a:xfrm>
            <a:off x="428625" y="1707328"/>
            <a:ext cx="2676534" cy="664341"/>
          </a:xfrm>
          <a:prstGeom prst="rect">
            <a:avLst/>
          </a:prstGeom>
          <a:solidFill>
            <a:srgbClr val="F8F9FA"/>
          </a:solidFill>
          <a:ln/>
        </p:spPr>
        <p:txBody>
          <a:bodyPr/>
          <a:lstStyle/>
          <a:p>
            <a:endParaRPr lang="en-MU"/>
          </a:p>
        </p:txBody>
      </p:sp>
      <p:sp>
        <p:nvSpPr>
          <p:cNvPr id="18" name="Shape 15"/>
          <p:cNvSpPr/>
          <p:nvPr/>
        </p:nvSpPr>
        <p:spPr>
          <a:xfrm>
            <a:off x="428625" y="1707328"/>
            <a:ext cx="28575" cy="664341"/>
          </a:xfrm>
          <a:prstGeom prst="rect">
            <a:avLst/>
          </a:prstGeom>
          <a:solidFill>
            <a:srgbClr val="007BFF"/>
          </a:solidFill>
          <a:ln/>
        </p:spPr>
        <p:txBody>
          <a:bodyPr/>
          <a:lstStyle/>
          <a:p>
            <a:endParaRPr lang="en-MU"/>
          </a:p>
        </p:txBody>
      </p:sp>
      <p:sp>
        <p:nvSpPr>
          <p:cNvPr id="19" name="Shape 16"/>
          <p:cNvSpPr/>
          <p:nvPr/>
        </p:nvSpPr>
        <p:spPr>
          <a:xfrm>
            <a:off x="485775" y="1764478"/>
            <a:ext cx="2562234" cy="245734"/>
          </a:xfrm>
          <a:prstGeom prst="rect">
            <a:avLst/>
          </a:prstGeom>
          <a:solidFill>
            <a:srgbClr val="1A1A1A"/>
          </a:solidFill>
          <a:ln/>
        </p:spPr>
        <p:txBody>
          <a:bodyPr/>
          <a:lstStyle/>
          <a:p>
            <a:endParaRPr lang="en-MU"/>
          </a:p>
        </p:txBody>
      </p:sp>
      <p:sp>
        <p:nvSpPr>
          <p:cNvPr id="20" name="Text 17"/>
          <p:cNvSpPr/>
          <p:nvPr/>
        </p:nvSpPr>
        <p:spPr>
          <a:xfrm>
            <a:off x="485775" y="1764478"/>
            <a:ext cx="2562234"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#2 – Calculate 99th Percentile</a:t>
            </a:r>
            <a:endParaRPr lang="en-US" sz="568" dirty="0"/>
          </a:p>
          <a:p>
            <a:pPr marL="0" indent="0" algn="l">
              <a:lnSpc>
                <a:spcPts val="700"/>
              </a:lnSpc>
              <a:buNone/>
            </a:pPr>
            <a:r>
              <a:rPr lang="en-US" sz="568" dirty="0">
                <a:solidFill>
                  <a:srgbClr val="28A745"/>
                </a:solidFill>
              </a:rPr>
              <a:t>Q3 = </a:t>
            </a:r>
            <a:r>
              <a:rPr lang="en-US" sz="568" dirty="0" err="1">
                <a:solidFill>
                  <a:srgbClr val="28A745"/>
                </a:solidFill>
              </a:rPr>
              <a:t>price_upper</a:t>
            </a:r>
            <a:r>
              <a:rPr lang="en-US" sz="568" dirty="0">
                <a:solidFill>
                  <a:srgbClr val="28A745"/>
                </a:solidFill>
              </a:rPr>
              <a:t> </a:t>
            </a:r>
            <a:r>
              <a:rPr lang="en-US" sz="568" dirty="0" err="1">
                <a:solidFill>
                  <a:srgbClr val="28A745"/>
                </a:solidFill>
              </a:rPr>
              <a:t>df</a:t>
            </a:r>
            <a:r>
              <a:rPr lang="en-US" sz="568" dirty="0">
                <a:solidFill>
                  <a:srgbClr val="28A745"/>
                </a:solidFill>
              </a:rPr>
              <a:t>['price'].quantile(0.99)</a:t>
            </a:r>
            <a:endParaRPr lang="en-US" sz="568" dirty="0"/>
          </a:p>
        </p:txBody>
      </p:sp>
      <p:sp>
        <p:nvSpPr>
          <p:cNvPr id="21" name="Text 18"/>
          <p:cNvSpPr/>
          <p:nvPr/>
        </p:nvSpPr>
        <p:spPr>
          <a:xfrm>
            <a:off x="571500" y="2024500"/>
            <a:ext cx="584253"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.quantile(0.99):</a:t>
            </a:r>
            <a:endParaRPr lang="en-US" sz="534" dirty="0"/>
          </a:p>
        </p:txBody>
      </p:sp>
      <p:sp>
        <p:nvSpPr>
          <p:cNvPr id="22" name="Text 19"/>
          <p:cNvSpPr/>
          <p:nvPr/>
        </p:nvSpPr>
        <p:spPr>
          <a:xfrm>
            <a:off x="1155753" y="2024500"/>
            <a:ext cx="150758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Finds the 99th percentile value of prices.</a:t>
            </a:r>
            <a:endParaRPr lang="en-US" sz="568" dirty="0"/>
          </a:p>
        </p:txBody>
      </p:sp>
      <p:sp>
        <p:nvSpPr>
          <p:cNvPr id="23" name="Text 20"/>
          <p:cNvSpPr/>
          <p:nvPr/>
        </p:nvSpPr>
        <p:spPr>
          <a:xfrm>
            <a:off x="571500" y="2118792"/>
            <a:ext cx="129899"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Q3:</a:t>
            </a:r>
            <a:endParaRPr lang="en-US" sz="534" dirty="0"/>
          </a:p>
        </p:txBody>
      </p:sp>
      <p:sp>
        <p:nvSpPr>
          <p:cNvPr id="24" name="Text 21"/>
          <p:cNvSpPr/>
          <p:nvPr/>
        </p:nvSpPr>
        <p:spPr>
          <a:xfrm>
            <a:off x="701399" y="2118792"/>
            <a:ext cx="1577373"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Stores the highest 1% threshold (₨13.5M).</a:t>
            </a:r>
            <a:endParaRPr lang="en-US" sz="568" dirty="0"/>
          </a:p>
        </p:txBody>
      </p:sp>
      <p:sp>
        <p:nvSpPr>
          <p:cNvPr id="25" name="Text 22"/>
          <p:cNvSpPr/>
          <p:nvPr/>
        </p:nvSpPr>
        <p:spPr>
          <a:xfrm>
            <a:off x="571500" y="2213084"/>
            <a:ext cx="34292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Purpose:</a:t>
            </a:r>
            <a:endParaRPr lang="en-US" sz="534" dirty="0"/>
          </a:p>
        </p:txBody>
      </p:sp>
      <p:sp>
        <p:nvSpPr>
          <p:cNvPr id="26" name="Text 23"/>
          <p:cNvSpPr/>
          <p:nvPr/>
        </p:nvSpPr>
        <p:spPr>
          <a:xfrm>
            <a:off x="914428" y="2213084"/>
            <a:ext cx="141281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Remove extremely expensive outliers.</a:t>
            </a:r>
            <a:endParaRPr lang="en-US" sz="568" dirty="0"/>
          </a:p>
        </p:txBody>
      </p:sp>
      <p:sp>
        <p:nvSpPr>
          <p:cNvPr id="27" name="Shape 24"/>
          <p:cNvSpPr/>
          <p:nvPr/>
        </p:nvSpPr>
        <p:spPr>
          <a:xfrm>
            <a:off x="428625" y="2414532"/>
            <a:ext cx="2676534" cy="852925"/>
          </a:xfrm>
          <a:prstGeom prst="rect">
            <a:avLst/>
          </a:prstGeom>
          <a:solidFill>
            <a:srgbClr val="F8F9FA"/>
          </a:solidFill>
          <a:ln/>
        </p:spPr>
        <p:txBody>
          <a:bodyPr/>
          <a:lstStyle/>
          <a:p>
            <a:endParaRPr lang="en-MU"/>
          </a:p>
        </p:txBody>
      </p:sp>
      <p:sp>
        <p:nvSpPr>
          <p:cNvPr id="28" name="Shape 25"/>
          <p:cNvSpPr/>
          <p:nvPr/>
        </p:nvSpPr>
        <p:spPr>
          <a:xfrm>
            <a:off x="428625" y="2414532"/>
            <a:ext cx="28575" cy="852925"/>
          </a:xfrm>
          <a:prstGeom prst="rect">
            <a:avLst/>
          </a:prstGeom>
          <a:solidFill>
            <a:srgbClr val="007BFF"/>
          </a:solidFill>
          <a:ln/>
        </p:spPr>
        <p:txBody>
          <a:bodyPr/>
          <a:lstStyle/>
          <a:p>
            <a:endParaRPr lang="en-MU"/>
          </a:p>
        </p:txBody>
      </p:sp>
      <p:sp>
        <p:nvSpPr>
          <p:cNvPr id="29" name="Shape 26"/>
          <p:cNvSpPr/>
          <p:nvPr/>
        </p:nvSpPr>
        <p:spPr>
          <a:xfrm>
            <a:off x="485775" y="2471682"/>
            <a:ext cx="2562234" cy="272885"/>
          </a:xfrm>
          <a:prstGeom prst="rect">
            <a:avLst/>
          </a:prstGeom>
          <a:solidFill>
            <a:srgbClr val="1A1A1A"/>
          </a:solidFill>
          <a:ln/>
        </p:spPr>
        <p:txBody>
          <a:bodyPr/>
          <a:lstStyle/>
          <a:p>
            <a:endParaRPr lang="en-MU"/>
          </a:p>
        </p:txBody>
      </p:sp>
      <p:sp>
        <p:nvSpPr>
          <p:cNvPr id="30" name="Text 27"/>
          <p:cNvSpPr/>
          <p:nvPr/>
        </p:nvSpPr>
        <p:spPr>
          <a:xfrm>
            <a:off x="485775" y="2471682"/>
            <a:ext cx="2562234" cy="245067"/>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#3 – Filter Data</a:t>
            </a:r>
            <a:endParaRPr lang="en-US" sz="568" dirty="0"/>
          </a:p>
          <a:p>
            <a:pPr marL="0" indent="0" algn="l">
              <a:lnSpc>
                <a:spcPts val="700"/>
              </a:lnSpc>
              <a:buNone/>
            </a:pPr>
            <a:r>
              <a:rPr lang="en-US" sz="568" dirty="0" err="1">
                <a:solidFill>
                  <a:srgbClr val="28A745"/>
                </a:solidFill>
              </a:rPr>
              <a:t>df_clean</a:t>
            </a:r>
            <a:endParaRPr lang="en-US" sz="568" dirty="0">
              <a:solidFill>
                <a:srgbClr val="28A745"/>
              </a:solidFill>
            </a:endParaRPr>
          </a:p>
        </p:txBody>
      </p:sp>
      <p:sp>
        <p:nvSpPr>
          <p:cNvPr id="31" name="Text 28"/>
          <p:cNvSpPr/>
          <p:nvPr/>
        </p:nvSpPr>
        <p:spPr>
          <a:xfrm>
            <a:off x="571500" y="2825995"/>
            <a:ext cx="682340"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Boolean filtering:</a:t>
            </a:r>
            <a:endParaRPr lang="en-US" sz="534" dirty="0"/>
          </a:p>
        </p:txBody>
      </p:sp>
      <p:sp>
        <p:nvSpPr>
          <p:cNvPr id="32" name="Text 29"/>
          <p:cNvSpPr/>
          <p:nvPr/>
        </p:nvSpPr>
        <p:spPr>
          <a:xfrm>
            <a:off x="571500" y="2919262"/>
            <a:ext cx="2460324" cy="176330"/>
          </a:xfrm>
          <a:prstGeom prst="rect">
            <a:avLst/>
          </a:prstGeom>
          <a:noFill/>
          <a:ln/>
        </p:spPr>
        <p:txBody>
          <a:bodyPr wrap="square" lIns="0" tIns="0" rIns="0" bIns="0" rtlCol="0" anchor="t">
            <a:spAutoFit/>
          </a:bodyPr>
          <a:lstStyle/>
          <a:p>
            <a:pPr marL="0" indent="0" algn="l">
              <a:lnSpc>
                <a:spcPts val="700"/>
              </a:lnSpc>
              <a:buNone/>
            </a:pPr>
            <a:r>
              <a:rPr lang="en-US" sz="568" dirty="0">
                <a:solidFill>
                  <a:srgbClr val="495057"/>
                </a:solidFill>
              </a:rPr>
              <a:t>Create a filtered version of a dataset where extreme low/high prices and extreme small/large areas have been trimmed  away.</a:t>
            </a:r>
            <a:endParaRPr lang="en-US" sz="568" dirty="0"/>
          </a:p>
        </p:txBody>
      </p:sp>
      <p:sp>
        <p:nvSpPr>
          <p:cNvPr id="33" name="Text 30"/>
          <p:cNvSpPr/>
          <p:nvPr/>
        </p:nvSpPr>
        <p:spPr>
          <a:xfrm>
            <a:off x="571500" y="3014579"/>
            <a:ext cx="65" cy="85408"/>
          </a:xfrm>
          <a:prstGeom prst="rect">
            <a:avLst/>
          </a:prstGeom>
          <a:noFill/>
          <a:ln/>
        </p:spPr>
        <p:txBody>
          <a:bodyPr wrap="none" lIns="0" tIns="0" rIns="0" bIns="0" rtlCol="0" anchor="t">
            <a:spAutoFit/>
          </a:bodyPr>
          <a:lstStyle/>
          <a:p>
            <a:pPr marL="0" indent="0" algn="l">
              <a:lnSpc>
                <a:spcPts val="700"/>
              </a:lnSpc>
              <a:buNone/>
            </a:pPr>
            <a:endParaRPr lang="en-US" sz="534" dirty="0"/>
          </a:p>
        </p:txBody>
      </p:sp>
      <p:sp>
        <p:nvSpPr>
          <p:cNvPr id="35" name="Text 32"/>
          <p:cNvSpPr/>
          <p:nvPr/>
        </p:nvSpPr>
        <p:spPr>
          <a:xfrm>
            <a:off x="571500" y="3108871"/>
            <a:ext cx="269481"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Result:</a:t>
            </a:r>
            <a:endParaRPr lang="en-US" sz="534" dirty="0"/>
          </a:p>
        </p:txBody>
      </p:sp>
      <p:sp>
        <p:nvSpPr>
          <p:cNvPr id="36" name="Text 33"/>
          <p:cNvSpPr/>
          <p:nvPr/>
        </p:nvSpPr>
        <p:spPr>
          <a:xfrm>
            <a:off x="840981" y="3108871"/>
            <a:ext cx="159386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Removes extreme outliers from both ends.</a:t>
            </a:r>
            <a:endParaRPr lang="en-US" sz="568" dirty="0"/>
          </a:p>
        </p:txBody>
      </p:sp>
      <p:sp>
        <p:nvSpPr>
          <p:cNvPr id="37" name="Shape 34"/>
          <p:cNvSpPr/>
          <p:nvPr/>
        </p:nvSpPr>
        <p:spPr>
          <a:xfrm>
            <a:off x="428625" y="3310319"/>
            <a:ext cx="2676534" cy="852925"/>
          </a:xfrm>
          <a:prstGeom prst="rect">
            <a:avLst/>
          </a:prstGeom>
          <a:solidFill>
            <a:srgbClr val="F8F9FA"/>
          </a:solidFill>
          <a:ln/>
        </p:spPr>
        <p:txBody>
          <a:bodyPr/>
          <a:lstStyle/>
          <a:p>
            <a:endParaRPr lang="en-MU"/>
          </a:p>
        </p:txBody>
      </p:sp>
      <p:sp>
        <p:nvSpPr>
          <p:cNvPr id="38" name="Shape 35"/>
          <p:cNvSpPr/>
          <p:nvPr/>
        </p:nvSpPr>
        <p:spPr>
          <a:xfrm>
            <a:off x="428625" y="3310319"/>
            <a:ext cx="28575" cy="852925"/>
          </a:xfrm>
          <a:prstGeom prst="rect">
            <a:avLst/>
          </a:prstGeom>
          <a:solidFill>
            <a:srgbClr val="007BFF"/>
          </a:solidFill>
          <a:ln/>
        </p:spPr>
        <p:txBody>
          <a:bodyPr/>
          <a:lstStyle/>
          <a:p>
            <a:endParaRPr lang="en-MU"/>
          </a:p>
        </p:txBody>
      </p:sp>
      <p:sp>
        <p:nvSpPr>
          <p:cNvPr id="39" name="Shape 36"/>
          <p:cNvSpPr/>
          <p:nvPr/>
        </p:nvSpPr>
        <p:spPr>
          <a:xfrm>
            <a:off x="485775" y="3367469"/>
            <a:ext cx="2562234" cy="434318"/>
          </a:xfrm>
          <a:prstGeom prst="rect">
            <a:avLst/>
          </a:prstGeom>
          <a:solidFill>
            <a:srgbClr val="1A1A1A"/>
          </a:solidFill>
          <a:ln/>
        </p:spPr>
        <p:txBody>
          <a:bodyPr/>
          <a:lstStyle/>
          <a:p>
            <a:endParaRPr lang="en-MU" dirty="0"/>
          </a:p>
        </p:txBody>
      </p:sp>
      <p:sp>
        <p:nvSpPr>
          <p:cNvPr id="40" name="Text 37"/>
          <p:cNvSpPr/>
          <p:nvPr/>
        </p:nvSpPr>
        <p:spPr>
          <a:xfrm>
            <a:off x="485775" y="3367469"/>
            <a:ext cx="2562234" cy="424603"/>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#4 – Compare Results</a:t>
            </a:r>
            <a:endParaRPr lang="en-US" sz="568" dirty="0"/>
          </a:p>
          <a:p>
            <a:pPr marL="0" indent="0" algn="l">
              <a:lnSpc>
                <a:spcPts val="700"/>
              </a:lnSpc>
              <a:buNone/>
            </a:pPr>
            <a:r>
              <a:rPr lang="en-US" sz="568" dirty="0">
                <a:solidFill>
                  <a:srgbClr val="28A745"/>
                </a:solidFill>
              </a:rPr>
              <a:t>print(</a:t>
            </a:r>
            <a:r>
              <a:rPr lang="en-US" sz="568" dirty="0" err="1">
                <a:solidFill>
                  <a:srgbClr val="28A745"/>
                </a:solidFill>
              </a:rPr>
              <a:t>f”Original</a:t>
            </a:r>
            <a:r>
              <a:rPr lang="en-US" sz="568" dirty="0">
                <a:solidFill>
                  <a:srgbClr val="28A745"/>
                </a:solidFill>
              </a:rPr>
              <a:t> dataset size: {</a:t>
            </a:r>
            <a:r>
              <a:rPr lang="en-US" sz="568" dirty="0" err="1">
                <a:solidFill>
                  <a:srgbClr val="28A745"/>
                </a:solidFill>
              </a:rPr>
              <a:t>df.shape</a:t>
            </a:r>
            <a:r>
              <a:rPr lang="en-US" sz="568" dirty="0">
                <a:solidFill>
                  <a:srgbClr val="28A745"/>
                </a:solidFill>
              </a:rPr>
              <a:t>[0]}”)</a:t>
            </a:r>
          </a:p>
          <a:p>
            <a:pPr>
              <a:lnSpc>
                <a:spcPts val="700"/>
              </a:lnSpc>
            </a:pPr>
            <a:r>
              <a:rPr lang="en-US" sz="568" dirty="0">
                <a:solidFill>
                  <a:srgbClr val="28A745"/>
                </a:solidFill>
              </a:rPr>
              <a:t>print(</a:t>
            </a:r>
            <a:r>
              <a:rPr lang="en-US" sz="568" dirty="0" err="1">
                <a:solidFill>
                  <a:srgbClr val="28A745"/>
                </a:solidFill>
              </a:rPr>
              <a:t>f”Original</a:t>
            </a:r>
            <a:r>
              <a:rPr lang="en-US" sz="568" dirty="0">
                <a:solidFill>
                  <a:srgbClr val="28A745"/>
                </a:solidFill>
              </a:rPr>
              <a:t> dataset size: {</a:t>
            </a:r>
            <a:r>
              <a:rPr lang="en-US" sz="568" dirty="0" err="1">
                <a:solidFill>
                  <a:srgbClr val="28A745"/>
                </a:solidFill>
              </a:rPr>
              <a:t>df.clean.shape</a:t>
            </a:r>
            <a:r>
              <a:rPr lang="en-US" sz="568" dirty="0">
                <a:solidFill>
                  <a:srgbClr val="28A745"/>
                </a:solidFill>
              </a:rPr>
              <a:t>[0]}”)</a:t>
            </a:r>
          </a:p>
          <a:p>
            <a:pPr marL="0" indent="0" algn="l">
              <a:lnSpc>
                <a:spcPts val="700"/>
              </a:lnSpc>
              <a:buNone/>
            </a:pPr>
            <a:endParaRPr lang="en-US" sz="568" dirty="0"/>
          </a:p>
        </p:txBody>
      </p:sp>
      <p:sp>
        <p:nvSpPr>
          <p:cNvPr id="41" name="Text 38"/>
          <p:cNvSpPr/>
          <p:nvPr/>
        </p:nvSpPr>
        <p:spPr>
          <a:xfrm>
            <a:off x="571500" y="3816074"/>
            <a:ext cx="266098" cy="85408"/>
          </a:xfrm>
          <a:prstGeom prst="rect">
            <a:avLst/>
          </a:prstGeom>
          <a:noFill/>
          <a:ln/>
        </p:spPr>
        <p:txBody>
          <a:bodyPr wrap="none" lIns="0" tIns="0" rIns="0" bIns="0" rtlCol="0" anchor="t">
            <a:spAutoFit/>
          </a:bodyPr>
          <a:lstStyle/>
          <a:p>
            <a:pPr marL="0" indent="0" algn="l">
              <a:lnSpc>
                <a:spcPts val="700"/>
              </a:lnSpc>
              <a:buNone/>
            </a:pPr>
            <a:r>
              <a:rPr lang="en-US" sz="534" b="1" dirty="0" err="1">
                <a:solidFill>
                  <a:srgbClr val="1A1A1A"/>
                </a:solidFill>
              </a:rPr>
              <a:t>df.shape</a:t>
            </a:r>
            <a:r>
              <a:rPr lang="en-US" sz="534" b="1" dirty="0">
                <a:solidFill>
                  <a:srgbClr val="1A1A1A"/>
                </a:solidFill>
              </a:rPr>
              <a:t>:</a:t>
            </a:r>
            <a:endParaRPr lang="en-US" sz="534" dirty="0"/>
          </a:p>
        </p:txBody>
      </p:sp>
      <p:sp>
        <p:nvSpPr>
          <p:cNvPr id="42" name="Text 39"/>
          <p:cNvSpPr/>
          <p:nvPr/>
        </p:nvSpPr>
        <p:spPr>
          <a:xfrm>
            <a:off x="852506" y="3816074"/>
            <a:ext cx="1214493"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Total rows before cleaning (545).</a:t>
            </a:r>
            <a:endParaRPr lang="en-US" sz="568" dirty="0"/>
          </a:p>
        </p:txBody>
      </p:sp>
      <p:sp>
        <p:nvSpPr>
          <p:cNvPr id="43" name="Text 40"/>
          <p:cNvSpPr/>
          <p:nvPr/>
        </p:nvSpPr>
        <p:spPr>
          <a:xfrm>
            <a:off x="571500" y="3910366"/>
            <a:ext cx="434414" cy="85408"/>
          </a:xfrm>
          <a:prstGeom prst="rect">
            <a:avLst/>
          </a:prstGeom>
          <a:noFill/>
          <a:ln/>
        </p:spPr>
        <p:txBody>
          <a:bodyPr wrap="none" lIns="0" tIns="0" rIns="0" bIns="0" rtlCol="0" anchor="t">
            <a:spAutoFit/>
          </a:bodyPr>
          <a:lstStyle/>
          <a:p>
            <a:pPr marL="0" indent="0" algn="l">
              <a:lnSpc>
                <a:spcPts val="700"/>
              </a:lnSpc>
              <a:buNone/>
            </a:pPr>
            <a:r>
              <a:rPr lang="en-US" sz="534" b="1" dirty="0" err="1">
                <a:solidFill>
                  <a:srgbClr val="1A1A1A"/>
                </a:solidFill>
              </a:rPr>
              <a:t>df.clean.shape</a:t>
            </a:r>
            <a:r>
              <a:rPr lang="en-US" sz="534" b="1" dirty="0">
                <a:solidFill>
                  <a:srgbClr val="1A1A1A"/>
                </a:solidFill>
              </a:rPr>
              <a:t>:</a:t>
            </a:r>
            <a:endParaRPr lang="en-US" sz="534" dirty="0"/>
          </a:p>
        </p:txBody>
      </p:sp>
      <p:sp>
        <p:nvSpPr>
          <p:cNvPr id="44" name="Text 41"/>
          <p:cNvSpPr/>
          <p:nvPr/>
        </p:nvSpPr>
        <p:spPr>
          <a:xfrm>
            <a:off x="1091571" y="3910366"/>
            <a:ext cx="1148330"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Total rows after cleaning (521).</a:t>
            </a:r>
            <a:endParaRPr lang="en-US" sz="568" dirty="0"/>
          </a:p>
        </p:txBody>
      </p:sp>
      <p:sp>
        <p:nvSpPr>
          <p:cNvPr id="45" name="Text 42"/>
          <p:cNvSpPr/>
          <p:nvPr/>
        </p:nvSpPr>
        <p:spPr>
          <a:xfrm>
            <a:off x="571500" y="4004658"/>
            <a:ext cx="38584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Removed:</a:t>
            </a:r>
            <a:endParaRPr lang="en-US" sz="534" dirty="0"/>
          </a:p>
        </p:txBody>
      </p:sp>
      <p:sp>
        <p:nvSpPr>
          <p:cNvPr id="46" name="Text 43"/>
          <p:cNvSpPr/>
          <p:nvPr/>
        </p:nvSpPr>
        <p:spPr>
          <a:xfrm>
            <a:off x="957346" y="4004658"/>
            <a:ext cx="1114453"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495057"/>
                </a:solidFill>
              </a:rPr>
              <a:t>24 outlier rows (4.4% of data).</a:t>
            </a:r>
            <a:endParaRPr lang="en-US" sz="568" dirty="0"/>
          </a:p>
        </p:txBody>
      </p:sp>
      <p:sp>
        <p:nvSpPr>
          <p:cNvPr id="47" name="Shape 44"/>
          <p:cNvSpPr/>
          <p:nvPr/>
        </p:nvSpPr>
        <p:spPr>
          <a:xfrm>
            <a:off x="3233747" y="1000125"/>
            <a:ext cx="2527827" cy="1537692"/>
          </a:xfrm>
          <a:prstGeom prst="rect">
            <a:avLst/>
          </a:prstGeom>
          <a:solidFill>
            <a:srgbClr val="F8F9FA"/>
          </a:solidFill>
          <a:ln w="9144">
            <a:solidFill>
              <a:srgbClr val="E0E0E0"/>
            </a:solidFill>
            <a:prstDash val="solid"/>
          </a:ln>
        </p:spPr>
        <p:txBody>
          <a:bodyPr/>
          <a:lstStyle/>
          <a:p>
            <a:endParaRPr lang="en-MU"/>
          </a:p>
        </p:txBody>
      </p:sp>
      <p:sp>
        <p:nvSpPr>
          <p:cNvPr id="48" name="Text 45"/>
          <p:cNvSpPr/>
          <p:nvPr/>
        </p:nvSpPr>
        <p:spPr>
          <a:xfrm>
            <a:off x="3290897" y="1057275"/>
            <a:ext cx="2413527"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1A1A1A"/>
                </a:solidFill>
              </a:rPr>
              <a:t>Outlier Removal Statistics</a:t>
            </a:r>
            <a:endParaRPr lang="en-US" sz="584" dirty="0"/>
          </a:p>
        </p:txBody>
      </p:sp>
      <p:sp>
        <p:nvSpPr>
          <p:cNvPr id="49" name="Text 46"/>
          <p:cNvSpPr/>
          <p:nvPr/>
        </p:nvSpPr>
        <p:spPr>
          <a:xfrm>
            <a:off x="3290897" y="1244798"/>
            <a:ext cx="567063"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Original Rows:</a:t>
            </a:r>
            <a:endParaRPr lang="en-US" sz="534" dirty="0"/>
          </a:p>
        </p:txBody>
      </p:sp>
      <p:sp>
        <p:nvSpPr>
          <p:cNvPr id="50" name="Text 47"/>
          <p:cNvSpPr/>
          <p:nvPr/>
        </p:nvSpPr>
        <p:spPr>
          <a:xfrm>
            <a:off x="5569558" y="1244798"/>
            <a:ext cx="13486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007BFF"/>
                </a:solidFill>
              </a:rPr>
              <a:t>545</a:t>
            </a:r>
            <a:endParaRPr lang="en-US" sz="534" dirty="0"/>
          </a:p>
        </p:txBody>
      </p:sp>
      <p:sp>
        <p:nvSpPr>
          <p:cNvPr id="51" name="Text 48"/>
          <p:cNvSpPr/>
          <p:nvPr/>
        </p:nvSpPr>
        <p:spPr>
          <a:xfrm>
            <a:off x="3290897" y="1416248"/>
            <a:ext cx="56382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Cleaned Rows:</a:t>
            </a:r>
            <a:endParaRPr lang="en-US" sz="534" dirty="0"/>
          </a:p>
        </p:txBody>
      </p:sp>
      <p:sp>
        <p:nvSpPr>
          <p:cNvPr id="52" name="Text 49"/>
          <p:cNvSpPr/>
          <p:nvPr/>
        </p:nvSpPr>
        <p:spPr>
          <a:xfrm>
            <a:off x="5569558" y="1416248"/>
            <a:ext cx="13486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007BFF"/>
                </a:solidFill>
              </a:rPr>
              <a:t>521</a:t>
            </a:r>
            <a:endParaRPr lang="en-US" sz="534" dirty="0"/>
          </a:p>
        </p:txBody>
      </p:sp>
      <p:sp>
        <p:nvSpPr>
          <p:cNvPr id="53" name="Text 50"/>
          <p:cNvSpPr/>
          <p:nvPr/>
        </p:nvSpPr>
        <p:spPr>
          <a:xfrm>
            <a:off x="3290897" y="1587698"/>
            <a:ext cx="385846"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Removed:</a:t>
            </a:r>
            <a:endParaRPr lang="en-US" sz="534" dirty="0"/>
          </a:p>
        </p:txBody>
      </p:sp>
      <p:sp>
        <p:nvSpPr>
          <p:cNvPr id="54" name="Text 51"/>
          <p:cNvSpPr/>
          <p:nvPr/>
        </p:nvSpPr>
        <p:spPr>
          <a:xfrm>
            <a:off x="5357701" y="1587698"/>
            <a:ext cx="346723"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007BFF"/>
                </a:solidFill>
              </a:rPr>
              <a:t>24 (4.4%)</a:t>
            </a:r>
            <a:endParaRPr lang="en-US" sz="534" dirty="0"/>
          </a:p>
        </p:txBody>
      </p:sp>
      <p:sp>
        <p:nvSpPr>
          <p:cNvPr id="55" name="Text 52"/>
          <p:cNvSpPr/>
          <p:nvPr/>
        </p:nvSpPr>
        <p:spPr>
          <a:xfrm>
            <a:off x="3290897" y="1759148"/>
            <a:ext cx="569575"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Min Price (Q1):</a:t>
            </a:r>
            <a:endParaRPr lang="en-US" sz="534" dirty="0"/>
          </a:p>
        </p:txBody>
      </p:sp>
      <p:sp>
        <p:nvSpPr>
          <p:cNvPr id="56" name="Text 53"/>
          <p:cNvSpPr/>
          <p:nvPr/>
        </p:nvSpPr>
        <p:spPr>
          <a:xfrm>
            <a:off x="5446049" y="1759148"/>
            <a:ext cx="258375"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007BFF"/>
                </a:solidFill>
              </a:rPr>
              <a:t>₨1.1M</a:t>
            </a:r>
            <a:endParaRPr lang="en-US" sz="534" dirty="0"/>
          </a:p>
        </p:txBody>
      </p:sp>
      <p:sp>
        <p:nvSpPr>
          <p:cNvPr id="57" name="Text 54"/>
          <p:cNvSpPr/>
          <p:nvPr/>
        </p:nvSpPr>
        <p:spPr>
          <a:xfrm>
            <a:off x="3290897" y="1930598"/>
            <a:ext cx="586848"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Max Price (Q3):</a:t>
            </a:r>
            <a:endParaRPr lang="en-US" sz="534" dirty="0"/>
          </a:p>
        </p:txBody>
      </p:sp>
      <p:sp>
        <p:nvSpPr>
          <p:cNvPr id="58" name="Text 55"/>
          <p:cNvSpPr/>
          <p:nvPr/>
        </p:nvSpPr>
        <p:spPr>
          <a:xfrm>
            <a:off x="5401094" y="1930598"/>
            <a:ext cx="303330"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007BFF"/>
                </a:solidFill>
              </a:rPr>
              <a:t>₨13.5M</a:t>
            </a:r>
            <a:endParaRPr lang="en-US" sz="534" dirty="0"/>
          </a:p>
        </p:txBody>
      </p:sp>
      <p:sp>
        <p:nvSpPr>
          <p:cNvPr id="59" name="Shape 56"/>
          <p:cNvSpPr/>
          <p:nvPr/>
        </p:nvSpPr>
        <p:spPr>
          <a:xfrm>
            <a:off x="3290897" y="2116336"/>
            <a:ext cx="1185332" cy="350044"/>
          </a:xfrm>
          <a:prstGeom prst="rect">
            <a:avLst/>
          </a:prstGeom>
          <a:solidFill>
            <a:srgbClr val="E6F0FF"/>
          </a:solidFill>
          <a:ln/>
        </p:spPr>
        <p:txBody>
          <a:bodyPr/>
          <a:lstStyle/>
          <a:p>
            <a:endParaRPr lang="en-MU"/>
          </a:p>
        </p:txBody>
      </p:sp>
      <p:sp>
        <p:nvSpPr>
          <p:cNvPr id="60" name="Shape 57"/>
          <p:cNvSpPr/>
          <p:nvPr/>
        </p:nvSpPr>
        <p:spPr>
          <a:xfrm>
            <a:off x="3290897" y="2116336"/>
            <a:ext cx="28575" cy="350044"/>
          </a:xfrm>
          <a:prstGeom prst="rect">
            <a:avLst/>
          </a:prstGeom>
          <a:solidFill>
            <a:srgbClr val="007BFF"/>
          </a:solidFill>
          <a:ln/>
        </p:spPr>
        <p:txBody>
          <a:bodyPr/>
          <a:lstStyle/>
          <a:p>
            <a:endParaRPr lang="en-MU"/>
          </a:p>
        </p:txBody>
      </p:sp>
      <p:sp>
        <p:nvSpPr>
          <p:cNvPr id="61" name="Text 58"/>
          <p:cNvSpPr/>
          <p:nvPr/>
        </p:nvSpPr>
        <p:spPr>
          <a:xfrm>
            <a:off x="3333759" y="2159198"/>
            <a:ext cx="1099607" cy="107156"/>
          </a:xfrm>
          <a:prstGeom prst="rect">
            <a:avLst/>
          </a:prstGeom>
          <a:noFill/>
          <a:ln/>
        </p:spPr>
        <p:txBody>
          <a:bodyPr wrap="none" lIns="0" tIns="0" rIns="0" bIns="0" rtlCol="0" anchor="t">
            <a:spAutoFit/>
          </a:bodyPr>
          <a:lstStyle/>
          <a:p>
            <a:pPr marL="0" indent="0" algn="ctr">
              <a:lnSpc>
                <a:spcPts val="700"/>
              </a:lnSpc>
              <a:buNone/>
            </a:pPr>
            <a:r>
              <a:rPr lang="en-US" sz="534" b="1" dirty="0">
                <a:solidFill>
                  <a:srgbClr val="007BFF"/>
                </a:solidFill>
              </a:rPr>
              <a:t>Before</a:t>
            </a:r>
            <a:endParaRPr lang="en-US" sz="534" dirty="0"/>
          </a:p>
        </p:txBody>
      </p:sp>
      <p:sp>
        <p:nvSpPr>
          <p:cNvPr id="62" name="Text 59"/>
          <p:cNvSpPr/>
          <p:nvPr/>
        </p:nvSpPr>
        <p:spPr>
          <a:xfrm>
            <a:off x="3333759" y="2287786"/>
            <a:ext cx="1099607"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545</a:t>
            </a:r>
            <a:endParaRPr lang="en-US" sz="683" dirty="0"/>
          </a:p>
        </p:txBody>
      </p:sp>
      <p:sp>
        <p:nvSpPr>
          <p:cNvPr id="63" name="Shape 60"/>
          <p:cNvSpPr/>
          <p:nvPr/>
        </p:nvSpPr>
        <p:spPr>
          <a:xfrm>
            <a:off x="4519092" y="2116336"/>
            <a:ext cx="1185332" cy="350044"/>
          </a:xfrm>
          <a:prstGeom prst="rect">
            <a:avLst/>
          </a:prstGeom>
          <a:solidFill>
            <a:srgbClr val="E6F0FF"/>
          </a:solidFill>
          <a:ln/>
        </p:spPr>
        <p:txBody>
          <a:bodyPr/>
          <a:lstStyle/>
          <a:p>
            <a:endParaRPr lang="en-MU"/>
          </a:p>
        </p:txBody>
      </p:sp>
      <p:sp>
        <p:nvSpPr>
          <p:cNvPr id="64" name="Shape 61"/>
          <p:cNvSpPr/>
          <p:nvPr/>
        </p:nvSpPr>
        <p:spPr>
          <a:xfrm>
            <a:off x="4519092" y="2116336"/>
            <a:ext cx="28575" cy="350044"/>
          </a:xfrm>
          <a:prstGeom prst="rect">
            <a:avLst/>
          </a:prstGeom>
          <a:solidFill>
            <a:srgbClr val="007BFF"/>
          </a:solidFill>
          <a:ln/>
        </p:spPr>
        <p:txBody>
          <a:bodyPr/>
          <a:lstStyle/>
          <a:p>
            <a:endParaRPr lang="en-MU"/>
          </a:p>
        </p:txBody>
      </p:sp>
      <p:sp>
        <p:nvSpPr>
          <p:cNvPr id="65" name="Text 62"/>
          <p:cNvSpPr/>
          <p:nvPr/>
        </p:nvSpPr>
        <p:spPr>
          <a:xfrm>
            <a:off x="4561954" y="2159198"/>
            <a:ext cx="1099607" cy="107156"/>
          </a:xfrm>
          <a:prstGeom prst="rect">
            <a:avLst/>
          </a:prstGeom>
          <a:noFill/>
          <a:ln/>
        </p:spPr>
        <p:txBody>
          <a:bodyPr wrap="none" lIns="0" tIns="0" rIns="0" bIns="0" rtlCol="0" anchor="t">
            <a:spAutoFit/>
          </a:bodyPr>
          <a:lstStyle/>
          <a:p>
            <a:pPr marL="0" indent="0" algn="ctr">
              <a:lnSpc>
                <a:spcPts val="700"/>
              </a:lnSpc>
              <a:buNone/>
            </a:pPr>
            <a:r>
              <a:rPr lang="en-US" sz="534" b="1" dirty="0">
                <a:solidFill>
                  <a:srgbClr val="007BFF"/>
                </a:solidFill>
              </a:rPr>
              <a:t>After</a:t>
            </a:r>
            <a:endParaRPr lang="en-US" sz="534" dirty="0"/>
          </a:p>
        </p:txBody>
      </p:sp>
      <p:sp>
        <p:nvSpPr>
          <p:cNvPr id="66" name="Text 63"/>
          <p:cNvSpPr/>
          <p:nvPr/>
        </p:nvSpPr>
        <p:spPr>
          <a:xfrm>
            <a:off x="4561954" y="2287786"/>
            <a:ext cx="1099607"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521</a:t>
            </a:r>
            <a:endParaRPr lang="en-US" sz="683" dirty="0"/>
          </a:p>
        </p:txBody>
      </p:sp>
      <p:sp>
        <p:nvSpPr>
          <p:cNvPr id="67" name="Shape 64"/>
          <p:cNvSpPr/>
          <p:nvPr/>
        </p:nvSpPr>
        <p:spPr>
          <a:xfrm>
            <a:off x="5890161" y="1481658"/>
            <a:ext cx="2825214" cy="2500313"/>
          </a:xfrm>
          <a:prstGeom prst="rect">
            <a:avLst/>
          </a:prstGeom>
          <a:solidFill>
            <a:srgbClr val="F8F9FA"/>
          </a:solidFill>
          <a:ln w="9144">
            <a:solidFill>
              <a:srgbClr val="E0E0E0"/>
            </a:solidFill>
            <a:prstDash val="solid"/>
          </a:ln>
        </p:spPr>
        <p:txBody>
          <a:bodyPr/>
          <a:lstStyle/>
          <a:p>
            <a:endParaRPr lang="en-MU"/>
          </a:p>
        </p:txBody>
      </p:sp>
      <p:pic>
        <p:nvPicPr>
          <p:cNvPr id="68" name="Image 1" descr="preencoded.png"/>
          <p:cNvPicPr>
            <a:picLocks noChangeAspect="1"/>
          </p:cNvPicPr>
          <p:nvPr/>
        </p:nvPicPr>
        <p:blipFill>
          <a:blip r:embed="rId4"/>
          <a:stretch>
            <a:fillRect/>
          </a:stretch>
        </p:blipFill>
        <p:spPr>
          <a:xfrm>
            <a:off x="5947311" y="1646467"/>
            <a:ext cx="2710914" cy="2170668"/>
          </a:xfrm>
          <a:prstGeom prst="rect">
            <a:avLst/>
          </a:prstGeom>
        </p:spPr>
      </p:pic>
      <p:sp>
        <p:nvSpPr>
          <p:cNvPr id="69" name="Shape 65"/>
          <p:cNvSpPr/>
          <p:nvPr/>
        </p:nvSpPr>
        <p:spPr>
          <a:xfrm>
            <a:off x="5890161" y="4053408"/>
            <a:ext cx="2825214" cy="522833"/>
          </a:xfrm>
          <a:prstGeom prst="rect">
            <a:avLst/>
          </a:prstGeom>
          <a:solidFill>
            <a:srgbClr val="FFF3CD"/>
          </a:solidFill>
          <a:ln/>
        </p:spPr>
        <p:txBody>
          <a:bodyPr/>
          <a:lstStyle/>
          <a:p>
            <a:endParaRPr lang="en-MU"/>
          </a:p>
        </p:txBody>
      </p:sp>
      <p:sp>
        <p:nvSpPr>
          <p:cNvPr id="70" name="Shape 66"/>
          <p:cNvSpPr/>
          <p:nvPr/>
        </p:nvSpPr>
        <p:spPr>
          <a:xfrm>
            <a:off x="5890161" y="4053408"/>
            <a:ext cx="28575" cy="522833"/>
          </a:xfrm>
          <a:prstGeom prst="rect">
            <a:avLst/>
          </a:prstGeom>
          <a:solidFill>
            <a:srgbClr val="FFA500"/>
          </a:solidFill>
          <a:ln/>
        </p:spPr>
        <p:txBody>
          <a:bodyPr/>
          <a:lstStyle/>
          <a:p>
            <a:endParaRPr lang="en-MU"/>
          </a:p>
        </p:txBody>
      </p:sp>
      <p:sp>
        <p:nvSpPr>
          <p:cNvPr id="71" name="Text 67"/>
          <p:cNvSpPr/>
          <p:nvPr/>
        </p:nvSpPr>
        <p:spPr>
          <a:xfrm>
            <a:off x="5890161" y="4053408"/>
            <a:ext cx="2825214" cy="438838"/>
          </a:xfrm>
          <a:prstGeom prst="rect">
            <a:avLst/>
          </a:prstGeom>
          <a:noFill/>
          <a:ln/>
        </p:spPr>
        <p:txBody>
          <a:bodyPr wrap="square" lIns="68072" tIns="68072" rIns="68072" bIns="68072" rtlCol="0" anchor="t">
            <a:spAutoFit/>
          </a:bodyPr>
          <a:lstStyle/>
          <a:p>
            <a:pPr marL="0" indent="0" algn="l">
              <a:lnSpc>
                <a:spcPts val="800"/>
              </a:lnSpc>
              <a:buNone/>
            </a:pPr>
            <a:r>
              <a:rPr lang="en-US" sz="534" b="1" dirty="0">
                <a:solidFill>
                  <a:srgbClr val="FFA500"/>
                </a:solidFill>
              </a:rPr>
              <a:t>Cleaning Insight:</a:t>
            </a:r>
            <a:r>
              <a:rPr lang="en-US" sz="568" dirty="0">
                <a:solidFill>
                  <a:srgbClr val="1A1A1A"/>
                </a:solidFill>
              </a:rPr>
              <a:t> Quantile-based filtering (1st-99th percentile) removes extreme outliers while preserving 95.6% of data. This method is robust and prevents model bias from unrealistic price values. Cleaned data is now ready for analysis and modeling.</a:t>
            </a:r>
            <a:endParaRPr lang="en-US" sz="5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7977"/>
            <a:ext cx="9144000" cy="5143500"/>
          </a:xfrm>
          <a:prstGeom prst="rect">
            <a:avLst/>
          </a:prstGeom>
        </p:spPr>
      </p:pic>
      <p:sp>
        <p:nvSpPr>
          <p:cNvPr id="3" name="Shape 0"/>
          <p:cNvSpPr/>
          <p:nvPr/>
        </p:nvSpPr>
        <p:spPr>
          <a:xfrm>
            <a:off x="0" y="-190384"/>
            <a:ext cx="9144000" cy="928688"/>
          </a:xfrm>
          <a:prstGeom prst="rect">
            <a:avLst/>
          </a:prstGeom>
          <a:solidFill>
            <a:srgbClr val="000000">
              <a:alpha val="0"/>
            </a:srgbClr>
          </a:solidFill>
          <a:ln/>
        </p:spPr>
        <p:txBody>
          <a:bodyPr/>
          <a:lstStyle/>
          <a:p>
            <a:endParaRPr lang="en-MU"/>
          </a:p>
        </p:txBody>
      </p:sp>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Visualizing the Landscape</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Boxplot and Histogram Charts Showing Data Distribution</a:t>
            </a:r>
            <a:endParaRPr lang="en-US" sz="987" dirty="0"/>
          </a:p>
        </p:txBody>
      </p:sp>
      <p:sp>
        <p:nvSpPr>
          <p:cNvPr id="7" name="Shape 4"/>
          <p:cNvSpPr/>
          <p:nvPr/>
        </p:nvSpPr>
        <p:spPr>
          <a:xfrm>
            <a:off x="428625" y="1028700"/>
            <a:ext cx="3514725" cy="635738"/>
          </a:xfrm>
          <a:prstGeom prst="rect">
            <a:avLst/>
          </a:prstGeom>
          <a:solidFill>
            <a:srgbClr val="F8F9FA"/>
          </a:solidFill>
          <a:ln/>
        </p:spPr>
        <p:txBody>
          <a:bodyPr/>
          <a:lstStyle/>
          <a:p>
            <a:endParaRPr lang="en-MU"/>
          </a:p>
        </p:txBody>
      </p:sp>
      <p:sp>
        <p:nvSpPr>
          <p:cNvPr id="8" name="Shape 5"/>
          <p:cNvSpPr/>
          <p:nvPr/>
        </p:nvSpPr>
        <p:spPr>
          <a:xfrm>
            <a:off x="428625" y="1028700"/>
            <a:ext cx="28575" cy="635738"/>
          </a:xfrm>
          <a:prstGeom prst="rect">
            <a:avLst/>
          </a:prstGeom>
          <a:solidFill>
            <a:srgbClr val="007BFF"/>
          </a:solidFill>
          <a:ln/>
        </p:spPr>
        <p:txBody>
          <a:bodyPr/>
          <a:lstStyle/>
          <a:p>
            <a:endParaRPr lang="en-MU"/>
          </a:p>
        </p:txBody>
      </p:sp>
      <p:sp>
        <p:nvSpPr>
          <p:cNvPr id="9" name="Shape 6"/>
          <p:cNvSpPr/>
          <p:nvPr/>
        </p:nvSpPr>
        <p:spPr>
          <a:xfrm>
            <a:off x="471488" y="1071563"/>
            <a:ext cx="3429000" cy="291443"/>
          </a:xfrm>
          <a:prstGeom prst="rect">
            <a:avLst/>
          </a:prstGeom>
          <a:solidFill>
            <a:srgbClr val="1A1A1A"/>
          </a:solidFill>
          <a:ln/>
        </p:spPr>
        <p:txBody>
          <a:bodyPr/>
          <a:lstStyle/>
          <a:p>
            <a:endParaRPr lang="en-MU"/>
          </a:p>
        </p:txBody>
      </p:sp>
      <p:sp>
        <p:nvSpPr>
          <p:cNvPr id="10" name="Text 7"/>
          <p:cNvSpPr/>
          <p:nvPr/>
        </p:nvSpPr>
        <p:spPr>
          <a:xfrm>
            <a:off x="471488" y="1071563"/>
            <a:ext cx="3429000"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#1 – Create Figure</a:t>
            </a:r>
            <a:endParaRPr lang="en-US" sz="621" dirty="0"/>
          </a:p>
          <a:p>
            <a:pPr marL="0" indent="0" algn="l">
              <a:lnSpc>
                <a:spcPts val="800"/>
              </a:lnSpc>
              <a:buNone/>
            </a:pPr>
            <a:r>
              <a:rPr lang="en-US" sz="621" dirty="0">
                <a:solidFill>
                  <a:srgbClr val="28A745"/>
                </a:solidFill>
              </a:rPr>
              <a:t>plt.figure(figsize=(12,6))</a:t>
            </a:r>
            <a:endParaRPr lang="en-US" sz="621" dirty="0"/>
          </a:p>
        </p:txBody>
      </p:sp>
      <p:sp>
        <p:nvSpPr>
          <p:cNvPr id="11" name="Text 8"/>
          <p:cNvSpPr/>
          <p:nvPr/>
        </p:nvSpPr>
        <p:spPr>
          <a:xfrm>
            <a:off x="571500" y="1380865"/>
            <a:ext cx="482398"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plt.figure():</a:t>
            </a:r>
            <a:endParaRPr lang="en-US" sz="584" dirty="0"/>
          </a:p>
        </p:txBody>
      </p:sp>
      <p:sp>
        <p:nvSpPr>
          <p:cNvPr id="12" name="Text 9"/>
          <p:cNvSpPr/>
          <p:nvPr/>
        </p:nvSpPr>
        <p:spPr>
          <a:xfrm>
            <a:off x="1053898" y="1380865"/>
            <a:ext cx="1558593"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Creates a new figure (plotting canvas).</a:t>
            </a:r>
            <a:endParaRPr lang="en-US" sz="621" dirty="0"/>
          </a:p>
        </p:txBody>
      </p:sp>
      <p:sp>
        <p:nvSpPr>
          <p:cNvPr id="13" name="Text 10"/>
          <p:cNvSpPr/>
          <p:nvPr/>
        </p:nvSpPr>
        <p:spPr>
          <a:xfrm>
            <a:off x="571500" y="1499434"/>
            <a:ext cx="434414" cy="10637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figsize=(12,6):</a:t>
            </a:r>
            <a:endParaRPr lang="en-US" sz="584" dirty="0"/>
          </a:p>
        </p:txBody>
      </p:sp>
      <p:sp>
        <p:nvSpPr>
          <p:cNvPr id="14" name="Text 11"/>
          <p:cNvSpPr/>
          <p:nvPr/>
        </p:nvSpPr>
        <p:spPr>
          <a:xfrm>
            <a:off x="1149474" y="1499434"/>
            <a:ext cx="1615827" cy="107594"/>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Sets dimensions to 12 inches wide by 6 inches tall.</a:t>
            </a:r>
            <a:endParaRPr lang="en-US" sz="621" dirty="0"/>
          </a:p>
        </p:txBody>
      </p:sp>
      <p:sp>
        <p:nvSpPr>
          <p:cNvPr id="15" name="Shape 12"/>
          <p:cNvSpPr/>
          <p:nvPr/>
        </p:nvSpPr>
        <p:spPr>
          <a:xfrm>
            <a:off x="428625" y="1707300"/>
            <a:ext cx="3514725" cy="1174310"/>
          </a:xfrm>
          <a:prstGeom prst="rect">
            <a:avLst/>
          </a:prstGeom>
          <a:solidFill>
            <a:srgbClr val="F8F9FA"/>
          </a:solidFill>
          <a:ln/>
        </p:spPr>
        <p:txBody>
          <a:bodyPr/>
          <a:lstStyle/>
          <a:p>
            <a:endParaRPr lang="en-MU"/>
          </a:p>
        </p:txBody>
      </p:sp>
      <p:sp>
        <p:nvSpPr>
          <p:cNvPr id="16" name="Shape 13"/>
          <p:cNvSpPr/>
          <p:nvPr/>
        </p:nvSpPr>
        <p:spPr>
          <a:xfrm>
            <a:off x="428625" y="1707300"/>
            <a:ext cx="28575" cy="1174310"/>
          </a:xfrm>
          <a:prstGeom prst="rect">
            <a:avLst/>
          </a:prstGeom>
          <a:solidFill>
            <a:srgbClr val="007BFF"/>
          </a:solidFill>
          <a:ln/>
        </p:spPr>
        <p:txBody>
          <a:bodyPr/>
          <a:lstStyle/>
          <a:p>
            <a:endParaRPr lang="en-MU"/>
          </a:p>
        </p:txBody>
      </p:sp>
      <p:sp>
        <p:nvSpPr>
          <p:cNvPr id="17" name="Shape 14"/>
          <p:cNvSpPr/>
          <p:nvPr/>
        </p:nvSpPr>
        <p:spPr>
          <a:xfrm>
            <a:off x="471488" y="1750164"/>
            <a:ext cx="3429000" cy="362880"/>
          </a:xfrm>
          <a:prstGeom prst="rect">
            <a:avLst/>
          </a:prstGeom>
          <a:solidFill>
            <a:srgbClr val="1A1A1A"/>
          </a:solidFill>
          <a:ln/>
        </p:spPr>
        <p:txBody>
          <a:bodyPr/>
          <a:lstStyle/>
          <a:p>
            <a:endParaRPr lang="en-MU"/>
          </a:p>
        </p:txBody>
      </p:sp>
      <p:sp>
        <p:nvSpPr>
          <p:cNvPr id="18" name="Text 15"/>
          <p:cNvSpPr/>
          <p:nvPr/>
        </p:nvSpPr>
        <p:spPr>
          <a:xfrm>
            <a:off x="471488" y="1750163"/>
            <a:ext cx="3429000" cy="406265"/>
          </a:xfrm>
          <a:prstGeom prst="rect">
            <a:avLst/>
          </a:prstGeom>
          <a:noFill/>
          <a:ln/>
        </p:spPr>
        <p:txBody>
          <a:bodyPr wrap="square" lIns="68072" tIns="51054" rIns="68072" bIns="51054" rtlCol="0" anchor="t">
            <a:spAutoFit/>
          </a:bodyPr>
          <a:lstStyle/>
          <a:p>
            <a:pPr>
              <a:lnSpc>
                <a:spcPts val="800"/>
              </a:lnSpc>
            </a:pPr>
            <a:r>
              <a:rPr lang="en-US" sz="621" dirty="0" err="1">
                <a:solidFill>
                  <a:srgbClr val="28A745"/>
                </a:solidFill>
              </a:rPr>
              <a:t>plt.subplot</a:t>
            </a:r>
            <a:r>
              <a:rPr lang="en-US" sz="621" dirty="0">
                <a:solidFill>
                  <a:srgbClr val="28A745"/>
                </a:solidFill>
              </a:rPr>
              <a:t>(1,2,2)</a:t>
            </a:r>
          </a:p>
          <a:p>
            <a:pPr>
              <a:lnSpc>
                <a:spcPts val="800"/>
              </a:lnSpc>
            </a:pPr>
            <a:r>
              <a:rPr lang="en-US" sz="621" dirty="0" err="1">
                <a:solidFill>
                  <a:srgbClr val="28A745"/>
                </a:solidFill>
              </a:rPr>
              <a:t>sns.boxplot</a:t>
            </a:r>
            <a:r>
              <a:rPr lang="en-US" sz="621" dirty="0">
                <a:solidFill>
                  <a:srgbClr val="28A745"/>
                </a:solidFill>
              </a:rPr>
              <a:t>(y=</a:t>
            </a:r>
            <a:r>
              <a:rPr lang="en-US" sz="621" dirty="0" err="1">
                <a:solidFill>
                  <a:srgbClr val="28A745"/>
                </a:solidFill>
              </a:rPr>
              <a:t>df</a:t>
            </a:r>
            <a:r>
              <a:rPr lang="en-US" sz="621" dirty="0">
                <a:solidFill>
                  <a:srgbClr val="28A745"/>
                </a:solidFill>
              </a:rPr>
              <a:t>['area'])</a:t>
            </a:r>
          </a:p>
          <a:p>
            <a:pPr>
              <a:lnSpc>
                <a:spcPts val="800"/>
              </a:lnSpc>
            </a:pPr>
            <a:r>
              <a:rPr lang="en-US" sz="621" dirty="0" err="1">
                <a:solidFill>
                  <a:srgbClr val="28A745"/>
                </a:solidFill>
              </a:rPr>
              <a:t>plt.title</a:t>
            </a:r>
            <a:r>
              <a:rPr lang="en-US" sz="621" dirty="0">
                <a:solidFill>
                  <a:srgbClr val="28A745"/>
                </a:solidFill>
              </a:rPr>
              <a:t>('Boxplot of House Area')</a:t>
            </a:r>
            <a:endParaRPr lang="en-US" sz="621" dirty="0"/>
          </a:p>
        </p:txBody>
      </p:sp>
      <p:sp>
        <p:nvSpPr>
          <p:cNvPr id="19" name="Text 16"/>
          <p:cNvSpPr/>
          <p:nvPr/>
        </p:nvSpPr>
        <p:spPr>
          <a:xfrm>
            <a:off x="571500" y="2156428"/>
            <a:ext cx="559449" cy="10637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plt.subplot(1,2,2):</a:t>
            </a:r>
            <a:endParaRPr lang="en-US" sz="584" dirty="0"/>
          </a:p>
        </p:txBody>
      </p:sp>
      <p:sp>
        <p:nvSpPr>
          <p:cNvPr id="20" name="Text 17"/>
          <p:cNvSpPr/>
          <p:nvPr/>
        </p:nvSpPr>
        <p:spPr>
          <a:xfrm>
            <a:off x="1315957" y="2156428"/>
            <a:ext cx="1622239" cy="107594"/>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Creates 1 row, 2 columns, position 2 (left subplot).</a:t>
            </a:r>
            <a:endParaRPr lang="en-US" sz="621" dirty="0"/>
          </a:p>
        </p:txBody>
      </p:sp>
      <p:sp>
        <p:nvSpPr>
          <p:cNvPr id="21" name="Text 18"/>
          <p:cNvSpPr/>
          <p:nvPr/>
        </p:nvSpPr>
        <p:spPr>
          <a:xfrm>
            <a:off x="582137" y="2274997"/>
            <a:ext cx="426399" cy="106376"/>
          </a:xfrm>
          <a:prstGeom prst="rect">
            <a:avLst/>
          </a:prstGeom>
          <a:noFill/>
          <a:ln/>
        </p:spPr>
        <p:txBody>
          <a:bodyPr wrap="none" lIns="0" tIns="0" rIns="0" bIns="0" rtlCol="0" anchor="t">
            <a:spAutoFit/>
          </a:bodyPr>
          <a:lstStyle/>
          <a:p>
            <a:pPr marL="0" indent="0" algn="l">
              <a:lnSpc>
                <a:spcPts val="900"/>
              </a:lnSpc>
              <a:buNone/>
            </a:pPr>
            <a:r>
              <a:rPr lang="en-US" sz="584" b="1" dirty="0" err="1">
                <a:solidFill>
                  <a:srgbClr val="1A1A1A"/>
                </a:solidFill>
              </a:rPr>
              <a:t>sns.boxplot</a:t>
            </a:r>
            <a:r>
              <a:rPr lang="en-US" sz="584" b="1" dirty="0">
                <a:solidFill>
                  <a:srgbClr val="1A1A1A"/>
                </a:solidFill>
              </a:rPr>
              <a:t>():</a:t>
            </a:r>
            <a:endParaRPr lang="en-US" sz="584" dirty="0"/>
          </a:p>
        </p:txBody>
      </p:sp>
      <p:sp>
        <p:nvSpPr>
          <p:cNvPr id="22" name="Text 19"/>
          <p:cNvSpPr/>
          <p:nvPr/>
        </p:nvSpPr>
        <p:spPr>
          <a:xfrm>
            <a:off x="1132596" y="2274997"/>
            <a:ext cx="1989451"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Creates a boxplot showing quartiles and outliers.</a:t>
            </a:r>
            <a:endParaRPr lang="en-US" sz="621" dirty="0"/>
          </a:p>
        </p:txBody>
      </p:sp>
      <p:sp>
        <p:nvSpPr>
          <p:cNvPr id="23" name="Text 20"/>
          <p:cNvSpPr/>
          <p:nvPr/>
        </p:nvSpPr>
        <p:spPr>
          <a:xfrm>
            <a:off x="571500" y="2583233"/>
            <a:ext cx="64475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Interpretation:</a:t>
            </a:r>
            <a:endParaRPr lang="en-US" sz="584" dirty="0"/>
          </a:p>
        </p:txBody>
      </p:sp>
      <p:sp>
        <p:nvSpPr>
          <p:cNvPr id="24" name="Text 21"/>
          <p:cNvSpPr/>
          <p:nvPr/>
        </p:nvSpPr>
        <p:spPr>
          <a:xfrm>
            <a:off x="571500" y="2690388"/>
            <a:ext cx="3325471" cy="107594"/>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Most Houses cluster between about 3500 and 6500 sq ft.</a:t>
            </a:r>
            <a:endParaRPr lang="en-US" sz="621" dirty="0"/>
          </a:p>
        </p:txBody>
      </p:sp>
      <p:sp>
        <p:nvSpPr>
          <p:cNvPr id="25" name="Shape 22"/>
          <p:cNvSpPr/>
          <p:nvPr/>
        </p:nvSpPr>
        <p:spPr>
          <a:xfrm>
            <a:off x="428625" y="2924473"/>
            <a:ext cx="3514725" cy="1395738"/>
          </a:xfrm>
          <a:prstGeom prst="rect">
            <a:avLst/>
          </a:prstGeom>
          <a:solidFill>
            <a:srgbClr val="F8F9FA"/>
          </a:solidFill>
          <a:ln/>
        </p:spPr>
        <p:txBody>
          <a:bodyPr/>
          <a:lstStyle/>
          <a:p>
            <a:endParaRPr lang="en-MU"/>
          </a:p>
        </p:txBody>
      </p:sp>
      <p:sp>
        <p:nvSpPr>
          <p:cNvPr id="26" name="Shape 23"/>
          <p:cNvSpPr/>
          <p:nvPr/>
        </p:nvSpPr>
        <p:spPr>
          <a:xfrm>
            <a:off x="428625" y="2924473"/>
            <a:ext cx="28575" cy="1395738"/>
          </a:xfrm>
          <a:prstGeom prst="rect">
            <a:avLst/>
          </a:prstGeom>
          <a:solidFill>
            <a:srgbClr val="007BFF"/>
          </a:solidFill>
          <a:ln/>
        </p:spPr>
        <p:txBody>
          <a:bodyPr/>
          <a:lstStyle/>
          <a:p>
            <a:endParaRPr lang="en-MU"/>
          </a:p>
        </p:txBody>
      </p:sp>
      <p:sp>
        <p:nvSpPr>
          <p:cNvPr id="27" name="Shape 24"/>
          <p:cNvSpPr/>
          <p:nvPr/>
        </p:nvSpPr>
        <p:spPr>
          <a:xfrm>
            <a:off x="471488" y="2967335"/>
            <a:ext cx="3429000" cy="702878"/>
          </a:xfrm>
          <a:prstGeom prst="rect">
            <a:avLst/>
          </a:prstGeom>
          <a:solidFill>
            <a:srgbClr val="1A1A1A"/>
          </a:solidFill>
          <a:ln/>
        </p:spPr>
        <p:txBody>
          <a:bodyPr/>
          <a:lstStyle/>
          <a:p>
            <a:endParaRPr lang="en-MU"/>
          </a:p>
        </p:txBody>
      </p:sp>
      <p:sp>
        <p:nvSpPr>
          <p:cNvPr id="28" name="Text 25"/>
          <p:cNvSpPr/>
          <p:nvPr/>
        </p:nvSpPr>
        <p:spPr>
          <a:xfrm>
            <a:off x="471488" y="2967335"/>
            <a:ext cx="3429000" cy="611449"/>
          </a:xfrm>
          <a:prstGeom prst="rect">
            <a:avLst/>
          </a:prstGeom>
          <a:noFill/>
          <a:ln/>
        </p:spPr>
        <p:txBody>
          <a:bodyPr wrap="square" lIns="68072" tIns="51054" rIns="68072" bIns="51054" rtlCol="0" anchor="t">
            <a:spAutoFit/>
          </a:bodyPr>
          <a:lstStyle/>
          <a:p>
            <a:pPr>
              <a:lnSpc>
                <a:spcPts val="800"/>
              </a:lnSpc>
            </a:pPr>
            <a:r>
              <a:rPr lang="en-US" sz="621" dirty="0" err="1">
                <a:solidFill>
                  <a:srgbClr val="28A745"/>
                </a:solidFill>
              </a:rPr>
              <a:t>plt.figure</a:t>
            </a:r>
            <a:r>
              <a:rPr lang="en-US" sz="621" dirty="0">
                <a:solidFill>
                  <a:srgbClr val="28A745"/>
                </a:solidFill>
              </a:rPr>
              <a:t>(figsize=(8,5))</a:t>
            </a:r>
          </a:p>
          <a:p>
            <a:pPr>
              <a:lnSpc>
                <a:spcPts val="800"/>
              </a:lnSpc>
            </a:pPr>
            <a:r>
              <a:rPr lang="en-US" sz="621" dirty="0" err="1">
                <a:solidFill>
                  <a:srgbClr val="28A745"/>
                </a:solidFill>
              </a:rPr>
              <a:t>sns.histplot</a:t>
            </a:r>
            <a:r>
              <a:rPr lang="en-US" sz="621" dirty="0">
                <a:solidFill>
                  <a:srgbClr val="28A745"/>
                </a:solidFill>
              </a:rPr>
              <a:t>(</a:t>
            </a:r>
            <a:r>
              <a:rPr lang="en-US" sz="621" dirty="0" err="1">
                <a:solidFill>
                  <a:srgbClr val="28A745"/>
                </a:solidFill>
              </a:rPr>
              <a:t>df_clean</a:t>
            </a:r>
            <a:r>
              <a:rPr lang="en-US" sz="621" dirty="0">
                <a:solidFill>
                  <a:srgbClr val="28A745"/>
                </a:solidFill>
              </a:rPr>
              <a:t>['price'], </a:t>
            </a:r>
            <a:r>
              <a:rPr lang="en-US" sz="621" dirty="0" err="1">
                <a:solidFill>
                  <a:srgbClr val="28A745"/>
                </a:solidFill>
              </a:rPr>
              <a:t>kde</a:t>
            </a:r>
            <a:r>
              <a:rPr lang="en-US" sz="621" dirty="0">
                <a:solidFill>
                  <a:srgbClr val="28A745"/>
                </a:solidFill>
              </a:rPr>
              <a:t>=True)</a:t>
            </a:r>
          </a:p>
          <a:p>
            <a:pPr>
              <a:lnSpc>
                <a:spcPts val="800"/>
              </a:lnSpc>
            </a:pPr>
            <a:r>
              <a:rPr lang="en-US" sz="621" dirty="0" err="1">
                <a:solidFill>
                  <a:srgbClr val="28A745"/>
                </a:solidFill>
              </a:rPr>
              <a:t>plt.title</a:t>
            </a:r>
            <a:r>
              <a:rPr lang="en-US" sz="621" dirty="0">
                <a:solidFill>
                  <a:srgbClr val="28A745"/>
                </a:solidFill>
              </a:rPr>
              <a:t>("Distribution of House Prices")</a:t>
            </a:r>
          </a:p>
          <a:p>
            <a:pPr>
              <a:lnSpc>
                <a:spcPts val="800"/>
              </a:lnSpc>
            </a:pPr>
            <a:r>
              <a:rPr lang="en-US" sz="621" dirty="0" err="1">
                <a:solidFill>
                  <a:srgbClr val="28A745"/>
                </a:solidFill>
              </a:rPr>
              <a:t>plt.show</a:t>
            </a:r>
            <a:r>
              <a:rPr lang="en-US" sz="621" dirty="0">
                <a:solidFill>
                  <a:srgbClr val="28A745"/>
                </a:solidFill>
              </a:rPr>
              <a:t>()</a:t>
            </a:r>
          </a:p>
          <a:p>
            <a:pPr marL="0" indent="0" algn="l">
              <a:lnSpc>
                <a:spcPts val="800"/>
              </a:lnSpc>
              <a:buNone/>
            </a:pPr>
            <a:endParaRPr lang="en-US" sz="621" dirty="0"/>
          </a:p>
        </p:txBody>
      </p:sp>
      <p:sp>
        <p:nvSpPr>
          <p:cNvPr id="29" name="Text 26"/>
          <p:cNvSpPr/>
          <p:nvPr/>
        </p:nvSpPr>
        <p:spPr>
          <a:xfrm>
            <a:off x="571500" y="3688073"/>
            <a:ext cx="325410" cy="106376"/>
          </a:xfrm>
          <a:prstGeom prst="rect">
            <a:avLst/>
          </a:prstGeom>
          <a:noFill/>
          <a:ln/>
        </p:spPr>
        <p:txBody>
          <a:bodyPr wrap="none" lIns="0" tIns="0" rIns="0" bIns="0" rtlCol="0" anchor="t">
            <a:spAutoFit/>
          </a:bodyPr>
          <a:lstStyle/>
          <a:p>
            <a:pPr marL="0" indent="0" algn="l">
              <a:lnSpc>
                <a:spcPts val="900"/>
              </a:lnSpc>
              <a:buNone/>
            </a:pPr>
            <a:r>
              <a:rPr lang="en-US" sz="584" b="1" dirty="0" err="1">
                <a:solidFill>
                  <a:srgbClr val="1A1A1A"/>
                </a:solidFill>
              </a:rPr>
              <a:t>plt.figure</a:t>
            </a:r>
            <a:r>
              <a:rPr lang="en-US" sz="584" b="1" dirty="0">
                <a:solidFill>
                  <a:srgbClr val="1A1A1A"/>
                </a:solidFill>
              </a:rPr>
              <a:t>.:</a:t>
            </a:r>
            <a:endParaRPr lang="en-US" sz="584" dirty="0"/>
          </a:p>
        </p:txBody>
      </p:sp>
      <p:sp>
        <p:nvSpPr>
          <p:cNvPr id="30" name="Text 27"/>
          <p:cNvSpPr/>
          <p:nvPr/>
        </p:nvSpPr>
        <p:spPr>
          <a:xfrm>
            <a:off x="1315957" y="3688073"/>
            <a:ext cx="1705595" cy="107594"/>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Sets the figure size to 8 inches wide and 5 inches tall.</a:t>
            </a:r>
            <a:endParaRPr lang="en-US" sz="621" dirty="0"/>
          </a:p>
        </p:txBody>
      </p:sp>
      <p:sp>
        <p:nvSpPr>
          <p:cNvPr id="31" name="Text 28"/>
          <p:cNvSpPr/>
          <p:nvPr/>
        </p:nvSpPr>
        <p:spPr>
          <a:xfrm>
            <a:off x="571500" y="3806642"/>
            <a:ext cx="302968" cy="106376"/>
          </a:xfrm>
          <a:prstGeom prst="rect">
            <a:avLst/>
          </a:prstGeom>
          <a:noFill/>
          <a:ln/>
        </p:spPr>
        <p:txBody>
          <a:bodyPr wrap="none" lIns="0" tIns="0" rIns="0" bIns="0" rtlCol="0" anchor="t">
            <a:spAutoFit/>
          </a:bodyPr>
          <a:lstStyle/>
          <a:p>
            <a:pPr marL="0" indent="0" algn="l">
              <a:lnSpc>
                <a:spcPts val="900"/>
              </a:lnSpc>
              <a:buNone/>
            </a:pPr>
            <a:r>
              <a:rPr lang="en-US" sz="584" b="1" dirty="0" err="1">
                <a:solidFill>
                  <a:srgbClr val="1A1A1A"/>
                </a:solidFill>
              </a:rPr>
              <a:t>sns.hist</a:t>
            </a:r>
            <a:r>
              <a:rPr lang="en-US" sz="584" b="1" dirty="0">
                <a:solidFill>
                  <a:srgbClr val="1A1A1A"/>
                </a:solidFill>
              </a:rPr>
              <a:t>():</a:t>
            </a:r>
            <a:endParaRPr lang="en-US" sz="584" dirty="0"/>
          </a:p>
        </p:txBody>
      </p:sp>
      <p:sp>
        <p:nvSpPr>
          <p:cNvPr id="32" name="Text 29"/>
          <p:cNvSpPr/>
          <p:nvPr/>
        </p:nvSpPr>
        <p:spPr>
          <a:xfrm>
            <a:off x="958379" y="3806642"/>
            <a:ext cx="2891817" cy="107594"/>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Uses Seaborn’s </a:t>
            </a:r>
            <a:r>
              <a:rPr lang="en-US" sz="621" dirty="0" err="1">
                <a:solidFill>
                  <a:srgbClr val="495057"/>
                </a:solidFill>
              </a:rPr>
              <a:t>histplot</a:t>
            </a:r>
            <a:r>
              <a:rPr lang="en-US" sz="621" dirty="0">
                <a:solidFill>
                  <a:srgbClr val="495057"/>
                </a:solidFill>
              </a:rPr>
              <a:t> to plot a histogram of the price column from </a:t>
            </a:r>
            <a:r>
              <a:rPr lang="en-US" sz="621" dirty="0" err="1">
                <a:solidFill>
                  <a:srgbClr val="495057"/>
                </a:solidFill>
              </a:rPr>
              <a:t>df_clean</a:t>
            </a:r>
            <a:r>
              <a:rPr lang="en-US" sz="621" dirty="0">
                <a:solidFill>
                  <a:srgbClr val="495057"/>
                </a:solidFill>
              </a:rPr>
              <a:t> </a:t>
            </a:r>
            <a:r>
              <a:rPr lang="en-US" sz="621" dirty="0" err="1">
                <a:solidFill>
                  <a:srgbClr val="495057"/>
                </a:solidFill>
              </a:rPr>
              <a:t>DataFrame</a:t>
            </a:r>
            <a:r>
              <a:rPr lang="en-US" sz="621" dirty="0">
                <a:solidFill>
                  <a:srgbClr val="495057"/>
                </a:solidFill>
              </a:rPr>
              <a:t>.</a:t>
            </a:r>
            <a:endParaRPr lang="en-US" sz="621" dirty="0"/>
          </a:p>
        </p:txBody>
      </p:sp>
      <p:sp>
        <p:nvSpPr>
          <p:cNvPr id="33" name="Text 30"/>
          <p:cNvSpPr/>
          <p:nvPr/>
        </p:nvSpPr>
        <p:spPr>
          <a:xfrm>
            <a:off x="571500" y="3925212"/>
            <a:ext cx="267702" cy="106376"/>
          </a:xfrm>
          <a:prstGeom prst="rect">
            <a:avLst/>
          </a:prstGeom>
          <a:noFill/>
          <a:ln/>
        </p:spPr>
        <p:txBody>
          <a:bodyPr wrap="none" lIns="0" tIns="0" rIns="0" bIns="0" rtlCol="0" anchor="t">
            <a:spAutoFit/>
          </a:bodyPr>
          <a:lstStyle/>
          <a:p>
            <a:pPr marL="0" indent="0" algn="l">
              <a:lnSpc>
                <a:spcPts val="900"/>
              </a:lnSpc>
              <a:buNone/>
            </a:pPr>
            <a:r>
              <a:rPr lang="en-US" sz="584" b="1" dirty="0" err="1">
                <a:solidFill>
                  <a:srgbClr val="1A1A1A"/>
                </a:solidFill>
              </a:rPr>
              <a:t>Plt.title</a:t>
            </a:r>
            <a:r>
              <a:rPr lang="en-US" sz="584" b="1" dirty="0">
                <a:solidFill>
                  <a:srgbClr val="1A1A1A"/>
                </a:solidFill>
              </a:rPr>
              <a:t>.:</a:t>
            </a:r>
            <a:endParaRPr lang="en-US" sz="584" dirty="0"/>
          </a:p>
        </p:txBody>
      </p:sp>
      <p:sp>
        <p:nvSpPr>
          <p:cNvPr id="34" name="Text 31"/>
          <p:cNvSpPr/>
          <p:nvPr/>
        </p:nvSpPr>
        <p:spPr>
          <a:xfrm>
            <a:off x="922381" y="3925212"/>
            <a:ext cx="1101264" cy="107594"/>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Add a descriptive title to  the plot.</a:t>
            </a:r>
            <a:endParaRPr lang="en-US" sz="621" dirty="0"/>
          </a:p>
        </p:txBody>
      </p:sp>
      <p:sp>
        <p:nvSpPr>
          <p:cNvPr id="37" name="Shape 34"/>
          <p:cNvSpPr/>
          <p:nvPr/>
        </p:nvSpPr>
        <p:spPr>
          <a:xfrm>
            <a:off x="4157663" y="1028700"/>
            <a:ext cx="4557713" cy="2155627"/>
          </a:xfrm>
          <a:prstGeom prst="rect">
            <a:avLst/>
          </a:prstGeom>
          <a:solidFill>
            <a:srgbClr val="F8F9FA"/>
          </a:solidFill>
          <a:ln w="9144">
            <a:solidFill>
              <a:srgbClr val="E0E0E0"/>
            </a:solidFill>
            <a:prstDash val="solid"/>
          </a:ln>
        </p:spPr>
        <p:txBody>
          <a:bodyPr/>
          <a:lstStyle/>
          <a:p>
            <a:endParaRPr lang="en-MU"/>
          </a:p>
        </p:txBody>
      </p:sp>
      <p:sp>
        <p:nvSpPr>
          <p:cNvPr id="41" name="Shape 36"/>
          <p:cNvSpPr/>
          <p:nvPr/>
        </p:nvSpPr>
        <p:spPr>
          <a:xfrm>
            <a:off x="4171950" y="3255764"/>
            <a:ext cx="4543425" cy="588578"/>
          </a:xfrm>
          <a:prstGeom prst="rect">
            <a:avLst/>
          </a:prstGeom>
          <a:solidFill>
            <a:srgbClr val="E6F0FF"/>
          </a:solidFill>
          <a:ln/>
        </p:spPr>
        <p:txBody>
          <a:bodyPr/>
          <a:lstStyle/>
          <a:p>
            <a:endParaRPr lang="en-MU" dirty="0"/>
          </a:p>
        </p:txBody>
      </p:sp>
      <p:sp>
        <p:nvSpPr>
          <p:cNvPr id="42" name="Shape 37"/>
          <p:cNvSpPr/>
          <p:nvPr/>
        </p:nvSpPr>
        <p:spPr>
          <a:xfrm>
            <a:off x="4171950" y="3255764"/>
            <a:ext cx="28575" cy="588578"/>
          </a:xfrm>
          <a:prstGeom prst="rect">
            <a:avLst/>
          </a:prstGeom>
          <a:solidFill>
            <a:srgbClr val="007BFF"/>
          </a:solidFill>
          <a:ln/>
        </p:spPr>
        <p:txBody>
          <a:bodyPr/>
          <a:lstStyle/>
          <a:p>
            <a:endParaRPr lang="en-MU"/>
          </a:p>
        </p:txBody>
      </p:sp>
      <p:sp>
        <p:nvSpPr>
          <p:cNvPr id="43" name="Text 38"/>
          <p:cNvSpPr/>
          <p:nvPr/>
        </p:nvSpPr>
        <p:spPr>
          <a:xfrm>
            <a:off x="4171950" y="3255764"/>
            <a:ext cx="4543425" cy="510268"/>
          </a:xfrm>
          <a:prstGeom prst="rect">
            <a:avLst/>
          </a:prstGeom>
          <a:noFill/>
          <a:ln/>
        </p:spPr>
        <p:txBody>
          <a:bodyPr wrap="square" lIns="85090" tIns="85090" rIns="85090" bIns="85090" rtlCol="0" anchor="t">
            <a:spAutoFit/>
          </a:bodyPr>
          <a:lstStyle/>
          <a:p>
            <a:pPr>
              <a:lnSpc>
                <a:spcPts val="900"/>
              </a:lnSpc>
            </a:pPr>
            <a:r>
              <a:rPr lang="en-US" sz="584" b="1" dirty="0">
                <a:solidFill>
                  <a:srgbClr val="007BFF"/>
                </a:solidFill>
              </a:rPr>
              <a:t>Interpretation:</a:t>
            </a:r>
            <a:r>
              <a:rPr lang="en-US" sz="621" dirty="0">
                <a:solidFill>
                  <a:srgbClr val="495057"/>
                </a:solidFill>
              </a:rPr>
              <a:t> Most Houses are priced between 3 and 5 million. Very few houses are priced above 7 Million. Peaks around 4 million. The curve is right-skewed, meaning there are a few very expensive houses pulling the tail to the right</a:t>
            </a:r>
          </a:p>
          <a:p>
            <a:pPr marL="0" indent="0" algn="l">
              <a:lnSpc>
                <a:spcPts val="900"/>
              </a:lnSpc>
              <a:buNone/>
            </a:pPr>
            <a:endParaRPr lang="en-US" sz="584" dirty="0"/>
          </a:p>
        </p:txBody>
      </p:sp>
      <p:pic>
        <p:nvPicPr>
          <p:cNvPr id="45" name="Picture 44" descr="A diagram of a house price">
            <a:extLst>
              <a:ext uri="{FF2B5EF4-FFF2-40B4-BE49-F238E27FC236}">
                <a16:creationId xmlns:a16="http://schemas.microsoft.com/office/drawing/2014/main" id="{424C15B3-EF6D-6C4E-1E1A-2B69DC1BC8FA}"/>
              </a:ext>
            </a:extLst>
          </p:cNvPr>
          <p:cNvPicPr>
            <a:picLocks noChangeAspect="1"/>
          </p:cNvPicPr>
          <p:nvPr/>
        </p:nvPicPr>
        <p:blipFill>
          <a:blip r:embed="rId4"/>
          <a:stretch>
            <a:fillRect/>
          </a:stretch>
        </p:blipFill>
        <p:spPr>
          <a:xfrm>
            <a:off x="6331914" y="1102018"/>
            <a:ext cx="2318344" cy="1588370"/>
          </a:xfrm>
          <a:prstGeom prst="rect">
            <a:avLst/>
          </a:prstGeom>
        </p:spPr>
      </p:pic>
      <p:pic>
        <p:nvPicPr>
          <p:cNvPr id="47" name="Picture 46" descr="A diagram of a bar graph&#10;&#10;AI-generated content may be incorrect.">
            <a:extLst>
              <a:ext uri="{FF2B5EF4-FFF2-40B4-BE49-F238E27FC236}">
                <a16:creationId xmlns:a16="http://schemas.microsoft.com/office/drawing/2014/main" id="{DC060729-18C4-DDFF-6848-1E3D1B1C9D2E}"/>
              </a:ext>
            </a:extLst>
          </p:cNvPr>
          <p:cNvPicPr>
            <a:picLocks noChangeAspect="1"/>
          </p:cNvPicPr>
          <p:nvPr/>
        </p:nvPicPr>
        <p:blipFill>
          <a:blip r:embed="rId5"/>
          <a:stretch>
            <a:fillRect/>
          </a:stretch>
        </p:blipFill>
        <p:spPr>
          <a:xfrm>
            <a:off x="4642932" y="1148904"/>
            <a:ext cx="1142504" cy="1494597"/>
          </a:xfrm>
          <a:prstGeom prst="rect">
            <a:avLst/>
          </a:prstGeom>
        </p:spPr>
      </p:pic>
      <p:sp>
        <p:nvSpPr>
          <p:cNvPr id="54" name="Text 18">
            <a:extLst>
              <a:ext uri="{FF2B5EF4-FFF2-40B4-BE49-F238E27FC236}">
                <a16:creationId xmlns:a16="http://schemas.microsoft.com/office/drawing/2014/main" id="{EB775EBB-B3B0-9868-12A5-CE00D2F5CEAA}"/>
              </a:ext>
            </a:extLst>
          </p:cNvPr>
          <p:cNvSpPr/>
          <p:nvPr/>
        </p:nvSpPr>
        <p:spPr>
          <a:xfrm>
            <a:off x="580490" y="2427397"/>
            <a:ext cx="248466" cy="106376"/>
          </a:xfrm>
          <a:prstGeom prst="rect">
            <a:avLst/>
          </a:prstGeom>
          <a:noFill/>
          <a:ln/>
        </p:spPr>
        <p:txBody>
          <a:bodyPr wrap="none" lIns="0" tIns="0" rIns="0" bIns="0" rtlCol="0" anchor="t">
            <a:spAutoFit/>
          </a:bodyPr>
          <a:lstStyle/>
          <a:p>
            <a:pPr marL="0" indent="0" algn="l">
              <a:lnSpc>
                <a:spcPts val="900"/>
              </a:lnSpc>
              <a:buNone/>
            </a:pPr>
            <a:r>
              <a:rPr lang="en-US" sz="584" b="1" dirty="0" err="1">
                <a:solidFill>
                  <a:srgbClr val="1A1A1A"/>
                </a:solidFill>
              </a:rPr>
              <a:t>Plt.title</a:t>
            </a:r>
            <a:r>
              <a:rPr lang="en-US" sz="584" b="1" dirty="0">
                <a:solidFill>
                  <a:srgbClr val="1A1A1A"/>
                </a:solidFill>
              </a:rPr>
              <a:t>:</a:t>
            </a:r>
            <a:endParaRPr lang="en-US" sz="584" dirty="0"/>
          </a:p>
        </p:txBody>
      </p:sp>
      <p:sp>
        <p:nvSpPr>
          <p:cNvPr id="55" name="Text 19">
            <a:extLst>
              <a:ext uri="{FF2B5EF4-FFF2-40B4-BE49-F238E27FC236}">
                <a16:creationId xmlns:a16="http://schemas.microsoft.com/office/drawing/2014/main" id="{3DC0D72D-57E8-C1A4-4C2B-8396D340A961}"/>
              </a:ext>
            </a:extLst>
          </p:cNvPr>
          <p:cNvSpPr/>
          <p:nvPr/>
        </p:nvSpPr>
        <p:spPr>
          <a:xfrm>
            <a:off x="1130949" y="2427397"/>
            <a:ext cx="888064" cy="107594"/>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It give the subplot a name. </a:t>
            </a:r>
            <a:endParaRPr lang="en-US" sz="62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0" y="0"/>
            <a:ext cx="9144000" cy="928688"/>
          </a:xfrm>
          <a:prstGeom prst="rect">
            <a:avLst/>
          </a:prstGeom>
          <a:solidFill>
            <a:srgbClr val="000000">
              <a:alpha val="0"/>
            </a:srgbClr>
          </a:solidFill>
          <a:ln/>
        </p:spPr>
        <p:txBody>
          <a:bodyPr/>
          <a:lstStyle/>
          <a:p>
            <a:endParaRPr lang="en-MU"/>
          </a:p>
        </p:txBody>
      </p:sp>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Feature Relationships: Correlation Analysis</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Interactive Correlation Heatmap Showing Which Features Most Strongly Predict House Prices</a:t>
            </a:r>
            <a:endParaRPr lang="en-US" sz="987" dirty="0"/>
          </a:p>
        </p:txBody>
      </p:sp>
      <p:sp>
        <p:nvSpPr>
          <p:cNvPr id="7" name="Shape 4"/>
          <p:cNvSpPr/>
          <p:nvPr/>
        </p:nvSpPr>
        <p:spPr>
          <a:xfrm>
            <a:off x="428625" y="1000125"/>
            <a:ext cx="3834408" cy="955728"/>
          </a:xfrm>
          <a:prstGeom prst="rect">
            <a:avLst/>
          </a:prstGeom>
          <a:solidFill>
            <a:srgbClr val="F8F9FA"/>
          </a:solidFill>
          <a:ln/>
        </p:spPr>
        <p:txBody>
          <a:bodyPr/>
          <a:lstStyle/>
          <a:p>
            <a:endParaRPr lang="en-MU"/>
          </a:p>
        </p:txBody>
      </p:sp>
      <p:sp>
        <p:nvSpPr>
          <p:cNvPr id="8" name="Shape 5"/>
          <p:cNvSpPr/>
          <p:nvPr/>
        </p:nvSpPr>
        <p:spPr>
          <a:xfrm>
            <a:off x="428625" y="1000125"/>
            <a:ext cx="28575" cy="955728"/>
          </a:xfrm>
          <a:prstGeom prst="rect">
            <a:avLst/>
          </a:prstGeom>
          <a:solidFill>
            <a:srgbClr val="007BFF"/>
          </a:solidFill>
          <a:ln/>
        </p:spPr>
        <p:txBody>
          <a:bodyPr/>
          <a:lstStyle/>
          <a:p>
            <a:endParaRPr lang="en-MU"/>
          </a:p>
        </p:txBody>
      </p:sp>
      <p:sp>
        <p:nvSpPr>
          <p:cNvPr id="9" name="Shape 6"/>
          <p:cNvSpPr/>
          <p:nvPr/>
        </p:nvSpPr>
        <p:spPr>
          <a:xfrm>
            <a:off x="471488" y="1042988"/>
            <a:ext cx="3748683" cy="262868"/>
          </a:xfrm>
          <a:prstGeom prst="rect">
            <a:avLst/>
          </a:prstGeom>
          <a:solidFill>
            <a:srgbClr val="1A1A1A"/>
          </a:solidFill>
          <a:ln/>
        </p:spPr>
        <p:txBody>
          <a:bodyPr/>
          <a:lstStyle/>
          <a:p>
            <a:endParaRPr lang="en-MU"/>
          </a:p>
        </p:txBody>
      </p:sp>
      <p:sp>
        <p:nvSpPr>
          <p:cNvPr id="10" name="Text 7"/>
          <p:cNvSpPr/>
          <p:nvPr/>
        </p:nvSpPr>
        <p:spPr>
          <a:xfrm>
            <a:off x="471488" y="1042988"/>
            <a:ext cx="3748683" cy="269304"/>
          </a:xfrm>
          <a:prstGeom prst="rect">
            <a:avLst/>
          </a:prstGeom>
          <a:noFill/>
          <a:ln/>
        </p:spPr>
        <p:txBody>
          <a:bodyPr wrap="square" lIns="68072" tIns="34036" rIns="68072" bIns="34036" rtlCol="0" anchor="t">
            <a:spAutoFit/>
          </a:bodyPr>
          <a:lstStyle/>
          <a:p>
            <a:pPr marL="0" indent="0" algn="l">
              <a:lnSpc>
                <a:spcPts val="800"/>
              </a:lnSpc>
              <a:buNone/>
            </a:pPr>
            <a:r>
              <a:rPr lang="en-US" sz="621" dirty="0">
                <a:solidFill>
                  <a:srgbClr val="28A745"/>
                </a:solidFill>
              </a:rPr>
              <a:t>#1</a:t>
            </a:r>
            <a:endParaRPr lang="en-US" sz="621" dirty="0"/>
          </a:p>
          <a:p>
            <a:pPr>
              <a:lnSpc>
                <a:spcPts val="800"/>
              </a:lnSpc>
            </a:pPr>
            <a:r>
              <a:rPr lang="en-US" sz="621" dirty="0" err="1">
                <a:solidFill>
                  <a:srgbClr val="28A745"/>
                </a:solidFill>
              </a:rPr>
              <a:t>numeric_df</a:t>
            </a:r>
            <a:r>
              <a:rPr lang="en-US" sz="621" dirty="0">
                <a:solidFill>
                  <a:srgbClr val="28A745"/>
                </a:solidFill>
              </a:rPr>
              <a:t> = </a:t>
            </a:r>
            <a:r>
              <a:rPr lang="en-US" sz="621" dirty="0" err="1">
                <a:solidFill>
                  <a:srgbClr val="28A745"/>
                </a:solidFill>
              </a:rPr>
              <a:t>df_clean.select_dtypes</a:t>
            </a:r>
            <a:r>
              <a:rPr lang="en-US" sz="621" dirty="0">
                <a:solidFill>
                  <a:srgbClr val="28A745"/>
                </a:solidFill>
              </a:rPr>
              <a:t>(include=['float64', 'int64'])</a:t>
            </a:r>
            <a:endParaRPr lang="en-US" sz="621" dirty="0"/>
          </a:p>
        </p:txBody>
      </p:sp>
      <p:sp>
        <p:nvSpPr>
          <p:cNvPr id="12" name="Text 9"/>
          <p:cNvSpPr/>
          <p:nvPr/>
        </p:nvSpPr>
        <p:spPr>
          <a:xfrm>
            <a:off x="571500" y="1445500"/>
            <a:ext cx="3510037" cy="107594"/>
          </a:xfrm>
          <a:prstGeom prst="rect">
            <a:avLst/>
          </a:prstGeom>
          <a:noFill/>
          <a:ln/>
        </p:spPr>
        <p:txBody>
          <a:bodyPr wrap="square" lIns="0" tIns="0" rIns="0" bIns="0" rtlCol="0" anchor="t">
            <a:spAutoFit/>
          </a:bodyPr>
          <a:lstStyle/>
          <a:p>
            <a:pPr>
              <a:lnSpc>
                <a:spcPts val="900"/>
              </a:lnSpc>
            </a:pPr>
            <a:r>
              <a:rPr lang="en-US" sz="621" dirty="0">
                <a:solidFill>
                  <a:srgbClr val="495057"/>
                </a:solidFill>
              </a:rPr>
              <a:t>Extracts only the numeric columns</a:t>
            </a:r>
            <a:endParaRPr lang="en-US" sz="621" dirty="0"/>
          </a:p>
        </p:txBody>
      </p:sp>
      <p:sp>
        <p:nvSpPr>
          <p:cNvPr id="17" name="Shape 14"/>
          <p:cNvSpPr/>
          <p:nvPr/>
        </p:nvSpPr>
        <p:spPr>
          <a:xfrm>
            <a:off x="428625" y="1998715"/>
            <a:ext cx="3834408" cy="1160022"/>
          </a:xfrm>
          <a:prstGeom prst="rect">
            <a:avLst/>
          </a:prstGeom>
          <a:solidFill>
            <a:srgbClr val="F8F9FA"/>
          </a:solidFill>
          <a:ln/>
        </p:spPr>
        <p:txBody>
          <a:bodyPr/>
          <a:lstStyle/>
          <a:p>
            <a:endParaRPr lang="en-MU"/>
          </a:p>
        </p:txBody>
      </p:sp>
      <p:sp>
        <p:nvSpPr>
          <p:cNvPr id="18" name="Shape 15"/>
          <p:cNvSpPr/>
          <p:nvPr/>
        </p:nvSpPr>
        <p:spPr>
          <a:xfrm>
            <a:off x="428625" y="1998715"/>
            <a:ext cx="28575" cy="1160022"/>
          </a:xfrm>
          <a:prstGeom prst="rect">
            <a:avLst/>
          </a:prstGeom>
          <a:solidFill>
            <a:srgbClr val="007BFF"/>
          </a:solidFill>
          <a:ln/>
        </p:spPr>
        <p:txBody>
          <a:bodyPr/>
          <a:lstStyle/>
          <a:p>
            <a:endParaRPr lang="en-MU"/>
          </a:p>
        </p:txBody>
      </p:sp>
      <p:sp>
        <p:nvSpPr>
          <p:cNvPr id="19" name="Shape 16"/>
          <p:cNvSpPr/>
          <p:nvPr/>
        </p:nvSpPr>
        <p:spPr>
          <a:xfrm>
            <a:off x="471488" y="2041578"/>
            <a:ext cx="3748683" cy="287870"/>
          </a:xfrm>
          <a:prstGeom prst="rect">
            <a:avLst/>
          </a:prstGeom>
          <a:solidFill>
            <a:srgbClr val="1A1A1A"/>
          </a:solidFill>
          <a:ln/>
        </p:spPr>
        <p:txBody>
          <a:bodyPr/>
          <a:lstStyle/>
          <a:p>
            <a:endParaRPr lang="en-MU"/>
          </a:p>
        </p:txBody>
      </p:sp>
      <p:sp>
        <p:nvSpPr>
          <p:cNvPr id="20" name="Text 17"/>
          <p:cNvSpPr/>
          <p:nvPr/>
        </p:nvSpPr>
        <p:spPr>
          <a:xfrm>
            <a:off x="471488" y="2041578"/>
            <a:ext cx="3748683" cy="269304"/>
          </a:xfrm>
          <a:prstGeom prst="rect">
            <a:avLst/>
          </a:prstGeom>
          <a:noFill/>
          <a:ln/>
        </p:spPr>
        <p:txBody>
          <a:bodyPr wrap="square" lIns="68072" tIns="34036" rIns="68072" bIns="34036" rtlCol="0" anchor="t">
            <a:spAutoFit/>
          </a:bodyPr>
          <a:lstStyle/>
          <a:p>
            <a:pPr marL="0" indent="0" algn="l">
              <a:lnSpc>
                <a:spcPts val="800"/>
              </a:lnSpc>
              <a:buNone/>
            </a:pPr>
            <a:r>
              <a:rPr lang="en-US" sz="621" dirty="0">
                <a:solidFill>
                  <a:srgbClr val="28A745"/>
                </a:solidFill>
              </a:rPr>
              <a:t>#2</a:t>
            </a:r>
            <a:endParaRPr lang="en-US" sz="621" dirty="0"/>
          </a:p>
          <a:p>
            <a:pPr>
              <a:lnSpc>
                <a:spcPts val="800"/>
              </a:lnSpc>
            </a:pPr>
            <a:r>
              <a:rPr lang="en-US" sz="621" dirty="0" err="1">
                <a:solidFill>
                  <a:srgbClr val="28A745"/>
                </a:solidFill>
              </a:rPr>
              <a:t>corr</a:t>
            </a:r>
            <a:r>
              <a:rPr lang="en-US" sz="621" dirty="0">
                <a:solidFill>
                  <a:srgbClr val="28A745"/>
                </a:solidFill>
              </a:rPr>
              <a:t> = </a:t>
            </a:r>
            <a:r>
              <a:rPr lang="en-US" sz="621" dirty="0" err="1">
                <a:solidFill>
                  <a:srgbClr val="28A745"/>
                </a:solidFill>
              </a:rPr>
              <a:t>numeric_df.corr</a:t>
            </a:r>
            <a:r>
              <a:rPr lang="en-US" sz="621" dirty="0">
                <a:solidFill>
                  <a:srgbClr val="28A745"/>
                </a:solidFill>
              </a:rPr>
              <a:t>()</a:t>
            </a:r>
            <a:endParaRPr lang="en-US" sz="621" dirty="0"/>
          </a:p>
        </p:txBody>
      </p:sp>
      <p:sp>
        <p:nvSpPr>
          <p:cNvPr id="21" name="Text 18"/>
          <p:cNvSpPr/>
          <p:nvPr/>
        </p:nvSpPr>
        <p:spPr>
          <a:xfrm>
            <a:off x="553320" y="2398514"/>
            <a:ext cx="296556" cy="10637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Purpose.:</a:t>
            </a:r>
            <a:endParaRPr lang="en-US" sz="584" dirty="0"/>
          </a:p>
        </p:txBody>
      </p:sp>
      <p:sp>
        <p:nvSpPr>
          <p:cNvPr id="22" name="Text 19"/>
          <p:cNvSpPr/>
          <p:nvPr/>
        </p:nvSpPr>
        <p:spPr>
          <a:xfrm>
            <a:off x="1188053" y="2398514"/>
            <a:ext cx="1822615" cy="107594"/>
          </a:xfrm>
          <a:prstGeom prst="rect">
            <a:avLst/>
          </a:prstGeom>
          <a:noFill/>
          <a:ln/>
        </p:spPr>
        <p:txBody>
          <a:bodyPr wrap="none" lIns="0" tIns="0" rIns="0" bIns="0" rtlCol="0" anchor="t">
            <a:spAutoFit/>
          </a:bodyPr>
          <a:lstStyle/>
          <a:p>
            <a:pPr>
              <a:lnSpc>
                <a:spcPts val="900"/>
              </a:lnSpc>
            </a:pPr>
            <a:r>
              <a:rPr lang="en-US" sz="621" dirty="0">
                <a:solidFill>
                  <a:srgbClr val="495057"/>
                </a:solidFill>
              </a:rPr>
              <a:t>Computes the correlation matrix of all numeric columns.</a:t>
            </a:r>
            <a:endParaRPr lang="en-US" sz="621" dirty="0"/>
          </a:p>
        </p:txBody>
      </p:sp>
      <p:sp>
        <p:nvSpPr>
          <p:cNvPr id="23" name="Text 20"/>
          <p:cNvSpPr/>
          <p:nvPr/>
        </p:nvSpPr>
        <p:spPr>
          <a:xfrm>
            <a:off x="553320" y="2517084"/>
            <a:ext cx="234038" cy="10637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Result.:</a:t>
            </a:r>
            <a:endParaRPr lang="en-US" sz="584" dirty="0"/>
          </a:p>
        </p:txBody>
      </p:sp>
      <p:sp>
        <p:nvSpPr>
          <p:cNvPr id="24" name="Text 21"/>
          <p:cNvSpPr/>
          <p:nvPr/>
        </p:nvSpPr>
        <p:spPr>
          <a:xfrm>
            <a:off x="1072749" y="2517084"/>
            <a:ext cx="2255426" cy="107594"/>
          </a:xfrm>
          <a:prstGeom prst="rect">
            <a:avLst/>
          </a:prstGeom>
          <a:noFill/>
          <a:ln/>
        </p:spPr>
        <p:txBody>
          <a:bodyPr wrap="none" lIns="0" tIns="0" rIns="0" bIns="0" rtlCol="0" anchor="t">
            <a:spAutoFit/>
          </a:bodyPr>
          <a:lstStyle/>
          <a:p>
            <a:pPr>
              <a:lnSpc>
                <a:spcPts val="900"/>
              </a:lnSpc>
            </a:pPr>
            <a:r>
              <a:rPr lang="en-US" sz="621" dirty="0">
                <a:solidFill>
                  <a:srgbClr val="495057"/>
                </a:solidFill>
              </a:rPr>
              <a:t>A square matrix where each cell represents the correlation coefficient</a:t>
            </a:r>
            <a:endParaRPr lang="en-US" sz="621" dirty="0"/>
          </a:p>
        </p:txBody>
      </p:sp>
      <p:sp>
        <p:nvSpPr>
          <p:cNvPr id="29" name="Shape 26"/>
          <p:cNvSpPr/>
          <p:nvPr/>
        </p:nvSpPr>
        <p:spPr>
          <a:xfrm>
            <a:off x="428625" y="3201600"/>
            <a:ext cx="3834408" cy="922883"/>
          </a:xfrm>
          <a:prstGeom prst="rect">
            <a:avLst/>
          </a:prstGeom>
          <a:solidFill>
            <a:srgbClr val="F8F9FA"/>
          </a:solidFill>
          <a:ln/>
        </p:spPr>
        <p:txBody>
          <a:bodyPr/>
          <a:lstStyle/>
          <a:p>
            <a:endParaRPr lang="en-MU" dirty="0"/>
          </a:p>
        </p:txBody>
      </p:sp>
      <p:sp>
        <p:nvSpPr>
          <p:cNvPr id="30" name="Shape 27"/>
          <p:cNvSpPr/>
          <p:nvPr/>
        </p:nvSpPr>
        <p:spPr>
          <a:xfrm>
            <a:off x="428625" y="3201600"/>
            <a:ext cx="28575" cy="922883"/>
          </a:xfrm>
          <a:prstGeom prst="rect">
            <a:avLst/>
          </a:prstGeom>
          <a:solidFill>
            <a:srgbClr val="007BFF"/>
          </a:solidFill>
          <a:ln/>
        </p:spPr>
        <p:txBody>
          <a:bodyPr/>
          <a:lstStyle/>
          <a:p>
            <a:endParaRPr lang="en-MU"/>
          </a:p>
        </p:txBody>
      </p:sp>
      <p:sp>
        <p:nvSpPr>
          <p:cNvPr id="31" name="Shape 28"/>
          <p:cNvSpPr/>
          <p:nvPr/>
        </p:nvSpPr>
        <p:spPr>
          <a:xfrm>
            <a:off x="471488" y="3244462"/>
            <a:ext cx="3748683" cy="571444"/>
          </a:xfrm>
          <a:prstGeom prst="rect">
            <a:avLst/>
          </a:prstGeom>
          <a:solidFill>
            <a:srgbClr val="1A1A1A"/>
          </a:solidFill>
          <a:ln/>
        </p:spPr>
        <p:txBody>
          <a:bodyPr/>
          <a:lstStyle/>
          <a:p>
            <a:endParaRPr lang="en-MU"/>
          </a:p>
        </p:txBody>
      </p:sp>
      <p:sp>
        <p:nvSpPr>
          <p:cNvPr id="32" name="Text 29"/>
          <p:cNvSpPr/>
          <p:nvPr/>
        </p:nvSpPr>
        <p:spPr>
          <a:xfrm>
            <a:off x="471488" y="3244462"/>
            <a:ext cx="3748683" cy="577081"/>
          </a:xfrm>
          <a:prstGeom prst="rect">
            <a:avLst/>
          </a:prstGeom>
          <a:noFill/>
          <a:ln/>
        </p:spPr>
        <p:txBody>
          <a:bodyPr wrap="square" lIns="68072" tIns="34036" rIns="68072" bIns="34036" rtlCol="0" anchor="t">
            <a:spAutoFit/>
          </a:bodyPr>
          <a:lstStyle/>
          <a:p>
            <a:pPr marL="0" indent="0" algn="l">
              <a:lnSpc>
                <a:spcPts val="800"/>
              </a:lnSpc>
              <a:buNone/>
            </a:pPr>
            <a:r>
              <a:rPr lang="en-US" sz="621" dirty="0">
                <a:solidFill>
                  <a:srgbClr val="28A745"/>
                </a:solidFill>
              </a:rPr>
              <a:t>#3</a:t>
            </a:r>
            <a:endParaRPr lang="en-US" sz="621" dirty="0"/>
          </a:p>
          <a:p>
            <a:pPr>
              <a:lnSpc>
                <a:spcPts val="800"/>
              </a:lnSpc>
            </a:pPr>
            <a:r>
              <a:rPr lang="en-US" sz="621" dirty="0" err="1">
                <a:solidFill>
                  <a:srgbClr val="28A745"/>
                </a:solidFill>
              </a:rPr>
              <a:t>plt.figure</a:t>
            </a:r>
            <a:r>
              <a:rPr lang="en-US" sz="621" dirty="0">
                <a:solidFill>
                  <a:srgbClr val="28A745"/>
                </a:solidFill>
              </a:rPr>
              <a:t>(</a:t>
            </a:r>
            <a:r>
              <a:rPr lang="en-US" sz="621" dirty="0" err="1">
                <a:solidFill>
                  <a:srgbClr val="28A745"/>
                </a:solidFill>
              </a:rPr>
              <a:t>figsize</a:t>
            </a:r>
            <a:r>
              <a:rPr lang="en-US" sz="621" dirty="0">
                <a:solidFill>
                  <a:srgbClr val="28A745"/>
                </a:solidFill>
              </a:rPr>
              <a:t>=(10,6))</a:t>
            </a:r>
          </a:p>
          <a:p>
            <a:pPr>
              <a:lnSpc>
                <a:spcPts val="800"/>
              </a:lnSpc>
            </a:pPr>
            <a:r>
              <a:rPr lang="en-US" sz="621" dirty="0" err="1">
                <a:solidFill>
                  <a:srgbClr val="28A745"/>
                </a:solidFill>
              </a:rPr>
              <a:t>sns.heatmap</a:t>
            </a:r>
            <a:r>
              <a:rPr lang="en-US" sz="621" dirty="0">
                <a:solidFill>
                  <a:srgbClr val="28A745"/>
                </a:solidFill>
              </a:rPr>
              <a:t>(</a:t>
            </a:r>
            <a:r>
              <a:rPr lang="en-US" sz="621" dirty="0" err="1">
                <a:solidFill>
                  <a:srgbClr val="28A745"/>
                </a:solidFill>
              </a:rPr>
              <a:t>corr</a:t>
            </a:r>
            <a:r>
              <a:rPr lang="en-US" sz="621" dirty="0">
                <a:solidFill>
                  <a:srgbClr val="28A745"/>
                </a:solidFill>
              </a:rPr>
              <a:t>, </a:t>
            </a:r>
            <a:r>
              <a:rPr lang="en-US" sz="621" dirty="0" err="1">
                <a:solidFill>
                  <a:srgbClr val="28A745"/>
                </a:solidFill>
              </a:rPr>
              <a:t>annot</a:t>
            </a:r>
            <a:r>
              <a:rPr lang="en-US" sz="621" dirty="0">
                <a:solidFill>
                  <a:srgbClr val="28A745"/>
                </a:solidFill>
              </a:rPr>
              <a:t>=True, </a:t>
            </a:r>
            <a:r>
              <a:rPr lang="en-US" sz="621" dirty="0" err="1">
                <a:solidFill>
                  <a:srgbClr val="28A745"/>
                </a:solidFill>
              </a:rPr>
              <a:t>fmt</a:t>
            </a:r>
            <a:r>
              <a:rPr lang="en-US" sz="621" dirty="0">
                <a:solidFill>
                  <a:srgbClr val="28A745"/>
                </a:solidFill>
              </a:rPr>
              <a:t>=".2f", </a:t>
            </a:r>
            <a:r>
              <a:rPr lang="en-US" sz="621" dirty="0" err="1">
                <a:solidFill>
                  <a:srgbClr val="28A745"/>
                </a:solidFill>
              </a:rPr>
              <a:t>cmap</a:t>
            </a:r>
            <a:r>
              <a:rPr lang="en-US" sz="621" dirty="0">
                <a:solidFill>
                  <a:srgbClr val="28A745"/>
                </a:solidFill>
              </a:rPr>
              <a:t>="</a:t>
            </a:r>
            <a:r>
              <a:rPr lang="en-US" sz="621" dirty="0" err="1">
                <a:solidFill>
                  <a:srgbClr val="28A745"/>
                </a:solidFill>
              </a:rPr>
              <a:t>coolwarm</a:t>
            </a:r>
            <a:r>
              <a:rPr lang="en-US" sz="621" dirty="0">
                <a:solidFill>
                  <a:srgbClr val="28A745"/>
                </a:solidFill>
              </a:rPr>
              <a:t>")</a:t>
            </a:r>
          </a:p>
          <a:p>
            <a:pPr>
              <a:lnSpc>
                <a:spcPts val="800"/>
              </a:lnSpc>
            </a:pPr>
            <a:r>
              <a:rPr lang="en-US" sz="621" dirty="0" err="1">
                <a:solidFill>
                  <a:srgbClr val="28A745"/>
                </a:solidFill>
              </a:rPr>
              <a:t>plt.title</a:t>
            </a:r>
            <a:r>
              <a:rPr lang="en-US" sz="621" dirty="0">
                <a:solidFill>
                  <a:srgbClr val="28A745"/>
                </a:solidFill>
              </a:rPr>
              <a:t>("Correlation Heatmap of Numeric Features")</a:t>
            </a:r>
          </a:p>
          <a:p>
            <a:pPr>
              <a:lnSpc>
                <a:spcPts val="800"/>
              </a:lnSpc>
            </a:pPr>
            <a:r>
              <a:rPr lang="en-US" sz="621" dirty="0" err="1">
                <a:solidFill>
                  <a:srgbClr val="28A745"/>
                </a:solidFill>
              </a:rPr>
              <a:t>plt.show</a:t>
            </a:r>
            <a:r>
              <a:rPr lang="en-US" sz="621" dirty="0">
                <a:solidFill>
                  <a:srgbClr val="28A745"/>
                </a:solidFill>
              </a:rPr>
              <a:t>()</a:t>
            </a:r>
            <a:endParaRPr lang="en-US" sz="621" dirty="0"/>
          </a:p>
        </p:txBody>
      </p:sp>
      <p:sp>
        <p:nvSpPr>
          <p:cNvPr id="37" name="Shape 34"/>
          <p:cNvSpPr/>
          <p:nvPr/>
        </p:nvSpPr>
        <p:spPr>
          <a:xfrm>
            <a:off x="471488" y="3829899"/>
            <a:ext cx="3834408" cy="938594"/>
          </a:xfrm>
          <a:prstGeom prst="rect">
            <a:avLst/>
          </a:prstGeom>
          <a:solidFill>
            <a:srgbClr val="F8F9FA"/>
          </a:solidFill>
          <a:ln/>
        </p:spPr>
        <p:txBody>
          <a:bodyPr/>
          <a:lstStyle/>
          <a:p>
            <a:r>
              <a:rPr lang="en-US" sz="500" dirty="0"/>
              <a:t>- Purpose: Visualizes the correlation matrix as a heatmap using Seaborn.</a:t>
            </a:r>
          </a:p>
          <a:p>
            <a:r>
              <a:rPr lang="en-US" sz="500" dirty="0"/>
              <a:t>- Details:</a:t>
            </a:r>
          </a:p>
          <a:p>
            <a:r>
              <a:rPr lang="en-US" sz="500" dirty="0"/>
              <a:t>- </a:t>
            </a:r>
            <a:r>
              <a:rPr lang="en-US" sz="500" dirty="0" err="1"/>
              <a:t>figsize</a:t>
            </a:r>
            <a:r>
              <a:rPr lang="en-US" sz="500" dirty="0"/>
              <a:t>=(10,6) → sets the plot size.</a:t>
            </a:r>
          </a:p>
          <a:p>
            <a:r>
              <a:rPr lang="en-US" sz="500" dirty="0"/>
              <a:t>- </a:t>
            </a:r>
            <a:r>
              <a:rPr lang="en-US" sz="500" dirty="0" err="1"/>
              <a:t>annot</a:t>
            </a:r>
            <a:r>
              <a:rPr lang="en-US" sz="500" dirty="0"/>
              <a:t>=True → displays the correlation values inside each cell.</a:t>
            </a:r>
          </a:p>
          <a:p>
            <a:r>
              <a:rPr lang="en-US" sz="500" dirty="0"/>
              <a:t>- </a:t>
            </a:r>
            <a:r>
              <a:rPr lang="en-US" sz="500" dirty="0" err="1"/>
              <a:t>fmt</a:t>
            </a:r>
            <a:r>
              <a:rPr lang="en-US" sz="500" dirty="0"/>
              <a:t>=".2f" → formats numbers to 2 decimal places.</a:t>
            </a:r>
          </a:p>
          <a:p>
            <a:r>
              <a:rPr lang="en-US" sz="500" dirty="0"/>
              <a:t>- </a:t>
            </a:r>
            <a:r>
              <a:rPr lang="en-US" sz="500" dirty="0" err="1"/>
              <a:t>cmap</a:t>
            </a:r>
            <a:r>
              <a:rPr lang="en-US" sz="500" dirty="0"/>
              <a:t>="</a:t>
            </a:r>
            <a:r>
              <a:rPr lang="en-US" sz="500" dirty="0" err="1"/>
              <a:t>coolwarm</a:t>
            </a:r>
            <a:r>
              <a:rPr lang="en-US" sz="500" dirty="0"/>
              <a:t>" → uses a diverging color palette (blue for negative, red for positive correlations).</a:t>
            </a:r>
          </a:p>
          <a:p>
            <a:r>
              <a:rPr lang="en-US" sz="500" dirty="0"/>
              <a:t>- </a:t>
            </a:r>
            <a:r>
              <a:rPr lang="en-US" sz="500" dirty="0" err="1"/>
              <a:t>plt.title</a:t>
            </a:r>
            <a:r>
              <a:rPr lang="en-US" sz="500" dirty="0"/>
              <a:t>(...) → adds a descriptive title.</a:t>
            </a:r>
          </a:p>
          <a:p>
            <a:r>
              <a:rPr lang="en-US" sz="500" dirty="0"/>
              <a:t>- </a:t>
            </a:r>
            <a:r>
              <a:rPr lang="en-US" sz="500" dirty="0" err="1"/>
              <a:t>plt.show</a:t>
            </a:r>
            <a:r>
              <a:rPr lang="en-US" sz="500" dirty="0"/>
              <a:t>() → renders the plot.</a:t>
            </a:r>
            <a:endParaRPr lang="en-MU" sz="500" dirty="0"/>
          </a:p>
        </p:txBody>
      </p:sp>
      <p:sp>
        <p:nvSpPr>
          <p:cNvPr id="47" name="Shape 44"/>
          <p:cNvSpPr/>
          <p:nvPr/>
        </p:nvSpPr>
        <p:spPr>
          <a:xfrm>
            <a:off x="4477345" y="1000125"/>
            <a:ext cx="4238030" cy="2409955"/>
          </a:xfrm>
          <a:prstGeom prst="rect">
            <a:avLst/>
          </a:prstGeom>
          <a:solidFill>
            <a:srgbClr val="F8F9FA"/>
          </a:solidFill>
          <a:ln w="9144">
            <a:solidFill>
              <a:srgbClr val="E0E0E0"/>
            </a:solidFill>
            <a:prstDash val="solid"/>
          </a:ln>
        </p:spPr>
        <p:txBody>
          <a:bodyPr/>
          <a:lstStyle/>
          <a:p>
            <a:endParaRPr lang="en-MU"/>
          </a:p>
        </p:txBody>
      </p:sp>
      <p:sp>
        <p:nvSpPr>
          <p:cNvPr id="48" name="Text 45"/>
          <p:cNvSpPr/>
          <p:nvPr/>
        </p:nvSpPr>
        <p:spPr>
          <a:xfrm>
            <a:off x="4534495" y="1057275"/>
            <a:ext cx="4123730"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Correlation Heatmap: Feature Relationships</a:t>
            </a:r>
            <a:endParaRPr lang="en-US" sz="683" dirty="0"/>
          </a:p>
        </p:txBody>
      </p:sp>
      <p:sp>
        <p:nvSpPr>
          <p:cNvPr id="50" name="Text 47"/>
          <p:cNvSpPr/>
          <p:nvPr/>
        </p:nvSpPr>
        <p:spPr>
          <a:xfrm>
            <a:off x="4534495" y="1235869"/>
            <a:ext cx="589080"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Feature</a:t>
            </a:r>
            <a:endParaRPr lang="en-US" sz="485" dirty="0"/>
          </a:p>
        </p:txBody>
      </p:sp>
      <p:sp>
        <p:nvSpPr>
          <p:cNvPr id="51" name="Shape 48"/>
          <p:cNvSpPr/>
          <p:nvPr/>
        </p:nvSpPr>
        <p:spPr>
          <a:xfrm>
            <a:off x="5123576" y="1235869"/>
            <a:ext cx="589080" cy="155377"/>
          </a:xfrm>
          <a:prstGeom prst="rect">
            <a:avLst/>
          </a:prstGeom>
          <a:solidFill>
            <a:srgbClr val="1A1A1A"/>
          </a:solidFill>
          <a:ln/>
        </p:spPr>
        <p:txBody>
          <a:bodyPr/>
          <a:lstStyle/>
          <a:p>
            <a:endParaRPr lang="en-MU"/>
          </a:p>
        </p:txBody>
      </p:sp>
      <p:sp>
        <p:nvSpPr>
          <p:cNvPr id="52" name="Text 49"/>
          <p:cNvSpPr/>
          <p:nvPr/>
        </p:nvSpPr>
        <p:spPr>
          <a:xfrm>
            <a:off x="5123576" y="1235869"/>
            <a:ext cx="589080"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Price</a:t>
            </a:r>
            <a:endParaRPr lang="en-US" sz="485" dirty="0"/>
          </a:p>
        </p:txBody>
      </p:sp>
      <p:sp>
        <p:nvSpPr>
          <p:cNvPr id="53" name="Shape 50"/>
          <p:cNvSpPr/>
          <p:nvPr/>
        </p:nvSpPr>
        <p:spPr>
          <a:xfrm>
            <a:off x="5712656" y="1235869"/>
            <a:ext cx="589080" cy="155377"/>
          </a:xfrm>
          <a:prstGeom prst="rect">
            <a:avLst/>
          </a:prstGeom>
          <a:solidFill>
            <a:srgbClr val="1A1A1A"/>
          </a:solidFill>
          <a:ln/>
        </p:spPr>
        <p:txBody>
          <a:bodyPr/>
          <a:lstStyle/>
          <a:p>
            <a:endParaRPr lang="en-MU"/>
          </a:p>
        </p:txBody>
      </p:sp>
      <p:sp>
        <p:nvSpPr>
          <p:cNvPr id="54" name="Text 51"/>
          <p:cNvSpPr/>
          <p:nvPr/>
        </p:nvSpPr>
        <p:spPr>
          <a:xfrm>
            <a:off x="5712656" y="1235869"/>
            <a:ext cx="589080"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Area</a:t>
            </a:r>
            <a:endParaRPr lang="en-US" sz="485" dirty="0"/>
          </a:p>
        </p:txBody>
      </p:sp>
      <p:sp>
        <p:nvSpPr>
          <p:cNvPr id="55" name="Shape 52"/>
          <p:cNvSpPr/>
          <p:nvPr/>
        </p:nvSpPr>
        <p:spPr>
          <a:xfrm>
            <a:off x="6301736" y="1235869"/>
            <a:ext cx="589080" cy="155377"/>
          </a:xfrm>
          <a:prstGeom prst="rect">
            <a:avLst/>
          </a:prstGeom>
          <a:solidFill>
            <a:srgbClr val="1A1A1A"/>
          </a:solidFill>
          <a:ln/>
        </p:spPr>
        <p:txBody>
          <a:bodyPr/>
          <a:lstStyle/>
          <a:p>
            <a:endParaRPr lang="en-MU"/>
          </a:p>
        </p:txBody>
      </p:sp>
      <p:sp>
        <p:nvSpPr>
          <p:cNvPr id="56" name="Text 53"/>
          <p:cNvSpPr/>
          <p:nvPr/>
        </p:nvSpPr>
        <p:spPr>
          <a:xfrm>
            <a:off x="6301736" y="1235869"/>
            <a:ext cx="589080"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Bedrooms</a:t>
            </a:r>
            <a:endParaRPr lang="en-US" sz="485" dirty="0"/>
          </a:p>
        </p:txBody>
      </p:sp>
      <p:sp>
        <p:nvSpPr>
          <p:cNvPr id="57" name="Shape 54"/>
          <p:cNvSpPr/>
          <p:nvPr/>
        </p:nvSpPr>
        <p:spPr>
          <a:xfrm>
            <a:off x="6890817" y="1235869"/>
            <a:ext cx="589080" cy="155377"/>
          </a:xfrm>
          <a:prstGeom prst="rect">
            <a:avLst/>
          </a:prstGeom>
          <a:solidFill>
            <a:srgbClr val="1A1A1A"/>
          </a:solidFill>
          <a:ln/>
        </p:spPr>
        <p:txBody>
          <a:bodyPr/>
          <a:lstStyle/>
          <a:p>
            <a:endParaRPr lang="en-MU"/>
          </a:p>
        </p:txBody>
      </p:sp>
      <p:sp>
        <p:nvSpPr>
          <p:cNvPr id="58" name="Text 55"/>
          <p:cNvSpPr/>
          <p:nvPr/>
        </p:nvSpPr>
        <p:spPr>
          <a:xfrm>
            <a:off x="6890817" y="1235869"/>
            <a:ext cx="589080"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Bathrooms</a:t>
            </a:r>
            <a:endParaRPr lang="en-US" sz="485" dirty="0"/>
          </a:p>
        </p:txBody>
      </p:sp>
      <p:sp>
        <p:nvSpPr>
          <p:cNvPr id="59" name="Shape 56"/>
          <p:cNvSpPr/>
          <p:nvPr/>
        </p:nvSpPr>
        <p:spPr>
          <a:xfrm>
            <a:off x="7479897" y="1235869"/>
            <a:ext cx="589080" cy="155377"/>
          </a:xfrm>
          <a:prstGeom prst="rect">
            <a:avLst/>
          </a:prstGeom>
          <a:solidFill>
            <a:srgbClr val="1A1A1A"/>
          </a:solidFill>
          <a:ln/>
        </p:spPr>
        <p:txBody>
          <a:bodyPr/>
          <a:lstStyle/>
          <a:p>
            <a:endParaRPr lang="en-MU"/>
          </a:p>
        </p:txBody>
      </p:sp>
      <p:sp>
        <p:nvSpPr>
          <p:cNvPr id="60" name="Text 57"/>
          <p:cNvSpPr/>
          <p:nvPr/>
        </p:nvSpPr>
        <p:spPr>
          <a:xfrm>
            <a:off x="7479897" y="1235869"/>
            <a:ext cx="589080"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Stories</a:t>
            </a:r>
            <a:endParaRPr lang="en-US" sz="485" dirty="0"/>
          </a:p>
        </p:txBody>
      </p:sp>
      <p:sp>
        <p:nvSpPr>
          <p:cNvPr id="62" name="Text 59"/>
          <p:cNvSpPr/>
          <p:nvPr/>
        </p:nvSpPr>
        <p:spPr>
          <a:xfrm>
            <a:off x="8068977" y="1235869"/>
            <a:ext cx="589248" cy="155377"/>
          </a:xfrm>
          <a:prstGeom prst="rect">
            <a:avLst/>
          </a:prstGeom>
          <a:noFill/>
          <a:ln/>
        </p:spPr>
        <p:txBody>
          <a:bodyPr wrap="square" lIns="17018" tIns="34036" rIns="17018" bIns="34036" rtlCol="0" anchor="ctr">
            <a:spAutoFit/>
          </a:bodyPr>
          <a:lstStyle/>
          <a:p>
            <a:pPr marL="0" indent="0" algn="ctr">
              <a:lnSpc>
                <a:spcPts val="700"/>
              </a:lnSpc>
              <a:buNone/>
            </a:pPr>
            <a:r>
              <a:rPr lang="en-US" sz="485" b="1" dirty="0">
                <a:solidFill>
                  <a:srgbClr val="FFFFFF"/>
                </a:solidFill>
              </a:rPr>
              <a:t>Parking</a:t>
            </a:r>
            <a:endParaRPr lang="en-US" sz="485" dirty="0"/>
          </a:p>
        </p:txBody>
      </p:sp>
      <p:sp>
        <p:nvSpPr>
          <p:cNvPr id="63" name="Text 60"/>
          <p:cNvSpPr/>
          <p:nvPr/>
        </p:nvSpPr>
        <p:spPr>
          <a:xfrm rot="10800000">
            <a:off x="4785280" y="1522512"/>
            <a:ext cx="87511" cy="166092"/>
          </a:xfrm>
          <a:prstGeom prst="rect">
            <a:avLst/>
          </a:prstGeom>
          <a:noFill/>
          <a:ln/>
        </p:spPr>
        <p:txBody>
          <a:bodyPr wrap="square" lIns="0" tIns="0" rIns="0" bIns="0" rtlCol="0" anchor="t">
            <a:spAutoFit/>
          </a:bodyPr>
          <a:lstStyle/>
          <a:p>
            <a:pPr marL="0" indent="0" algn="ctr">
              <a:lnSpc>
                <a:spcPts val="600"/>
              </a:lnSpc>
              <a:buNone/>
            </a:pPr>
            <a:r>
              <a:rPr lang="en-US" sz="435" b="1" dirty="0">
                <a:solidFill>
                  <a:srgbClr val="FFFFFF"/>
                </a:solidFill>
              </a:rPr>
              <a:t>Price</a:t>
            </a:r>
            <a:endParaRPr lang="en-US" sz="435" dirty="0"/>
          </a:p>
        </p:txBody>
      </p:sp>
      <p:sp>
        <p:nvSpPr>
          <p:cNvPr id="64" name="Shape 61"/>
          <p:cNvSpPr/>
          <p:nvPr/>
        </p:nvSpPr>
        <p:spPr>
          <a:xfrm rot="10800000">
            <a:off x="5123576" y="1391245"/>
            <a:ext cx="589080" cy="428625"/>
          </a:xfrm>
          <a:prstGeom prst="rect">
            <a:avLst/>
          </a:prstGeom>
          <a:solidFill>
            <a:srgbClr val="DC143C"/>
          </a:solidFill>
          <a:ln/>
        </p:spPr>
        <p:txBody>
          <a:bodyPr/>
          <a:lstStyle/>
          <a:p>
            <a:endParaRPr lang="en-MU"/>
          </a:p>
        </p:txBody>
      </p:sp>
      <p:sp>
        <p:nvSpPr>
          <p:cNvPr id="65" name="Text 62"/>
          <p:cNvSpPr/>
          <p:nvPr/>
        </p:nvSpPr>
        <p:spPr>
          <a:xfrm rot="10800000">
            <a:off x="5123576" y="1391245"/>
            <a:ext cx="589080" cy="428625"/>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1.00</a:t>
            </a:r>
            <a:endParaRPr lang="en-US" sz="435" dirty="0"/>
          </a:p>
        </p:txBody>
      </p:sp>
      <p:sp>
        <p:nvSpPr>
          <p:cNvPr id="66" name="Shape 63"/>
          <p:cNvSpPr/>
          <p:nvPr/>
        </p:nvSpPr>
        <p:spPr>
          <a:xfrm rot="10800000">
            <a:off x="5712656" y="1419820"/>
            <a:ext cx="589080" cy="428625"/>
          </a:xfrm>
          <a:prstGeom prst="rect">
            <a:avLst/>
          </a:prstGeom>
          <a:solidFill>
            <a:srgbClr val="FF6B6B"/>
          </a:solidFill>
          <a:ln/>
        </p:spPr>
        <p:txBody>
          <a:bodyPr/>
          <a:lstStyle/>
          <a:p>
            <a:endParaRPr lang="en-MU"/>
          </a:p>
        </p:txBody>
      </p:sp>
      <p:sp>
        <p:nvSpPr>
          <p:cNvPr id="67" name="Text 64"/>
          <p:cNvSpPr/>
          <p:nvPr/>
        </p:nvSpPr>
        <p:spPr>
          <a:xfrm rot="10800000">
            <a:off x="5712656" y="1391245"/>
            <a:ext cx="589080" cy="428625"/>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0.54</a:t>
            </a:r>
            <a:endParaRPr lang="en-US" sz="435" dirty="0"/>
          </a:p>
        </p:txBody>
      </p:sp>
      <p:sp>
        <p:nvSpPr>
          <p:cNvPr id="68" name="Shape 65"/>
          <p:cNvSpPr/>
          <p:nvPr/>
        </p:nvSpPr>
        <p:spPr>
          <a:xfrm rot="10800000">
            <a:off x="6301736" y="1391245"/>
            <a:ext cx="589080" cy="428625"/>
          </a:xfrm>
          <a:prstGeom prst="rect">
            <a:avLst/>
          </a:prstGeom>
          <a:solidFill>
            <a:srgbClr val="FFA07A"/>
          </a:solidFill>
          <a:ln/>
        </p:spPr>
        <p:txBody>
          <a:bodyPr/>
          <a:lstStyle/>
          <a:p>
            <a:endParaRPr lang="en-MU"/>
          </a:p>
        </p:txBody>
      </p:sp>
      <p:sp>
        <p:nvSpPr>
          <p:cNvPr id="69" name="Text 66"/>
          <p:cNvSpPr/>
          <p:nvPr/>
        </p:nvSpPr>
        <p:spPr>
          <a:xfrm rot="10800000">
            <a:off x="6301736" y="1391245"/>
            <a:ext cx="589080" cy="428625"/>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0.41</a:t>
            </a:r>
            <a:endParaRPr lang="en-US" sz="435" dirty="0"/>
          </a:p>
        </p:txBody>
      </p:sp>
      <p:sp>
        <p:nvSpPr>
          <p:cNvPr id="70" name="Shape 67"/>
          <p:cNvSpPr/>
          <p:nvPr/>
        </p:nvSpPr>
        <p:spPr>
          <a:xfrm rot="10800000">
            <a:off x="6890817" y="1391245"/>
            <a:ext cx="589080" cy="428625"/>
          </a:xfrm>
          <a:prstGeom prst="rect">
            <a:avLst/>
          </a:prstGeom>
          <a:solidFill>
            <a:srgbClr val="FF8C69"/>
          </a:solidFill>
          <a:ln/>
        </p:spPr>
        <p:txBody>
          <a:bodyPr/>
          <a:lstStyle/>
          <a:p>
            <a:endParaRPr lang="en-MU"/>
          </a:p>
        </p:txBody>
      </p:sp>
      <p:sp>
        <p:nvSpPr>
          <p:cNvPr id="71" name="Text 68"/>
          <p:cNvSpPr/>
          <p:nvPr/>
        </p:nvSpPr>
        <p:spPr>
          <a:xfrm rot="10800000">
            <a:off x="6890817" y="1391245"/>
            <a:ext cx="589080" cy="428625"/>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0.52</a:t>
            </a:r>
            <a:endParaRPr lang="en-US" sz="435" dirty="0"/>
          </a:p>
        </p:txBody>
      </p:sp>
      <p:sp>
        <p:nvSpPr>
          <p:cNvPr id="72" name="Shape 69"/>
          <p:cNvSpPr/>
          <p:nvPr/>
        </p:nvSpPr>
        <p:spPr>
          <a:xfrm rot="10800000">
            <a:off x="7479897" y="1391245"/>
            <a:ext cx="589080" cy="428625"/>
          </a:xfrm>
          <a:prstGeom prst="rect">
            <a:avLst/>
          </a:prstGeom>
          <a:solidFill>
            <a:srgbClr val="FFA07A"/>
          </a:solidFill>
          <a:ln/>
        </p:spPr>
        <p:txBody>
          <a:bodyPr/>
          <a:lstStyle/>
          <a:p>
            <a:endParaRPr lang="en-MU"/>
          </a:p>
        </p:txBody>
      </p:sp>
      <p:sp>
        <p:nvSpPr>
          <p:cNvPr id="73" name="Text 70"/>
          <p:cNvSpPr/>
          <p:nvPr/>
        </p:nvSpPr>
        <p:spPr>
          <a:xfrm rot="10800000">
            <a:off x="7479897" y="1391245"/>
            <a:ext cx="589080" cy="428625"/>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0.43</a:t>
            </a:r>
            <a:endParaRPr lang="en-US" sz="435" dirty="0"/>
          </a:p>
        </p:txBody>
      </p:sp>
      <p:sp>
        <p:nvSpPr>
          <p:cNvPr id="75" name="Text 72"/>
          <p:cNvSpPr/>
          <p:nvPr/>
        </p:nvSpPr>
        <p:spPr>
          <a:xfrm rot="10800000">
            <a:off x="8068977" y="1391245"/>
            <a:ext cx="589248" cy="428625"/>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0.28</a:t>
            </a:r>
            <a:endParaRPr lang="en-US" sz="435" dirty="0"/>
          </a:p>
        </p:txBody>
      </p:sp>
      <p:sp>
        <p:nvSpPr>
          <p:cNvPr id="76" name="Text 73"/>
          <p:cNvSpPr/>
          <p:nvPr/>
        </p:nvSpPr>
        <p:spPr>
          <a:xfrm>
            <a:off x="4751347" y="1848445"/>
            <a:ext cx="155349" cy="87511"/>
          </a:xfrm>
          <a:prstGeom prst="rect">
            <a:avLst/>
          </a:prstGeom>
          <a:noFill/>
          <a:ln/>
        </p:spPr>
        <p:txBody>
          <a:bodyPr wrap="none" lIns="0" tIns="0" rIns="0" bIns="0" rtlCol="0" anchor="t">
            <a:spAutoFit/>
          </a:bodyPr>
          <a:lstStyle/>
          <a:p>
            <a:pPr marL="0" indent="0" algn="ctr">
              <a:lnSpc>
                <a:spcPts val="600"/>
              </a:lnSpc>
              <a:buNone/>
            </a:pPr>
            <a:r>
              <a:rPr lang="en-US" sz="435" b="1" dirty="0">
                <a:solidFill>
                  <a:srgbClr val="FFFFFF"/>
                </a:solidFill>
              </a:rPr>
              <a:t>Area</a:t>
            </a:r>
            <a:endParaRPr lang="en-US" sz="435" dirty="0"/>
          </a:p>
        </p:txBody>
      </p:sp>
      <p:sp>
        <p:nvSpPr>
          <p:cNvPr id="77" name="Shape 74"/>
          <p:cNvSpPr/>
          <p:nvPr/>
        </p:nvSpPr>
        <p:spPr>
          <a:xfrm>
            <a:off x="5123576" y="1819870"/>
            <a:ext cx="589080" cy="144661"/>
          </a:xfrm>
          <a:prstGeom prst="rect">
            <a:avLst/>
          </a:prstGeom>
          <a:solidFill>
            <a:srgbClr val="FF6B6B"/>
          </a:solidFill>
          <a:ln/>
        </p:spPr>
        <p:txBody>
          <a:bodyPr/>
          <a:lstStyle/>
          <a:p>
            <a:endParaRPr lang="en-MU"/>
          </a:p>
        </p:txBody>
      </p:sp>
      <p:sp>
        <p:nvSpPr>
          <p:cNvPr id="78" name="Text 75"/>
          <p:cNvSpPr/>
          <p:nvPr/>
        </p:nvSpPr>
        <p:spPr>
          <a:xfrm>
            <a:off x="5123576" y="1819870"/>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0.54</a:t>
            </a:r>
            <a:endParaRPr lang="en-US" sz="435" dirty="0"/>
          </a:p>
        </p:txBody>
      </p:sp>
      <p:sp>
        <p:nvSpPr>
          <p:cNvPr id="79" name="Shape 76"/>
          <p:cNvSpPr/>
          <p:nvPr/>
        </p:nvSpPr>
        <p:spPr>
          <a:xfrm>
            <a:off x="5712656" y="1819870"/>
            <a:ext cx="589080" cy="144661"/>
          </a:xfrm>
          <a:prstGeom prst="rect">
            <a:avLst/>
          </a:prstGeom>
          <a:solidFill>
            <a:srgbClr val="DC143C"/>
          </a:solidFill>
          <a:ln/>
        </p:spPr>
        <p:txBody>
          <a:bodyPr/>
          <a:lstStyle/>
          <a:p>
            <a:endParaRPr lang="en-MU"/>
          </a:p>
        </p:txBody>
      </p:sp>
      <p:sp>
        <p:nvSpPr>
          <p:cNvPr id="80" name="Text 77"/>
          <p:cNvSpPr/>
          <p:nvPr/>
        </p:nvSpPr>
        <p:spPr>
          <a:xfrm>
            <a:off x="5712656" y="1819870"/>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1.00</a:t>
            </a:r>
            <a:endParaRPr lang="en-US" sz="435" dirty="0"/>
          </a:p>
        </p:txBody>
      </p:sp>
      <p:sp>
        <p:nvSpPr>
          <p:cNvPr id="81" name="Shape 78"/>
          <p:cNvSpPr/>
          <p:nvPr/>
        </p:nvSpPr>
        <p:spPr>
          <a:xfrm>
            <a:off x="6301736" y="1819870"/>
            <a:ext cx="589080" cy="144661"/>
          </a:xfrm>
          <a:prstGeom prst="rect">
            <a:avLst/>
          </a:prstGeom>
          <a:solidFill>
            <a:srgbClr val="FFB6C1"/>
          </a:solidFill>
          <a:ln/>
        </p:spPr>
        <p:txBody>
          <a:bodyPr/>
          <a:lstStyle/>
          <a:p>
            <a:endParaRPr lang="en-MU"/>
          </a:p>
        </p:txBody>
      </p:sp>
      <p:sp>
        <p:nvSpPr>
          <p:cNvPr id="82" name="Text 79"/>
          <p:cNvSpPr/>
          <p:nvPr/>
        </p:nvSpPr>
        <p:spPr>
          <a:xfrm>
            <a:off x="6301736" y="1819870"/>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0.29</a:t>
            </a:r>
            <a:endParaRPr lang="en-US" sz="435" dirty="0"/>
          </a:p>
        </p:txBody>
      </p:sp>
      <p:sp>
        <p:nvSpPr>
          <p:cNvPr id="83" name="Shape 80"/>
          <p:cNvSpPr/>
          <p:nvPr/>
        </p:nvSpPr>
        <p:spPr>
          <a:xfrm>
            <a:off x="6890817" y="1819870"/>
            <a:ext cx="589080" cy="144661"/>
          </a:xfrm>
          <a:prstGeom prst="rect">
            <a:avLst/>
          </a:prstGeom>
          <a:solidFill>
            <a:srgbClr val="FFB6C1"/>
          </a:solidFill>
          <a:ln/>
        </p:spPr>
        <p:txBody>
          <a:bodyPr/>
          <a:lstStyle/>
          <a:p>
            <a:endParaRPr lang="en-MU"/>
          </a:p>
        </p:txBody>
      </p:sp>
      <p:sp>
        <p:nvSpPr>
          <p:cNvPr id="84" name="Text 81"/>
          <p:cNvSpPr/>
          <p:nvPr/>
        </p:nvSpPr>
        <p:spPr>
          <a:xfrm>
            <a:off x="6890817" y="1819870"/>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0.31</a:t>
            </a:r>
            <a:endParaRPr lang="en-US" sz="435" dirty="0"/>
          </a:p>
        </p:txBody>
      </p:sp>
      <p:sp>
        <p:nvSpPr>
          <p:cNvPr id="85" name="Shape 82"/>
          <p:cNvSpPr/>
          <p:nvPr/>
        </p:nvSpPr>
        <p:spPr>
          <a:xfrm>
            <a:off x="7479897" y="1819870"/>
            <a:ext cx="589080" cy="144661"/>
          </a:xfrm>
          <a:prstGeom prst="rect">
            <a:avLst/>
          </a:prstGeom>
          <a:solidFill>
            <a:srgbClr val="FFB6C1"/>
          </a:solidFill>
          <a:ln/>
        </p:spPr>
        <p:txBody>
          <a:bodyPr/>
          <a:lstStyle/>
          <a:p>
            <a:endParaRPr lang="en-MU"/>
          </a:p>
        </p:txBody>
      </p:sp>
      <p:sp>
        <p:nvSpPr>
          <p:cNvPr id="86" name="Text 83"/>
          <p:cNvSpPr/>
          <p:nvPr/>
        </p:nvSpPr>
        <p:spPr>
          <a:xfrm>
            <a:off x="7479897" y="1819870"/>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0.27</a:t>
            </a:r>
            <a:endParaRPr lang="en-US" sz="435" dirty="0"/>
          </a:p>
        </p:txBody>
      </p:sp>
      <p:sp>
        <p:nvSpPr>
          <p:cNvPr id="88" name="Text 85"/>
          <p:cNvSpPr/>
          <p:nvPr/>
        </p:nvSpPr>
        <p:spPr>
          <a:xfrm>
            <a:off x="8068977" y="1819870"/>
            <a:ext cx="589248"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0.08</a:t>
            </a:r>
            <a:endParaRPr lang="en-US" sz="435" dirty="0"/>
          </a:p>
        </p:txBody>
      </p:sp>
      <p:sp>
        <p:nvSpPr>
          <p:cNvPr id="89" name="Text 86"/>
          <p:cNvSpPr/>
          <p:nvPr/>
        </p:nvSpPr>
        <p:spPr>
          <a:xfrm>
            <a:off x="4662664" y="1993106"/>
            <a:ext cx="332742" cy="87511"/>
          </a:xfrm>
          <a:prstGeom prst="rect">
            <a:avLst/>
          </a:prstGeom>
          <a:noFill/>
          <a:ln/>
        </p:spPr>
        <p:txBody>
          <a:bodyPr wrap="none" lIns="0" tIns="0" rIns="0" bIns="0" rtlCol="0" anchor="t">
            <a:spAutoFit/>
          </a:bodyPr>
          <a:lstStyle/>
          <a:p>
            <a:pPr marL="0" indent="0" algn="ctr">
              <a:lnSpc>
                <a:spcPts val="600"/>
              </a:lnSpc>
              <a:buNone/>
            </a:pPr>
            <a:r>
              <a:rPr lang="en-US" sz="435" b="1" dirty="0">
                <a:solidFill>
                  <a:srgbClr val="FFFFFF"/>
                </a:solidFill>
              </a:rPr>
              <a:t>Bedrooms</a:t>
            </a:r>
            <a:endParaRPr lang="en-US" sz="435" dirty="0"/>
          </a:p>
        </p:txBody>
      </p:sp>
      <p:sp>
        <p:nvSpPr>
          <p:cNvPr id="90" name="Shape 87"/>
          <p:cNvSpPr/>
          <p:nvPr/>
        </p:nvSpPr>
        <p:spPr>
          <a:xfrm>
            <a:off x="5123576" y="1964531"/>
            <a:ext cx="589080" cy="144661"/>
          </a:xfrm>
          <a:prstGeom prst="rect">
            <a:avLst/>
          </a:prstGeom>
          <a:solidFill>
            <a:srgbClr val="FFA07A"/>
          </a:solidFill>
          <a:ln/>
        </p:spPr>
        <p:txBody>
          <a:bodyPr/>
          <a:lstStyle/>
          <a:p>
            <a:endParaRPr lang="en-MU"/>
          </a:p>
        </p:txBody>
      </p:sp>
      <p:sp>
        <p:nvSpPr>
          <p:cNvPr id="91" name="Text 88"/>
          <p:cNvSpPr/>
          <p:nvPr/>
        </p:nvSpPr>
        <p:spPr>
          <a:xfrm>
            <a:off x="5123576" y="1964531"/>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0.41</a:t>
            </a:r>
            <a:endParaRPr lang="en-US" sz="435" dirty="0"/>
          </a:p>
        </p:txBody>
      </p:sp>
      <p:sp>
        <p:nvSpPr>
          <p:cNvPr id="92" name="Shape 89"/>
          <p:cNvSpPr/>
          <p:nvPr/>
        </p:nvSpPr>
        <p:spPr>
          <a:xfrm>
            <a:off x="5712656" y="1964531"/>
            <a:ext cx="589080" cy="144661"/>
          </a:xfrm>
          <a:prstGeom prst="rect">
            <a:avLst/>
          </a:prstGeom>
          <a:solidFill>
            <a:srgbClr val="FFB6C1"/>
          </a:solidFill>
          <a:ln/>
        </p:spPr>
        <p:txBody>
          <a:bodyPr/>
          <a:lstStyle/>
          <a:p>
            <a:endParaRPr lang="en-MU"/>
          </a:p>
        </p:txBody>
      </p:sp>
      <p:sp>
        <p:nvSpPr>
          <p:cNvPr id="93" name="Text 90"/>
          <p:cNvSpPr/>
          <p:nvPr/>
        </p:nvSpPr>
        <p:spPr>
          <a:xfrm>
            <a:off x="5712656" y="1964531"/>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0.29</a:t>
            </a:r>
            <a:endParaRPr lang="en-US" sz="435" dirty="0"/>
          </a:p>
        </p:txBody>
      </p:sp>
      <p:sp>
        <p:nvSpPr>
          <p:cNvPr id="94" name="Shape 91"/>
          <p:cNvSpPr/>
          <p:nvPr/>
        </p:nvSpPr>
        <p:spPr>
          <a:xfrm>
            <a:off x="6301736" y="1964531"/>
            <a:ext cx="589080" cy="144661"/>
          </a:xfrm>
          <a:prstGeom prst="rect">
            <a:avLst/>
          </a:prstGeom>
          <a:solidFill>
            <a:srgbClr val="DC143C"/>
          </a:solidFill>
          <a:ln/>
        </p:spPr>
        <p:txBody>
          <a:bodyPr/>
          <a:lstStyle/>
          <a:p>
            <a:endParaRPr lang="en-MU"/>
          </a:p>
        </p:txBody>
      </p:sp>
      <p:sp>
        <p:nvSpPr>
          <p:cNvPr id="95" name="Text 92"/>
          <p:cNvSpPr/>
          <p:nvPr/>
        </p:nvSpPr>
        <p:spPr>
          <a:xfrm>
            <a:off x="6301736" y="1964531"/>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1.00</a:t>
            </a:r>
            <a:endParaRPr lang="en-US" sz="435" dirty="0"/>
          </a:p>
        </p:txBody>
      </p:sp>
      <p:sp>
        <p:nvSpPr>
          <p:cNvPr id="96" name="Shape 93"/>
          <p:cNvSpPr/>
          <p:nvPr/>
        </p:nvSpPr>
        <p:spPr>
          <a:xfrm>
            <a:off x="6890817" y="1964531"/>
            <a:ext cx="589080" cy="144661"/>
          </a:xfrm>
          <a:prstGeom prst="rect">
            <a:avLst/>
          </a:prstGeom>
          <a:solidFill>
            <a:srgbClr val="FFB6C1"/>
          </a:solidFill>
          <a:ln/>
        </p:spPr>
        <p:txBody>
          <a:bodyPr/>
          <a:lstStyle/>
          <a:p>
            <a:endParaRPr lang="en-MU"/>
          </a:p>
        </p:txBody>
      </p:sp>
      <p:sp>
        <p:nvSpPr>
          <p:cNvPr id="97" name="Text 94"/>
          <p:cNvSpPr/>
          <p:nvPr/>
        </p:nvSpPr>
        <p:spPr>
          <a:xfrm>
            <a:off x="6890817" y="1964531"/>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0.32</a:t>
            </a:r>
            <a:endParaRPr lang="en-US" sz="435" dirty="0"/>
          </a:p>
        </p:txBody>
      </p:sp>
      <p:sp>
        <p:nvSpPr>
          <p:cNvPr id="98" name="Shape 95"/>
          <p:cNvSpPr/>
          <p:nvPr/>
        </p:nvSpPr>
        <p:spPr>
          <a:xfrm>
            <a:off x="7479897" y="1964531"/>
            <a:ext cx="589080" cy="144661"/>
          </a:xfrm>
          <a:prstGeom prst="rect">
            <a:avLst/>
          </a:prstGeom>
          <a:solidFill>
            <a:srgbClr val="FFB6C1"/>
          </a:solidFill>
          <a:ln/>
        </p:spPr>
        <p:txBody>
          <a:bodyPr/>
          <a:lstStyle/>
          <a:p>
            <a:endParaRPr lang="en-MU"/>
          </a:p>
        </p:txBody>
      </p:sp>
      <p:sp>
        <p:nvSpPr>
          <p:cNvPr id="99" name="Text 96"/>
          <p:cNvSpPr/>
          <p:nvPr/>
        </p:nvSpPr>
        <p:spPr>
          <a:xfrm>
            <a:off x="7479897" y="1964531"/>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0.25</a:t>
            </a:r>
            <a:endParaRPr lang="en-US" sz="435" dirty="0"/>
          </a:p>
        </p:txBody>
      </p:sp>
      <p:sp>
        <p:nvSpPr>
          <p:cNvPr id="101" name="Text 98"/>
          <p:cNvSpPr/>
          <p:nvPr/>
        </p:nvSpPr>
        <p:spPr>
          <a:xfrm>
            <a:off x="8068977" y="1964531"/>
            <a:ext cx="589248"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0.05</a:t>
            </a:r>
            <a:endParaRPr lang="en-US" sz="435" dirty="0"/>
          </a:p>
        </p:txBody>
      </p:sp>
      <p:sp>
        <p:nvSpPr>
          <p:cNvPr id="102" name="Text 99"/>
          <p:cNvSpPr/>
          <p:nvPr/>
        </p:nvSpPr>
        <p:spPr>
          <a:xfrm>
            <a:off x="4646842" y="2137767"/>
            <a:ext cx="364359" cy="87511"/>
          </a:xfrm>
          <a:prstGeom prst="rect">
            <a:avLst/>
          </a:prstGeom>
          <a:noFill/>
          <a:ln/>
        </p:spPr>
        <p:txBody>
          <a:bodyPr wrap="none" lIns="0" tIns="0" rIns="0" bIns="0" rtlCol="0" anchor="t">
            <a:spAutoFit/>
          </a:bodyPr>
          <a:lstStyle/>
          <a:p>
            <a:pPr marL="0" indent="0" algn="ctr">
              <a:lnSpc>
                <a:spcPts val="600"/>
              </a:lnSpc>
              <a:buNone/>
            </a:pPr>
            <a:r>
              <a:rPr lang="en-US" sz="435" b="1" dirty="0">
                <a:solidFill>
                  <a:srgbClr val="FFFFFF"/>
                </a:solidFill>
              </a:rPr>
              <a:t>Bathrooms</a:t>
            </a:r>
            <a:endParaRPr lang="en-US" sz="435" dirty="0"/>
          </a:p>
        </p:txBody>
      </p:sp>
      <p:sp>
        <p:nvSpPr>
          <p:cNvPr id="103" name="Shape 100"/>
          <p:cNvSpPr/>
          <p:nvPr/>
        </p:nvSpPr>
        <p:spPr>
          <a:xfrm>
            <a:off x="5123576" y="2109192"/>
            <a:ext cx="589080" cy="144661"/>
          </a:xfrm>
          <a:prstGeom prst="rect">
            <a:avLst/>
          </a:prstGeom>
          <a:solidFill>
            <a:srgbClr val="FF8C69"/>
          </a:solidFill>
          <a:ln/>
        </p:spPr>
        <p:txBody>
          <a:bodyPr/>
          <a:lstStyle/>
          <a:p>
            <a:endParaRPr lang="en-MU"/>
          </a:p>
        </p:txBody>
      </p:sp>
      <p:sp>
        <p:nvSpPr>
          <p:cNvPr id="104" name="Text 101"/>
          <p:cNvSpPr/>
          <p:nvPr/>
        </p:nvSpPr>
        <p:spPr>
          <a:xfrm>
            <a:off x="5123576" y="2109192"/>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0.52</a:t>
            </a:r>
            <a:endParaRPr lang="en-US" sz="435" dirty="0"/>
          </a:p>
        </p:txBody>
      </p:sp>
      <p:sp>
        <p:nvSpPr>
          <p:cNvPr id="105" name="Shape 102"/>
          <p:cNvSpPr/>
          <p:nvPr/>
        </p:nvSpPr>
        <p:spPr>
          <a:xfrm>
            <a:off x="5712656" y="2109192"/>
            <a:ext cx="589080" cy="144661"/>
          </a:xfrm>
          <a:prstGeom prst="rect">
            <a:avLst/>
          </a:prstGeom>
          <a:solidFill>
            <a:srgbClr val="FFB6C1"/>
          </a:solidFill>
          <a:ln/>
        </p:spPr>
        <p:txBody>
          <a:bodyPr/>
          <a:lstStyle/>
          <a:p>
            <a:endParaRPr lang="en-MU"/>
          </a:p>
        </p:txBody>
      </p:sp>
      <p:sp>
        <p:nvSpPr>
          <p:cNvPr id="106" name="Text 103"/>
          <p:cNvSpPr/>
          <p:nvPr/>
        </p:nvSpPr>
        <p:spPr>
          <a:xfrm>
            <a:off x="5712656" y="2109192"/>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0.31</a:t>
            </a:r>
            <a:endParaRPr lang="en-US" sz="435" dirty="0"/>
          </a:p>
        </p:txBody>
      </p:sp>
      <p:sp>
        <p:nvSpPr>
          <p:cNvPr id="107" name="Shape 104"/>
          <p:cNvSpPr/>
          <p:nvPr/>
        </p:nvSpPr>
        <p:spPr>
          <a:xfrm>
            <a:off x="6301736" y="2109192"/>
            <a:ext cx="589080" cy="144661"/>
          </a:xfrm>
          <a:prstGeom prst="rect">
            <a:avLst/>
          </a:prstGeom>
          <a:solidFill>
            <a:srgbClr val="FFB6C1"/>
          </a:solidFill>
          <a:ln/>
        </p:spPr>
        <p:txBody>
          <a:bodyPr/>
          <a:lstStyle/>
          <a:p>
            <a:endParaRPr lang="en-MU"/>
          </a:p>
        </p:txBody>
      </p:sp>
      <p:sp>
        <p:nvSpPr>
          <p:cNvPr id="108" name="Text 105"/>
          <p:cNvSpPr/>
          <p:nvPr/>
        </p:nvSpPr>
        <p:spPr>
          <a:xfrm>
            <a:off x="6301736" y="2109192"/>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0.32</a:t>
            </a:r>
            <a:endParaRPr lang="en-US" sz="435" dirty="0"/>
          </a:p>
        </p:txBody>
      </p:sp>
      <p:sp>
        <p:nvSpPr>
          <p:cNvPr id="109" name="Shape 106"/>
          <p:cNvSpPr/>
          <p:nvPr/>
        </p:nvSpPr>
        <p:spPr>
          <a:xfrm>
            <a:off x="6890817" y="2109192"/>
            <a:ext cx="589080" cy="144661"/>
          </a:xfrm>
          <a:prstGeom prst="rect">
            <a:avLst/>
          </a:prstGeom>
          <a:solidFill>
            <a:srgbClr val="DC143C"/>
          </a:solidFill>
          <a:ln/>
        </p:spPr>
        <p:txBody>
          <a:bodyPr/>
          <a:lstStyle/>
          <a:p>
            <a:endParaRPr lang="en-MU"/>
          </a:p>
        </p:txBody>
      </p:sp>
      <p:sp>
        <p:nvSpPr>
          <p:cNvPr id="110" name="Text 107"/>
          <p:cNvSpPr/>
          <p:nvPr/>
        </p:nvSpPr>
        <p:spPr>
          <a:xfrm>
            <a:off x="6890817" y="2109192"/>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1.00</a:t>
            </a:r>
            <a:endParaRPr lang="en-US" sz="435" dirty="0"/>
          </a:p>
        </p:txBody>
      </p:sp>
      <p:sp>
        <p:nvSpPr>
          <p:cNvPr id="111" name="Shape 108"/>
          <p:cNvSpPr/>
          <p:nvPr/>
        </p:nvSpPr>
        <p:spPr>
          <a:xfrm>
            <a:off x="7479897" y="2109192"/>
            <a:ext cx="589080" cy="144661"/>
          </a:xfrm>
          <a:prstGeom prst="rect">
            <a:avLst/>
          </a:prstGeom>
          <a:solidFill>
            <a:srgbClr val="FFB6C1"/>
          </a:solidFill>
          <a:ln/>
        </p:spPr>
        <p:txBody>
          <a:bodyPr/>
          <a:lstStyle/>
          <a:p>
            <a:endParaRPr lang="en-MU"/>
          </a:p>
        </p:txBody>
      </p:sp>
      <p:sp>
        <p:nvSpPr>
          <p:cNvPr id="112" name="Text 109"/>
          <p:cNvSpPr/>
          <p:nvPr/>
        </p:nvSpPr>
        <p:spPr>
          <a:xfrm>
            <a:off x="7479897" y="2109192"/>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0.28</a:t>
            </a:r>
            <a:endParaRPr lang="en-US" sz="435" dirty="0"/>
          </a:p>
        </p:txBody>
      </p:sp>
      <p:sp>
        <p:nvSpPr>
          <p:cNvPr id="114" name="Text 111"/>
          <p:cNvSpPr/>
          <p:nvPr/>
        </p:nvSpPr>
        <p:spPr>
          <a:xfrm>
            <a:off x="8068977" y="2109192"/>
            <a:ext cx="589248"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0.10</a:t>
            </a:r>
            <a:endParaRPr lang="en-US" sz="435" dirty="0"/>
          </a:p>
        </p:txBody>
      </p:sp>
      <p:sp>
        <p:nvSpPr>
          <p:cNvPr id="115" name="Text 112"/>
          <p:cNvSpPr/>
          <p:nvPr/>
        </p:nvSpPr>
        <p:spPr>
          <a:xfrm>
            <a:off x="4713201" y="2282428"/>
            <a:ext cx="231670" cy="87511"/>
          </a:xfrm>
          <a:prstGeom prst="rect">
            <a:avLst/>
          </a:prstGeom>
          <a:noFill/>
          <a:ln/>
        </p:spPr>
        <p:txBody>
          <a:bodyPr wrap="none" lIns="0" tIns="0" rIns="0" bIns="0" rtlCol="0" anchor="t">
            <a:spAutoFit/>
          </a:bodyPr>
          <a:lstStyle/>
          <a:p>
            <a:pPr marL="0" indent="0" algn="ctr">
              <a:lnSpc>
                <a:spcPts val="600"/>
              </a:lnSpc>
              <a:buNone/>
            </a:pPr>
            <a:r>
              <a:rPr lang="en-US" sz="435" b="1" dirty="0">
                <a:solidFill>
                  <a:srgbClr val="FFFFFF"/>
                </a:solidFill>
              </a:rPr>
              <a:t>Stories</a:t>
            </a:r>
            <a:endParaRPr lang="en-US" sz="435" dirty="0"/>
          </a:p>
        </p:txBody>
      </p:sp>
      <p:sp>
        <p:nvSpPr>
          <p:cNvPr id="116" name="Shape 113"/>
          <p:cNvSpPr/>
          <p:nvPr/>
        </p:nvSpPr>
        <p:spPr>
          <a:xfrm>
            <a:off x="5123576" y="2253853"/>
            <a:ext cx="589080" cy="144661"/>
          </a:xfrm>
          <a:prstGeom prst="rect">
            <a:avLst/>
          </a:prstGeom>
          <a:solidFill>
            <a:srgbClr val="FFA07A"/>
          </a:solidFill>
          <a:ln/>
        </p:spPr>
        <p:txBody>
          <a:bodyPr/>
          <a:lstStyle/>
          <a:p>
            <a:endParaRPr lang="en-MU"/>
          </a:p>
        </p:txBody>
      </p:sp>
      <p:sp>
        <p:nvSpPr>
          <p:cNvPr id="117" name="Text 114"/>
          <p:cNvSpPr/>
          <p:nvPr/>
        </p:nvSpPr>
        <p:spPr>
          <a:xfrm>
            <a:off x="5123576" y="2253853"/>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0.43</a:t>
            </a:r>
            <a:endParaRPr lang="en-US" sz="435" dirty="0"/>
          </a:p>
        </p:txBody>
      </p:sp>
      <p:sp>
        <p:nvSpPr>
          <p:cNvPr id="118" name="Shape 115"/>
          <p:cNvSpPr/>
          <p:nvPr/>
        </p:nvSpPr>
        <p:spPr>
          <a:xfrm>
            <a:off x="5712656" y="2253853"/>
            <a:ext cx="589080" cy="144661"/>
          </a:xfrm>
          <a:prstGeom prst="rect">
            <a:avLst/>
          </a:prstGeom>
          <a:solidFill>
            <a:srgbClr val="FFB6C1"/>
          </a:solidFill>
          <a:ln/>
        </p:spPr>
        <p:txBody>
          <a:bodyPr/>
          <a:lstStyle/>
          <a:p>
            <a:endParaRPr lang="en-MU"/>
          </a:p>
        </p:txBody>
      </p:sp>
      <p:sp>
        <p:nvSpPr>
          <p:cNvPr id="119" name="Text 116"/>
          <p:cNvSpPr/>
          <p:nvPr/>
        </p:nvSpPr>
        <p:spPr>
          <a:xfrm>
            <a:off x="5712656" y="2253853"/>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0.27</a:t>
            </a:r>
            <a:endParaRPr lang="en-US" sz="435" dirty="0"/>
          </a:p>
        </p:txBody>
      </p:sp>
      <p:sp>
        <p:nvSpPr>
          <p:cNvPr id="120" name="Shape 117"/>
          <p:cNvSpPr/>
          <p:nvPr/>
        </p:nvSpPr>
        <p:spPr>
          <a:xfrm>
            <a:off x="6301736" y="2253853"/>
            <a:ext cx="589080" cy="144661"/>
          </a:xfrm>
          <a:prstGeom prst="rect">
            <a:avLst/>
          </a:prstGeom>
          <a:solidFill>
            <a:srgbClr val="FFB6C1"/>
          </a:solidFill>
          <a:ln/>
        </p:spPr>
        <p:txBody>
          <a:bodyPr/>
          <a:lstStyle/>
          <a:p>
            <a:endParaRPr lang="en-MU"/>
          </a:p>
        </p:txBody>
      </p:sp>
      <p:sp>
        <p:nvSpPr>
          <p:cNvPr id="121" name="Text 118"/>
          <p:cNvSpPr/>
          <p:nvPr/>
        </p:nvSpPr>
        <p:spPr>
          <a:xfrm>
            <a:off x="6301736" y="2253853"/>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0.25</a:t>
            </a:r>
            <a:endParaRPr lang="en-US" sz="435" dirty="0"/>
          </a:p>
        </p:txBody>
      </p:sp>
      <p:sp>
        <p:nvSpPr>
          <p:cNvPr id="122" name="Shape 119"/>
          <p:cNvSpPr/>
          <p:nvPr/>
        </p:nvSpPr>
        <p:spPr>
          <a:xfrm>
            <a:off x="6890817" y="2253853"/>
            <a:ext cx="589080" cy="144661"/>
          </a:xfrm>
          <a:prstGeom prst="rect">
            <a:avLst/>
          </a:prstGeom>
          <a:solidFill>
            <a:srgbClr val="FFB6C1"/>
          </a:solidFill>
          <a:ln/>
        </p:spPr>
        <p:txBody>
          <a:bodyPr/>
          <a:lstStyle/>
          <a:p>
            <a:endParaRPr lang="en-MU"/>
          </a:p>
        </p:txBody>
      </p:sp>
      <p:sp>
        <p:nvSpPr>
          <p:cNvPr id="123" name="Text 120"/>
          <p:cNvSpPr/>
          <p:nvPr/>
        </p:nvSpPr>
        <p:spPr>
          <a:xfrm>
            <a:off x="6890817" y="2253853"/>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0.28</a:t>
            </a:r>
            <a:endParaRPr lang="en-US" sz="435" dirty="0"/>
          </a:p>
        </p:txBody>
      </p:sp>
      <p:sp>
        <p:nvSpPr>
          <p:cNvPr id="124" name="Shape 121"/>
          <p:cNvSpPr/>
          <p:nvPr/>
        </p:nvSpPr>
        <p:spPr>
          <a:xfrm>
            <a:off x="7479897" y="2253853"/>
            <a:ext cx="589080" cy="144661"/>
          </a:xfrm>
          <a:prstGeom prst="rect">
            <a:avLst/>
          </a:prstGeom>
          <a:solidFill>
            <a:srgbClr val="DC143C"/>
          </a:solidFill>
          <a:ln/>
        </p:spPr>
        <p:txBody>
          <a:bodyPr/>
          <a:lstStyle/>
          <a:p>
            <a:endParaRPr lang="en-MU"/>
          </a:p>
        </p:txBody>
      </p:sp>
      <p:sp>
        <p:nvSpPr>
          <p:cNvPr id="125" name="Text 122"/>
          <p:cNvSpPr/>
          <p:nvPr/>
        </p:nvSpPr>
        <p:spPr>
          <a:xfrm>
            <a:off x="7479897" y="2253853"/>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1.00</a:t>
            </a:r>
            <a:endParaRPr lang="en-US" sz="435" dirty="0"/>
          </a:p>
        </p:txBody>
      </p:sp>
      <p:sp>
        <p:nvSpPr>
          <p:cNvPr id="127" name="Text 124"/>
          <p:cNvSpPr/>
          <p:nvPr/>
        </p:nvSpPr>
        <p:spPr>
          <a:xfrm>
            <a:off x="8068977" y="2253853"/>
            <a:ext cx="589248"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0.12</a:t>
            </a:r>
            <a:endParaRPr lang="en-US" sz="435" dirty="0"/>
          </a:p>
        </p:txBody>
      </p:sp>
      <p:sp>
        <p:nvSpPr>
          <p:cNvPr id="128" name="Text 125"/>
          <p:cNvSpPr/>
          <p:nvPr/>
        </p:nvSpPr>
        <p:spPr>
          <a:xfrm>
            <a:off x="4699750" y="2427089"/>
            <a:ext cx="258542" cy="87511"/>
          </a:xfrm>
          <a:prstGeom prst="rect">
            <a:avLst/>
          </a:prstGeom>
          <a:noFill/>
          <a:ln/>
        </p:spPr>
        <p:txBody>
          <a:bodyPr wrap="none" lIns="0" tIns="0" rIns="0" bIns="0" rtlCol="0" anchor="t">
            <a:spAutoFit/>
          </a:bodyPr>
          <a:lstStyle/>
          <a:p>
            <a:pPr marL="0" indent="0" algn="ctr">
              <a:lnSpc>
                <a:spcPts val="600"/>
              </a:lnSpc>
              <a:buNone/>
            </a:pPr>
            <a:r>
              <a:rPr lang="en-US" sz="435" b="1" dirty="0">
                <a:solidFill>
                  <a:srgbClr val="FFFFFF"/>
                </a:solidFill>
              </a:rPr>
              <a:t>Parking</a:t>
            </a:r>
            <a:endParaRPr lang="en-US" sz="435" dirty="0"/>
          </a:p>
        </p:txBody>
      </p:sp>
      <p:sp>
        <p:nvSpPr>
          <p:cNvPr id="129" name="Shape 126"/>
          <p:cNvSpPr/>
          <p:nvPr/>
        </p:nvSpPr>
        <p:spPr>
          <a:xfrm>
            <a:off x="5123576" y="2398514"/>
            <a:ext cx="589080" cy="144661"/>
          </a:xfrm>
          <a:prstGeom prst="rect">
            <a:avLst/>
          </a:prstGeom>
          <a:solidFill>
            <a:srgbClr val="FFB6C1"/>
          </a:solidFill>
          <a:ln/>
        </p:spPr>
        <p:txBody>
          <a:bodyPr/>
          <a:lstStyle/>
          <a:p>
            <a:endParaRPr lang="en-MU"/>
          </a:p>
        </p:txBody>
      </p:sp>
      <p:sp>
        <p:nvSpPr>
          <p:cNvPr id="130" name="Text 127"/>
          <p:cNvSpPr/>
          <p:nvPr/>
        </p:nvSpPr>
        <p:spPr>
          <a:xfrm>
            <a:off x="5123576" y="2398514"/>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0.28</a:t>
            </a:r>
            <a:endParaRPr lang="en-US" sz="435" dirty="0"/>
          </a:p>
        </p:txBody>
      </p:sp>
      <p:sp>
        <p:nvSpPr>
          <p:cNvPr id="131" name="Shape 128"/>
          <p:cNvSpPr/>
          <p:nvPr/>
        </p:nvSpPr>
        <p:spPr>
          <a:xfrm>
            <a:off x="5712656" y="2398514"/>
            <a:ext cx="589080" cy="144661"/>
          </a:xfrm>
          <a:prstGeom prst="rect">
            <a:avLst/>
          </a:prstGeom>
          <a:solidFill>
            <a:srgbClr val="E0E0E0"/>
          </a:solidFill>
          <a:ln/>
        </p:spPr>
        <p:txBody>
          <a:bodyPr/>
          <a:lstStyle/>
          <a:p>
            <a:endParaRPr lang="en-MU"/>
          </a:p>
        </p:txBody>
      </p:sp>
      <p:sp>
        <p:nvSpPr>
          <p:cNvPr id="132" name="Text 129"/>
          <p:cNvSpPr/>
          <p:nvPr/>
        </p:nvSpPr>
        <p:spPr>
          <a:xfrm>
            <a:off x="5712656" y="2398514"/>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0.08</a:t>
            </a:r>
            <a:endParaRPr lang="en-US" sz="435" dirty="0"/>
          </a:p>
        </p:txBody>
      </p:sp>
      <p:sp>
        <p:nvSpPr>
          <p:cNvPr id="133" name="Shape 130"/>
          <p:cNvSpPr/>
          <p:nvPr/>
        </p:nvSpPr>
        <p:spPr>
          <a:xfrm>
            <a:off x="6301736" y="2398514"/>
            <a:ext cx="589080" cy="144661"/>
          </a:xfrm>
          <a:prstGeom prst="rect">
            <a:avLst/>
          </a:prstGeom>
          <a:solidFill>
            <a:srgbClr val="E0E0E0"/>
          </a:solidFill>
          <a:ln/>
        </p:spPr>
        <p:txBody>
          <a:bodyPr/>
          <a:lstStyle/>
          <a:p>
            <a:endParaRPr lang="en-MU"/>
          </a:p>
        </p:txBody>
      </p:sp>
      <p:sp>
        <p:nvSpPr>
          <p:cNvPr id="134" name="Text 131"/>
          <p:cNvSpPr/>
          <p:nvPr/>
        </p:nvSpPr>
        <p:spPr>
          <a:xfrm>
            <a:off x="6301736" y="2398514"/>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0.05</a:t>
            </a:r>
            <a:endParaRPr lang="en-US" sz="435" dirty="0"/>
          </a:p>
        </p:txBody>
      </p:sp>
      <p:sp>
        <p:nvSpPr>
          <p:cNvPr id="135" name="Shape 132"/>
          <p:cNvSpPr/>
          <p:nvPr/>
        </p:nvSpPr>
        <p:spPr>
          <a:xfrm>
            <a:off x="6890817" y="2398514"/>
            <a:ext cx="589080" cy="144661"/>
          </a:xfrm>
          <a:prstGeom prst="rect">
            <a:avLst/>
          </a:prstGeom>
          <a:solidFill>
            <a:srgbClr val="E0E0E0"/>
          </a:solidFill>
          <a:ln/>
        </p:spPr>
        <p:txBody>
          <a:bodyPr/>
          <a:lstStyle/>
          <a:p>
            <a:endParaRPr lang="en-MU"/>
          </a:p>
        </p:txBody>
      </p:sp>
      <p:sp>
        <p:nvSpPr>
          <p:cNvPr id="136" name="Text 133"/>
          <p:cNvSpPr/>
          <p:nvPr/>
        </p:nvSpPr>
        <p:spPr>
          <a:xfrm>
            <a:off x="6890817" y="2398514"/>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0.10</a:t>
            </a:r>
            <a:endParaRPr lang="en-US" sz="435" dirty="0"/>
          </a:p>
        </p:txBody>
      </p:sp>
      <p:sp>
        <p:nvSpPr>
          <p:cNvPr id="137" name="Shape 134"/>
          <p:cNvSpPr/>
          <p:nvPr/>
        </p:nvSpPr>
        <p:spPr>
          <a:xfrm>
            <a:off x="7479897" y="2398514"/>
            <a:ext cx="589080" cy="144661"/>
          </a:xfrm>
          <a:prstGeom prst="rect">
            <a:avLst/>
          </a:prstGeom>
          <a:solidFill>
            <a:srgbClr val="E0E0E0"/>
          </a:solidFill>
          <a:ln/>
        </p:spPr>
        <p:txBody>
          <a:bodyPr/>
          <a:lstStyle/>
          <a:p>
            <a:endParaRPr lang="en-MU"/>
          </a:p>
        </p:txBody>
      </p:sp>
      <p:sp>
        <p:nvSpPr>
          <p:cNvPr id="138" name="Text 135"/>
          <p:cNvSpPr/>
          <p:nvPr/>
        </p:nvSpPr>
        <p:spPr>
          <a:xfrm>
            <a:off x="7479897" y="2398514"/>
            <a:ext cx="589080"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0.12</a:t>
            </a:r>
            <a:endParaRPr lang="en-US" sz="435" dirty="0"/>
          </a:p>
        </p:txBody>
      </p:sp>
      <p:sp>
        <p:nvSpPr>
          <p:cNvPr id="140" name="Text 137"/>
          <p:cNvSpPr/>
          <p:nvPr/>
        </p:nvSpPr>
        <p:spPr>
          <a:xfrm>
            <a:off x="8068977" y="2398514"/>
            <a:ext cx="589248" cy="144661"/>
          </a:xfrm>
          <a:prstGeom prst="rect">
            <a:avLst/>
          </a:prstGeom>
          <a:noFill/>
          <a:ln/>
        </p:spPr>
        <p:txBody>
          <a:bodyPr wrap="square" lIns="17018" tIns="34036" rIns="17018" bIns="34036" rtlCol="0" anchor="ctr">
            <a:spAutoFit/>
          </a:bodyPr>
          <a:lstStyle/>
          <a:p>
            <a:pPr marL="0" indent="0" algn="ctr">
              <a:lnSpc>
                <a:spcPts val="600"/>
              </a:lnSpc>
              <a:buNone/>
            </a:pPr>
            <a:r>
              <a:rPr lang="en-US" sz="435" b="1" dirty="0">
                <a:solidFill>
                  <a:srgbClr val="FFFFFF"/>
                </a:solidFill>
              </a:rPr>
              <a:t>1.00</a:t>
            </a:r>
            <a:endParaRPr lang="en-US" sz="435" dirty="0"/>
          </a:p>
        </p:txBody>
      </p:sp>
      <p:sp>
        <p:nvSpPr>
          <p:cNvPr id="141" name="Text 138"/>
          <p:cNvSpPr/>
          <p:nvPr/>
        </p:nvSpPr>
        <p:spPr>
          <a:xfrm>
            <a:off x="4563070" y="2614613"/>
            <a:ext cx="1355527" cy="98227"/>
          </a:xfrm>
          <a:prstGeom prst="rect">
            <a:avLst/>
          </a:prstGeom>
          <a:noFill/>
          <a:ln/>
        </p:spPr>
        <p:txBody>
          <a:bodyPr wrap="none" lIns="0" tIns="0" rIns="0" bIns="0" rtlCol="0" anchor="t">
            <a:spAutoFit/>
          </a:bodyPr>
          <a:lstStyle/>
          <a:p>
            <a:pPr marL="0" indent="0" algn="ctr">
              <a:lnSpc>
                <a:spcPts val="700"/>
              </a:lnSpc>
              <a:buNone/>
            </a:pPr>
            <a:r>
              <a:rPr lang="en-US" sz="516" dirty="0">
                <a:solidFill>
                  <a:srgbClr val="1A1A1A"/>
                </a:solidFill>
              </a:rPr>
              <a:t>-1.0</a:t>
            </a:r>
            <a:endParaRPr lang="en-US" sz="516" dirty="0"/>
          </a:p>
        </p:txBody>
      </p:sp>
      <p:sp>
        <p:nvSpPr>
          <p:cNvPr id="142" name="Text 139"/>
          <p:cNvSpPr/>
          <p:nvPr/>
        </p:nvSpPr>
        <p:spPr>
          <a:xfrm>
            <a:off x="5918597" y="2614613"/>
            <a:ext cx="1355527" cy="98227"/>
          </a:xfrm>
          <a:prstGeom prst="rect">
            <a:avLst/>
          </a:prstGeom>
          <a:noFill/>
          <a:ln/>
        </p:spPr>
        <p:txBody>
          <a:bodyPr wrap="none" lIns="0" tIns="0" rIns="0" bIns="0" rtlCol="0" anchor="t">
            <a:spAutoFit/>
          </a:bodyPr>
          <a:lstStyle/>
          <a:p>
            <a:pPr marL="0" indent="0" algn="ctr">
              <a:lnSpc>
                <a:spcPts val="700"/>
              </a:lnSpc>
              <a:buNone/>
            </a:pPr>
            <a:r>
              <a:rPr lang="en-US" sz="516" dirty="0">
                <a:solidFill>
                  <a:srgbClr val="1A1A1A"/>
                </a:solidFill>
              </a:rPr>
              <a:t>0.0</a:t>
            </a:r>
            <a:endParaRPr lang="en-US" sz="516" dirty="0"/>
          </a:p>
        </p:txBody>
      </p:sp>
      <p:sp>
        <p:nvSpPr>
          <p:cNvPr id="143" name="Text 140"/>
          <p:cNvSpPr/>
          <p:nvPr/>
        </p:nvSpPr>
        <p:spPr>
          <a:xfrm>
            <a:off x="7274123" y="2614613"/>
            <a:ext cx="1355527" cy="98227"/>
          </a:xfrm>
          <a:prstGeom prst="rect">
            <a:avLst/>
          </a:prstGeom>
          <a:noFill/>
          <a:ln/>
        </p:spPr>
        <p:txBody>
          <a:bodyPr wrap="none" lIns="0" tIns="0" rIns="0" bIns="0" rtlCol="0" anchor="t">
            <a:spAutoFit/>
          </a:bodyPr>
          <a:lstStyle/>
          <a:p>
            <a:pPr marL="0" indent="0" algn="ctr">
              <a:lnSpc>
                <a:spcPts val="700"/>
              </a:lnSpc>
              <a:buNone/>
            </a:pPr>
            <a:r>
              <a:rPr lang="en-US" sz="516" dirty="0">
                <a:solidFill>
                  <a:srgbClr val="1A1A1A"/>
                </a:solidFill>
              </a:rPr>
              <a:t>+1.0</a:t>
            </a:r>
            <a:endParaRPr lang="en-US" sz="516" dirty="0"/>
          </a:p>
        </p:txBody>
      </p:sp>
      <p:sp>
        <p:nvSpPr>
          <p:cNvPr id="157" name="Shape 154"/>
          <p:cNvSpPr/>
          <p:nvPr/>
        </p:nvSpPr>
        <p:spPr>
          <a:xfrm>
            <a:off x="4477345" y="4574511"/>
            <a:ext cx="4238030" cy="531428"/>
          </a:xfrm>
          <a:prstGeom prst="rect">
            <a:avLst/>
          </a:prstGeom>
          <a:solidFill>
            <a:srgbClr val="FFF3CD"/>
          </a:solidFill>
          <a:ln/>
        </p:spPr>
        <p:txBody>
          <a:bodyPr/>
          <a:lstStyle/>
          <a:p>
            <a:endParaRPr lang="en-MU"/>
          </a:p>
        </p:txBody>
      </p:sp>
      <p:sp>
        <p:nvSpPr>
          <p:cNvPr id="158" name="Shape 155"/>
          <p:cNvSpPr/>
          <p:nvPr/>
        </p:nvSpPr>
        <p:spPr>
          <a:xfrm>
            <a:off x="4477345" y="4574511"/>
            <a:ext cx="28575" cy="531428"/>
          </a:xfrm>
          <a:prstGeom prst="rect">
            <a:avLst/>
          </a:prstGeom>
          <a:solidFill>
            <a:srgbClr val="FFA500"/>
          </a:solidFill>
          <a:ln/>
        </p:spPr>
        <p:txBody>
          <a:bodyPr/>
          <a:lstStyle/>
          <a:p>
            <a:endParaRPr lang="en-MU"/>
          </a:p>
        </p:txBody>
      </p:sp>
      <p:sp>
        <p:nvSpPr>
          <p:cNvPr id="159" name="Text 156"/>
          <p:cNvSpPr/>
          <p:nvPr/>
        </p:nvSpPr>
        <p:spPr>
          <a:xfrm>
            <a:off x="4477345" y="4574511"/>
            <a:ext cx="4238030" cy="555730"/>
          </a:xfrm>
          <a:prstGeom prst="rect">
            <a:avLst/>
          </a:prstGeom>
          <a:noFill/>
          <a:ln/>
        </p:spPr>
        <p:txBody>
          <a:bodyPr wrap="square" lIns="51054" tIns="51054" rIns="51054" bIns="51054" rtlCol="0" anchor="t">
            <a:spAutoFit/>
          </a:bodyPr>
          <a:lstStyle/>
          <a:p>
            <a:pPr>
              <a:lnSpc>
                <a:spcPts val="900"/>
              </a:lnSpc>
            </a:pPr>
            <a:r>
              <a:rPr lang="en-US" sz="584" b="1" dirty="0">
                <a:solidFill>
                  <a:srgbClr val="FFA500"/>
                </a:solidFill>
              </a:rPr>
              <a:t>Key Insight:</a:t>
            </a:r>
            <a:r>
              <a:rPr lang="en-US" sz="621" dirty="0">
                <a:solidFill>
                  <a:srgbClr val="1A1A1A"/>
                </a:solidFill>
              </a:rPr>
              <a:t> Square footage shows the strongest positive correlation with Price, meaning larger properties tend to cost more.</a:t>
            </a:r>
          </a:p>
          <a:p>
            <a:pPr>
              <a:lnSpc>
                <a:spcPts val="900"/>
              </a:lnSpc>
            </a:pPr>
            <a:r>
              <a:rPr lang="en-US" sz="621" dirty="0">
                <a:solidFill>
                  <a:srgbClr val="1A1A1A"/>
                </a:solidFill>
              </a:rPr>
              <a:t>Age of property often has a negative correlation with Price, suggesting older homes are generally cheaper.</a:t>
            </a:r>
          </a:p>
          <a:p>
            <a:pPr>
              <a:lnSpc>
                <a:spcPts val="900"/>
              </a:lnSpc>
            </a:pPr>
            <a:r>
              <a:rPr lang="en-US" sz="621" dirty="0">
                <a:solidFill>
                  <a:srgbClr val="1A1A1A"/>
                </a:solidFill>
              </a:rPr>
              <a:t>Number of rooms has a moderate positive correlation with Price, indicating more rooms usually increase value.</a:t>
            </a:r>
          </a:p>
          <a:p>
            <a:pPr marL="0" indent="0" algn="l">
              <a:lnSpc>
                <a:spcPts val="900"/>
              </a:lnSpc>
              <a:buNone/>
            </a:pPr>
            <a:endParaRPr lang="en-US" sz="584" dirty="0"/>
          </a:p>
        </p:txBody>
      </p:sp>
      <p:pic>
        <p:nvPicPr>
          <p:cNvPr id="161" name="Picture 160">
            <a:extLst>
              <a:ext uri="{FF2B5EF4-FFF2-40B4-BE49-F238E27FC236}">
                <a16:creationId xmlns:a16="http://schemas.microsoft.com/office/drawing/2014/main" id="{2CC4C287-894A-0A00-2BE9-F31E216B7FBC}"/>
              </a:ext>
            </a:extLst>
          </p:cNvPr>
          <p:cNvPicPr>
            <a:picLocks noChangeAspect="1"/>
          </p:cNvPicPr>
          <p:nvPr/>
        </p:nvPicPr>
        <p:blipFill>
          <a:blip r:embed="rId3"/>
          <a:stretch>
            <a:fillRect/>
          </a:stretch>
        </p:blipFill>
        <p:spPr>
          <a:xfrm>
            <a:off x="5089001" y="1014412"/>
            <a:ext cx="3156578" cy="22016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0" y="0"/>
            <a:ext cx="9144000" cy="950119"/>
          </a:xfrm>
          <a:prstGeom prst="rect">
            <a:avLst/>
          </a:prstGeom>
          <a:solidFill>
            <a:srgbClr val="000000">
              <a:alpha val="0"/>
            </a:srgbClr>
          </a:solidFill>
          <a:ln/>
        </p:spPr>
        <p:txBody>
          <a:bodyPr/>
          <a:lstStyle/>
          <a:p>
            <a:endParaRPr lang="en-MU"/>
          </a:p>
        </p:txBody>
      </p:sp>
      <p:sp>
        <p:nvSpPr>
          <p:cNvPr id="4" name="Shape 1"/>
          <p:cNvSpPr/>
          <p:nvPr/>
        </p:nvSpPr>
        <p:spPr>
          <a:xfrm>
            <a:off x="0" y="935831"/>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Preparing for the Journey</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Splitting data into features (X), target (y), and train/test sets</a:t>
            </a:r>
            <a:endParaRPr lang="en-US" sz="987" dirty="0"/>
          </a:p>
        </p:txBody>
      </p:sp>
      <p:sp>
        <p:nvSpPr>
          <p:cNvPr id="7" name="Shape 4"/>
          <p:cNvSpPr/>
          <p:nvPr/>
        </p:nvSpPr>
        <p:spPr>
          <a:xfrm>
            <a:off x="428625" y="1078706"/>
            <a:ext cx="2815168" cy="1314310"/>
          </a:xfrm>
          <a:prstGeom prst="rect">
            <a:avLst/>
          </a:prstGeom>
          <a:solidFill>
            <a:srgbClr val="F8F9FA"/>
          </a:solidFill>
          <a:ln/>
        </p:spPr>
        <p:txBody>
          <a:bodyPr/>
          <a:lstStyle/>
          <a:p>
            <a:endParaRPr lang="en-MU"/>
          </a:p>
        </p:txBody>
      </p:sp>
      <p:sp>
        <p:nvSpPr>
          <p:cNvPr id="8" name="Shape 5"/>
          <p:cNvSpPr/>
          <p:nvPr/>
        </p:nvSpPr>
        <p:spPr>
          <a:xfrm>
            <a:off x="428625" y="1078706"/>
            <a:ext cx="28575" cy="1314310"/>
          </a:xfrm>
          <a:prstGeom prst="rect">
            <a:avLst/>
          </a:prstGeom>
          <a:solidFill>
            <a:srgbClr val="007BFF"/>
          </a:solidFill>
          <a:ln/>
        </p:spPr>
        <p:txBody>
          <a:bodyPr/>
          <a:lstStyle/>
          <a:p>
            <a:endParaRPr lang="en-MU"/>
          </a:p>
        </p:txBody>
      </p:sp>
      <p:sp>
        <p:nvSpPr>
          <p:cNvPr id="9" name="Shape 6"/>
          <p:cNvSpPr/>
          <p:nvPr/>
        </p:nvSpPr>
        <p:spPr>
          <a:xfrm>
            <a:off x="500063" y="1150144"/>
            <a:ext cx="2672293" cy="291443"/>
          </a:xfrm>
          <a:prstGeom prst="rect">
            <a:avLst/>
          </a:prstGeom>
          <a:solidFill>
            <a:srgbClr val="1A1A1A"/>
          </a:solidFill>
          <a:ln/>
        </p:spPr>
        <p:txBody>
          <a:bodyPr/>
          <a:lstStyle/>
          <a:p>
            <a:endParaRPr lang="en-MU"/>
          </a:p>
        </p:txBody>
      </p:sp>
      <p:sp>
        <p:nvSpPr>
          <p:cNvPr id="10" name="Text 7"/>
          <p:cNvSpPr/>
          <p:nvPr/>
        </p:nvSpPr>
        <p:spPr>
          <a:xfrm>
            <a:off x="500063" y="1150144"/>
            <a:ext cx="2672293" cy="919226"/>
          </a:xfrm>
          <a:prstGeom prst="rect">
            <a:avLst/>
          </a:prstGeom>
          <a:noFill/>
          <a:ln/>
        </p:spPr>
        <p:txBody>
          <a:bodyPr wrap="square" lIns="68072" tIns="51054" rIns="68072" bIns="51054" rtlCol="0" anchor="t">
            <a:spAutoFit/>
          </a:bodyPr>
          <a:lstStyle/>
          <a:p>
            <a:pPr>
              <a:lnSpc>
                <a:spcPts val="800"/>
              </a:lnSpc>
            </a:pPr>
            <a:r>
              <a:rPr lang="en-US" sz="621" dirty="0">
                <a:solidFill>
                  <a:srgbClr val="28A745"/>
                </a:solidFill>
              </a:rPr>
              <a:t>#1 – X = </a:t>
            </a:r>
            <a:r>
              <a:rPr lang="en-US" sz="621" dirty="0" err="1">
                <a:solidFill>
                  <a:srgbClr val="28A745"/>
                </a:solidFill>
              </a:rPr>
              <a:t>df_clean</a:t>
            </a:r>
            <a:r>
              <a:rPr lang="en-US" sz="621" dirty="0">
                <a:solidFill>
                  <a:srgbClr val="28A745"/>
                </a:solidFill>
              </a:rPr>
              <a:t>[['area', 'bedrooms', 'bathrooms', 'stories', 'parking’]]</a:t>
            </a:r>
          </a:p>
          <a:p>
            <a:pPr>
              <a:lnSpc>
                <a:spcPts val="800"/>
              </a:lnSpc>
            </a:pPr>
            <a:endParaRPr lang="en-US" sz="621" dirty="0">
              <a:solidFill>
                <a:srgbClr val="28A745"/>
              </a:solidFill>
            </a:endParaRPr>
          </a:p>
          <a:p>
            <a:pPr>
              <a:lnSpc>
                <a:spcPts val="800"/>
              </a:lnSpc>
            </a:pPr>
            <a:endParaRPr lang="en-US" sz="621" dirty="0">
              <a:solidFill>
                <a:srgbClr val="28A745"/>
              </a:solidFill>
            </a:endParaRPr>
          </a:p>
          <a:p>
            <a:pPr>
              <a:lnSpc>
                <a:spcPts val="800"/>
              </a:lnSpc>
            </a:pPr>
            <a:endParaRPr lang="en-US" sz="621" dirty="0">
              <a:solidFill>
                <a:srgbClr val="28A745"/>
              </a:solidFill>
            </a:endParaRPr>
          </a:p>
          <a:p>
            <a:pPr>
              <a:lnSpc>
                <a:spcPts val="800"/>
              </a:lnSpc>
            </a:pPr>
            <a:r>
              <a:rPr lang="en-US" sz="621" dirty="0"/>
              <a:t>This Extracts the feature columns I want to use for prediction price.</a:t>
            </a:r>
          </a:p>
          <a:p>
            <a:pPr>
              <a:lnSpc>
                <a:spcPts val="800"/>
              </a:lnSpc>
            </a:pPr>
            <a:endParaRPr lang="en-US" sz="621" dirty="0"/>
          </a:p>
          <a:p>
            <a:pPr>
              <a:lnSpc>
                <a:spcPts val="800"/>
              </a:lnSpc>
            </a:pPr>
            <a:r>
              <a:rPr lang="en-US" sz="621" dirty="0"/>
              <a:t>X become a </a:t>
            </a:r>
            <a:r>
              <a:rPr lang="en-US" sz="621" dirty="0" err="1"/>
              <a:t>dataframe</a:t>
            </a:r>
            <a:r>
              <a:rPr lang="en-US" sz="621" dirty="0"/>
              <a:t> containing only the predictor variable. </a:t>
            </a:r>
          </a:p>
          <a:p>
            <a:pPr>
              <a:lnSpc>
                <a:spcPts val="800"/>
              </a:lnSpc>
            </a:pPr>
            <a:r>
              <a:rPr lang="en-US" sz="621" dirty="0"/>
              <a:t>- Means with those data the model can predict the price.</a:t>
            </a:r>
          </a:p>
        </p:txBody>
      </p:sp>
      <p:sp>
        <p:nvSpPr>
          <p:cNvPr id="15" name="Text 12"/>
          <p:cNvSpPr/>
          <p:nvPr/>
        </p:nvSpPr>
        <p:spPr>
          <a:xfrm>
            <a:off x="600075" y="1843729"/>
            <a:ext cx="65" cy="106376"/>
          </a:xfrm>
          <a:prstGeom prst="rect">
            <a:avLst/>
          </a:prstGeom>
          <a:noFill/>
          <a:ln/>
        </p:spPr>
        <p:txBody>
          <a:bodyPr wrap="none" lIns="0" tIns="0" rIns="0" bIns="0" rtlCol="0" anchor="t">
            <a:spAutoFit/>
          </a:bodyPr>
          <a:lstStyle/>
          <a:p>
            <a:pPr marL="0" indent="0" algn="l">
              <a:lnSpc>
                <a:spcPts val="900"/>
              </a:lnSpc>
              <a:buNone/>
            </a:pPr>
            <a:endParaRPr lang="en-US" sz="584" dirty="0"/>
          </a:p>
        </p:txBody>
      </p:sp>
      <p:sp>
        <p:nvSpPr>
          <p:cNvPr id="19" name="Shape 16"/>
          <p:cNvSpPr/>
          <p:nvPr/>
        </p:nvSpPr>
        <p:spPr>
          <a:xfrm>
            <a:off x="428625" y="2464454"/>
            <a:ext cx="2815168" cy="1091459"/>
          </a:xfrm>
          <a:prstGeom prst="rect">
            <a:avLst/>
          </a:prstGeom>
          <a:solidFill>
            <a:srgbClr val="F8F9FA"/>
          </a:solidFill>
          <a:ln/>
        </p:spPr>
        <p:txBody>
          <a:bodyPr/>
          <a:lstStyle/>
          <a:p>
            <a:endParaRPr lang="en-MU"/>
          </a:p>
        </p:txBody>
      </p:sp>
      <p:sp>
        <p:nvSpPr>
          <p:cNvPr id="20" name="Shape 17"/>
          <p:cNvSpPr/>
          <p:nvPr/>
        </p:nvSpPr>
        <p:spPr>
          <a:xfrm>
            <a:off x="428625" y="2464454"/>
            <a:ext cx="28575" cy="1091459"/>
          </a:xfrm>
          <a:prstGeom prst="rect">
            <a:avLst/>
          </a:prstGeom>
          <a:solidFill>
            <a:srgbClr val="007BFF"/>
          </a:solidFill>
          <a:ln/>
        </p:spPr>
        <p:txBody>
          <a:bodyPr/>
          <a:lstStyle/>
          <a:p>
            <a:endParaRPr lang="en-MU"/>
          </a:p>
        </p:txBody>
      </p:sp>
      <p:sp>
        <p:nvSpPr>
          <p:cNvPr id="21" name="Shape 18"/>
          <p:cNvSpPr/>
          <p:nvPr/>
        </p:nvSpPr>
        <p:spPr>
          <a:xfrm>
            <a:off x="500063" y="2535892"/>
            <a:ext cx="2672293" cy="291443"/>
          </a:xfrm>
          <a:prstGeom prst="rect">
            <a:avLst/>
          </a:prstGeom>
          <a:solidFill>
            <a:srgbClr val="1A1A1A"/>
          </a:solidFill>
          <a:ln/>
        </p:spPr>
        <p:txBody>
          <a:bodyPr/>
          <a:lstStyle/>
          <a:p>
            <a:endParaRPr lang="en-MU"/>
          </a:p>
        </p:txBody>
      </p:sp>
      <p:sp>
        <p:nvSpPr>
          <p:cNvPr id="22" name="Text 19"/>
          <p:cNvSpPr/>
          <p:nvPr/>
        </p:nvSpPr>
        <p:spPr>
          <a:xfrm>
            <a:off x="500063" y="2535892"/>
            <a:ext cx="2672293" cy="1124410"/>
          </a:xfrm>
          <a:prstGeom prst="rect">
            <a:avLst/>
          </a:prstGeom>
          <a:noFill/>
          <a:ln/>
        </p:spPr>
        <p:txBody>
          <a:bodyPr wrap="square" lIns="68072" tIns="51054" rIns="68072" bIns="51054" rtlCol="0" anchor="t">
            <a:spAutoFit/>
          </a:bodyPr>
          <a:lstStyle/>
          <a:p>
            <a:pPr>
              <a:lnSpc>
                <a:spcPts val="800"/>
              </a:lnSpc>
            </a:pPr>
            <a:r>
              <a:rPr lang="en-US" sz="621" dirty="0">
                <a:solidFill>
                  <a:srgbClr val="28A745"/>
                </a:solidFill>
              </a:rPr>
              <a:t>#2 – y = </a:t>
            </a:r>
            <a:r>
              <a:rPr lang="en-US" sz="621" dirty="0" err="1">
                <a:solidFill>
                  <a:srgbClr val="28A745"/>
                </a:solidFill>
              </a:rPr>
              <a:t>df_clean</a:t>
            </a:r>
            <a:r>
              <a:rPr lang="en-US" sz="621" dirty="0">
                <a:solidFill>
                  <a:srgbClr val="28A745"/>
                </a:solidFill>
              </a:rPr>
              <a:t>['price’]</a:t>
            </a:r>
          </a:p>
          <a:p>
            <a:pPr>
              <a:lnSpc>
                <a:spcPts val="800"/>
              </a:lnSpc>
            </a:pPr>
            <a:endParaRPr lang="en-US" sz="621" dirty="0">
              <a:solidFill>
                <a:srgbClr val="28A745"/>
              </a:solidFill>
            </a:endParaRPr>
          </a:p>
          <a:p>
            <a:pPr>
              <a:lnSpc>
                <a:spcPts val="800"/>
              </a:lnSpc>
            </a:pPr>
            <a:endParaRPr lang="en-US" sz="621" dirty="0">
              <a:solidFill>
                <a:srgbClr val="28A745"/>
              </a:solidFill>
            </a:endParaRPr>
          </a:p>
          <a:p>
            <a:pPr>
              <a:lnSpc>
                <a:spcPts val="800"/>
              </a:lnSpc>
            </a:pPr>
            <a:endParaRPr lang="en-US" sz="621" dirty="0">
              <a:solidFill>
                <a:srgbClr val="28A745"/>
              </a:solidFill>
            </a:endParaRPr>
          </a:p>
          <a:p>
            <a:pPr>
              <a:lnSpc>
                <a:spcPts val="800"/>
              </a:lnSpc>
            </a:pPr>
            <a:endParaRPr lang="en-US" sz="621" dirty="0"/>
          </a:p>
          <a:p>
            <a:pPr>
              <a:lnSpc>
                <a:spcPts val="800"/>
              </a:lnSpc>
            </a:pPr>
            <a:r>
              <a:rPr lang="en-US" sz="621" dirty="0"/>
              <a:t>This select the target column you want the model to learn.</a:t>
            </a:r>
          </a:p>
          <a:p>
            <a:pPr>
              <a:lnSpc>
                <a:spcPts val="800"/>
              </a:lnSpc>
            </a:pPr>
            <a:endParaRPr lang="en-US" sz="621" dirty="0"/>
          </a:p>
          <a:p>
            <a:pPr>
              <a:lnSpc>
                <a:spcPts val="800"/>
              </a:lnSpc>
            </a:pPr>
            <a:r>
              <a:rPr lang="en-US" sz="621" dirty="0"/>
              <a:t>y hold the actual prices.</a:t>
            </a:r>
          </a:p>
          <a:p>
            <a:pPr>
              <a:lnSpc>
                <a:spcPts val="800"/>
              </a:lnSpc>
            </a:pPr>
            <a:r>
              <a:rPr lang="en-US" sz="621" dirty="0"/>
              <a:t>-Means the mod</a:t>
            </a:r>
          </a:p>
          <a:p>
            <a:pPr>
              <a:lnSpc>
                <a:spcPts val="800"/>
              </a:lnSpc>
            </a:pPr>
            <a:endParaRPr lang="en-US" sz="621" dirty="0"/>
          </a:p>
        </p:txBody>
      </p:sp>
      <p:sp>
        <p:nvSpPr>
          <p:cNvPr id="31" name="Shape 28"/>
          <p:cNvSpPr/>
          <p:nvPr/>
        </p:nvSpPr>
        <p:spPr>
          <a:xfrm>
            <a:off x="428625" y="3627351"/>
            <a:ext cx="2815168" cy="1389369"/>
          </a:xfrm>
          <a:prstGeom prst="rect">
            <a:avLst/>
          </a:prstGeom>
          <a:solidFill>
            <a:srgbClr val="F8F9FA"/>
          </a:solidFill>
          <a:ln/>
        </p:spPr>
        <p:txBody>
          <a:bodyPr/>
          <a:lstStyle/>
          <a:p>
            <a:endParaRPr lang="en-MU"/>
          </a:p>
        </p:txBody>
      </p:sp>
      <p:sp>
        <p:nvSpPr>
          <p:cNvPr id="32" name="Shape 29"/>
          <p:cNvSpPr/>
          <p:nvPr/>
        </p:nvSpPr>
        <p:spPr>
          <a:xfrm>
            <a:off x="428625" y="3627351"/>
            <a:ext cx="45719" cy="1389369"/>
          </a:xfrm>
          <a:prstGeom prst="rect">
            <a:avLst/>
          </a:prstGeom>
          <a:solidFill>
            <a:srgbClr val="007BFF"/>
          </a:solidFill>
          <a:ln/>
        </p:spPr>
        <p:txBody>
          <a:bodyPr/>
          <a:lstStyle/>
          <a:p>
            <a:endParaRPr lang="en-MU"/>
          </a:p>
        </p:txBody>
      </p:sp>
      <p:sp>
        <p:nvSpPr>
          <p:cNvPr id="33" name="Shape 30"/>
          <p:cNvSpPr/>
          <p:nvPr/>
        </p:nvSpPr>
        <p:spPr>
          <a:xfrm>
            <a:off x="500063" y="3698788"/>
            <a:ext cx="2672293" cy="465447"/>
          </a:xfrm>
          <a:prstGeom prst="rect">
            <a:avLst/>
          </a:prstGeom>
          <a:solidFill>
            <a:srgbClr val="1A1A1A"/>
          </a:solidFill>
          <a:ln/>
        </p:spPr>
        <p:txBody>
          <a:bodyPr/>
          <a:lstStyle/>
          <a:p>
            <a:endParaRPr lang="en-MU"/>
          </a:p>
        </p:txBody>
      </p:sp>
      <p:sp>
        <p:nvSpPr>
          <p:cNvPr id="34" name="Text 31"/>
          <p:cNvSpPr/>
          <p:nvPr/>
        </p:nvSpPr>
        <p:spPr>
          <a:xfrm>
            <a:off x="500063" y="3698788"/>
            <a:ext cx="2672293" cy="406265"/>
          </a:xfrm>
          <a:prstGeom prst="rect">
            <a:avLst/>
          </a:prstGeom>
          <a:noFill/>
          <a:ln/>
        </p:spPr>
        <p:txBody>
          <a:bodyPr wrap="square" lIns="68072" tIns="51054" rIns="68072" bIns="51054" rtlCol="0" anchor="t">
            <a:spAutoFit/>
          </a:bodyPr>
          <a:lstStyle/>
          <a:p>
            <a:pPr>
              <a:lnSpc>
                <a:spcPts val="800"/>
              </a:lnSpc>
            </a:pPr>
            <a:r>
              <a:rPr lang="en-US" sz="621" dirty="0">
                <a:solidFill>
                  <a:srgbClr val="28A745"/>
                </a:solidFill>
              </a:rPr>
              <a:t>#3 – Split into Train/Test</a:t>
            </a:r>
          </a:p>
          <a:p>
            <a:pPr>
              <a:lnSpc>
                <a:spcPts val="800"/>
              </a:lnSpc>
            </a:pPr>
            <a:r>
              <a:rPr lang="en-US" sz="621" dirty="0" err="1">
                <a:solidFill>
                  <a:srgbClr val="28A745"/>
                </a:solidFill>
              </a:rPr>
              <a:t>x_train</a:t>
            </a:r>
            <a:r>
              <a:rPr lang="en-US" sz="621" dirty="0">
                <a:solidFill>
                  <a:srgbClr val="28A745"/>
                </a:solidFill>
              </a:rPr>
              <a:t>, </a:t>
            </a:r>
            <a:r>
              <a:rPr lang="en-US" sz="621" dirty="0" err="1">
                <a:solidFill>
                  <a:srgbClr val="28A745"/>
                </a:solidFill>
              </a:rPr>
              <a:t>x_test</a:t>
            </a:r>
            <a:r>
              <a:rPr lang="en-US" sz="621" dirty="0">
                <a:solidFill>
                  <a:srgbClr val="28A745"/>
                </a:solidFill>
              </a:rPr>
              <a:t>, </a:t>
            </a:r>
            <a:r>
              <a:rPr lang="en-US" sz="621" dirty="0" err="1">
                <a:solidFill>
                  <a:srgbClr val="28A745"/>
                </a:solidFill>
              </a:rPr>
              <a:t>y_train</a:t>
            </a:r>
            <a:r>
              <a:rPr lang="en-US" sz="621" dirty="0">
                <a:solidFill>
                  <a:srgbClr val="28A745"/>
                </a:solidFill>
              </a:rPr>
              <a:t>, </a:t>
            </a:r>
            <a:r>
              <a:rPr lang="en-US" sz="621" dirty="0" err="1">
                <a:solidFill>
                  <a:srgbClr val="28A745"/>
                </a:solidFill>
              </a:rPr>
              <a:t>y_test</a:t>
            </a:r>
            <a:r>
              <a:rPr lang="en-US" sz="621" dirty="0">
                <a:solidFill>
                  <a:srgbClr val="28A745"/>
                </a:solidFill>
              </a:rPr>
              <a:t> = </a:t>
            </a:r>
            <a:r>
              <a:rPr lang="en-US" sz="621" dirty="0" err="1">
                <a:solidFill>
                  <a:srgbClr val="28A745"/>
                </a:solidFill>
              </a:rPr>
              <a:t>train_test_split</a:t>
            </a:r>
            <a:r>
              <a:rPr lang="en-US" sz="621" dirty="0">
                <a:solidFill>
                  <a:srgbClr val="28A745"/>
                </a:solidFill>
              </a:rPr>
              <a:t>(X, y, </a:t>
            </a:r>
            <a:r>
              <a:rPr lang="en-US" sz="621" dirty="0" err="1">
                <a:solidFill>
                  <a:srgbClr val="28A745"/>
                </a:solidFill>
              </a:rPr>
              <a:t>test_size</a:t>
            </a:r>
            <a:r>
              <a:rPr lang="en-US" sz="621" dirty="0">
                <a:solidFill>
                  <a:srgbClr val="28A745"/>
                </a:solidFill>
              </a:rPr>
              <a:t>=0.2, </a:t>
            </a:r>
            <a:r>
              <a:rPr lang="en-US" sz="621" dirty="0" err="1">
                <a:solidFill>
                  <a:srgbClr val="28A745"/>
                </a:solidFill>
              </a:rPr>
              <a:t>random_state</a:t>
            </a:r>
            <a:r>
              <a:rPr lang="en-US" sz="621" dirty="0">
                <a:solidFill>
                  <a:srgbClr val="28A745"/>
                </a:solidFill>
              </a:rPr>
              <a:t>=42)</a:t>
            </a:r>
            <a:endParaRPr lang="en-US" sz="621" dirty="0"/>
          </a:p>
        </p:txBody>
      </p:sp>
      <p:sp>
        <p:nvSpPr>
          <p:cNvPr id="35" name="Text 32"/>
          <p:cNvSpPr/>
          <p:nvPr/>
        </p:nvSpPr>
        <p:spPr>
          <a:xfrm>
            <a:off x="600075" y="4164235"/>
            <a:ext cx="715742"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train_test_split():</a:t>
            </a:r>
            <a:endParaRPr lang="en-US" sz="584" dirty="0"/>
          </a:p>
        </p:txBody>
      </p:sp>
      <p:sp>
        <p:nvSpPr>
          <p:cNvPr id="36" name="Text 33"/>
          <p:cNvSpPr/>
          <p:nvPr/>
        </p:nvSpPr>
        <p:spPr>
          <a:xfrm>
            <a:off x="1315817" y="4164235"/>
            <a:ext cx="1719244"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Divides data into training and testing sets.</a:t>
            </a:r>
            <a:endParaRPr lang="en-US" sz="621" dirty="0"/>
          </a:p>
        </p:txBody>
      </p:sp>
      <p:sp>
        <p:nvSpPr>
          <p:cNvPr id="37" name="Text 34"/>
          <p:cNvSpPr/>
          <p:nvPr/>
        </p:nvSpPr>
        <p:spPr>
          <a:xfrm>
            <a:off x="600075" y="4289948"/>
            <a:ext cx="560143"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test_size=0.2:</a:t>
            </a:r>
            <a:endParaRPr lang="en-US" sz="584" dirty="0"/>
          </a:p>
        </p:txBody>
      </p:sp>
      <p:sp>
        <p:nvSpPr>
          <p:cNvPr id="38" name="Text 35"/>
          <p:cNvSpPr/>
          <p:nvPr/>
        </p:nvSpPr>
        <p:spPr>
          <a:xfrm>
            <a:off x="1160218" y="4289948"/>
            <a:ext cx="180075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20% of data goes to testing, 80% to training.</a:t>
            </a:r>
            <a:endParaRPr lang="en-US" sz="621" dirty="0"/>
          </a:p>
        </p:txBody>
      </p:sp>
      <p:sp>
        <p:nvSpPr>
          <p:cNvPr id="39" name="Text 36"/>
          <p:cNvSpPr/>
          <p:nvPr/>
        </p:nvSpPr>
        <p:spPr>
          <a:xfrm>
            <a:off x="600075" y="4415662"/>
            <a:ext cx="763042"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random_state=42:</a:t>
            </a:r>
            <a:endParaRPr lang="en-US" sz="584" dirty="0"/>
          </a:p>
        </p:txBody>
      </p:sp>
      <p:sp>
        <p:nvSpPr>
          <p:cNvPr id="40" name="Text 37"/>
          <p:cNvSpPr/>
          <p:nvPr/>
        </p:nvSpPr>
        <p:spPr>
          <a:xfrm>
            <a:off x="600075" y="4541376"/>
            <a:ext cx="2405295" cy="227512"/>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Ensures reproducibility (same split every time).</a:t>
            </a:r>
            <a:endParaRPr lang="en-US" sz="621" dirty="0"/>
          </a:p>
        </p:txBody>
      </p:sp>
      <p:sp>
        <p:nvSpPr>
          <p:cNvPr id="41" name="Text 38"/>
          <p:cNvSpPr/>
          <p:nvPr/>
        </p:nvSpPr>
        <p:spPr>
          <a:xfrm>
            <a:off x="600075" y="4652801"/>
            <a:ext cx="847762"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Returns 4 variables:</a:t>
            </a:r>
            <a:endParaRPr lang="en-US" sz="584" dirty="0"/>
          </a:p>
        </p:txBody>
      </p:sp>
      <p:sp>
        <p:nvSpPr>
          <p:cNvPr id="42" name="Text 39"/>
          <p:cNvSpPr/>
          <p:nvPr/>
        </p:nvSpPr>
        <p:spPr>
          <a:xfrm>
            <a:off x="600075" y="4742125"/>
            <a:ext cx="2202842" cy="227512"/>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X_train (417 samples), X_test (104 samples), y_train, y_test.</a:t>
            </a:r>
            <a:endParaRPr lang="en-US" sz="621" dirty="0"/>
          </a:p>
        </p:txBody>
      </p:sp>
      <p:sp>
        <p:nvSpPr>
          <p:cNvPr id="45" name="Shape 42"/>
          <p:cNvSpPr/>
          <p:nvPr/>
        </p:nvSpPr>
        <p:spPr>
          <a:xfrm>
            <a:off x="3386668" y="2339690"/>
            <a:ext cx="2666991" cy="2443079"/>
          </a:xfrm>
          <a:prstGeom prst="rect">
            <a:avLst/>
          </a:prstGeom>
          <a:solidFill>
            <a:srgbClr val="F8F9FA"/>
          </a:solidFill>
          <a:ln w="9144">
            <a:solidFill>
              <a:srgbClr val="E0E0E0"/>
            </a:solidFill>
            <a:prstDash val="solid"/>
          </a:ln>
        </p:spPr>
        <p:txBody>
          <a:bodyPr/>
          <a:lstStyle/>
          <a:p>
            <a:endParaRPr lang="en-MU"/>
          </a:p>
        </p:txBody>
      </p:sp>
      <p:sp>
        <p:nvSpPr>
          <p:cNvPr id="46" name="Text 43"/>
          <p:cNvSpPr/>
          <p:nvPr/>
        </p:nvSpPr>
        <p:spPr>
          <a:xfrm>
            <a:off x="3472393" y="2432559"/>
            <a:ext cx="2495541"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Data Splitting Process</a:t>
            </a:r>
            <a:endParaRPr lang="en-US" sz="683" dirty="0"/>
          </a:p>
        </p:txBody>
      </p:sp>
      <p:sp>
        <p:nvSpPr>
          <p:cNvPr id="47" name="Shape 44"/>
          <p:cNvSpPr/>
          <p:nvPr/>
        </p:nvSpPr>
        <p:spPr>
          <a:xfrm>
            <a:off x="3472393" y="2654015"/>
            <a:ext cx="2495541" cy="326827"/>
          </a:xfrm>
          <a:prstGeom prst="rect">
            <a:avLst/>
          </a:prstGeom>
          <a:solidFill>
            <a:srgbClr val="E6F0FF"/>
          </a:solidFill>
          <a:ln w="18288">
            <a:solidFill>
              <a:srgbClr val="007BFF"/>
            </a:solidFill>
            <a:prstDash val="solid"/>
          </a:ln>
        </p:spPr>
        <p:txBody>
          <a:bodyPr/>
          <a:lstStyle/>
          <a:p>
            <a:endParaRPr lang="en-MU"/>
          </a:p>
        </p:txBody>
      </p:sp>
      <p:sp>
        <p:nvSpPr>
          <p:cNvPr id="48" name="Text 45"/>
          <p:cNvSpPr/>
          <p:nvPr/>
        </p:nvSpPr>
        <p:spPr>
          <a:xfrm>
            <a:off x="3472393" y="2654015"/>
            <a:ext cx="2495541" cy="326827"/>
          </a:xfrm>
          <a:prstGeom prst="rect">
            <a:avLst/>
          </a:prstGeom>
          <a:noFill/>
          <a:ln/>
        </p:spPr>
        <p:txBody>
          <a:bodyPr wrap="square" lIns="85090" tIns="85090" rIns="85090" bIns="85090" rtlCol="0" anchor="t">
            <a:spAutoFit/>
          </a:bodyPr>
          <a:lstStyle/>
          <a:p>
            <a:pPr marL="0" indent="0" algn="ctr">
              <a:lnSpc>
                <a:spcPts val="1100"/>
              </a:lnSpc>
              <a:buNone/>
            </a:pPr>
            <a:r>
              <a:rPr lang="en-US" sz="784" b="1" dirty="0">
                <a:solidFill>
                  <a:srgbClr val="007BFF"/>
                </a:solidFill>
              </a:rPr>
              <a:t>521 Houses (All Data)</a:t>
            </a:r>
            <a:endParaRPr lang="en-US" sz="784" dirty="0"/>
          </a:p>
        </p:txBody>
      </p:sp>
      <p:sp>
        <p:nvSpPr>
          <p:cNvPr id="49" name="Text 46"/>
          <p:cNvSpPr/>
          <p:nvPr/>
        </p:nvSpPr>
        <p:spPr>
          <a:xfrm>
            <a:off x="3472393" y="3052279"/>
            <a:ext cx="2495541" cy="207169"/>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007BFF"/>
                </a:solidFill>
              </a:rPr>
              <a:t>↓</a:t>
            </a:r>
            <a:endParaRPr lang="en-US" sz="1050" dirty="0"/>
          </a:p>
        </p:txBody>
      </p:sp>
      <p:sp>
        <p:nvSpPr>
          <p:cNvPr id="50" name="Shape 47"/>
          <p:cNvSpPr/>
          <p:nvPr/>
        </p:nvSpPr>
        <p:spPr>
          <a:xfrm>
            <a:off x="3472393" y="3345173"/>
            <a:ext cx="1219181" cy="544711"/>
          </a:xfrm>
          <a:prstGeom prst="rect">
            <a:avLst/>
          </a:prstGeom>
          <a:solidFill>
            <a:srgbClr val="E6F0FF"/>
          </a:solidFill>
          <a:ln w="18288">
            <a:solidFill>
              <a:srgbClr val="007BFF"/>
            </a:solidFill>
            <a:prstDash val="solid"/>
          </a:ln>
        </p:spPr>
        <p:txBody>
          <a:bodyPr/>
          <a:lstStyle/>
          <a:p>
            <a:endParaRPr lang="en-MU"/>
          </a:p>
        </p:txBody>
      </p:sp>
      <p:sp>
        <p:nvSpPr>
          <p:cNvPr id="51" name="Text 48"/>
          <p:cNvSpPr/>
          <p:nvPr/>
        </p:nvSpPr>
        <p:spPr>
          <a:xfrm>
            <a:off x="3529543" y="3402323"/>
            <a:ext cx="1104881"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007BFF"/>
                </a:solidFill>
              </a:rPr>
              <a:t>Training Set</a:t>
            </a:r>
            <a:endParaRPr lang="en-US" sz="584" dirty="0"/>
          </a:p>
        </p:txBody>
      </p:sp>
      <p:sp>
        <p:nvSpPr>
          <p:cNvPr id="52" name="Text 49"/>
          <p:cNvSpPr/>
          <p:nvPr/>
        </p:nvSpPr>
        <p:spPr>
          <a:xfrm>
            <a:off x="3529543" y="3546984"/>
            <a:ext cx="1104881"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80%</a:t>
            </a:r>
            <a:endParaRPr lang="en-US" sz="683" dirty="0"/>
          </a:p>
        </p:txBody>
      </p:sp>
      <p:sp>
        <p:nvSpPr>
          <p:cNvPr id="53" name="Text 50"/>
          <p:cNvSpPr/>
          <p:nvPr/>
        </p:nvSpPr>
        <p:spPr>
          <a:xfrm>
            <a:off x="3529543" y="3697003"/>
            <a:ext cx="1104881" cy="107156"/>
          </a:xfrm>
          <a:prstGeom prst="rect">
            <a:avLst/>
          </a:prstGeom>
          <a:noFill/>
          <a:ln/>
        </p:spPr>
        <p:txBody>
          <a:bodyPr wrap="none" lIns="0" tIns="0" rIns="0" bIns="0" rtlCol="0" anchor="t">
            <a:spAutoFit/>
          </a:bodyPr>
          <a:lstStyle/>
          <a:p>
            <a:pPr marL="0" indent="0" algn="ctr">
              <a:lnSpc>
                <a:spcPts val="700"/>
              </a:lnSpc>
              <a:buNone/>
            </a:pPr>
            <a:r>
              <a:rPr lang="en-US" sz="568" dirty="0">
                <a:solidFill>
                  <a:srgbClr val="495057"/>
                </a:solidFill>
              </a:rPr>
              <a:t>417 houses</a:t>
            </a:r>
            <a:endParaRPr lang="en-US" sz="568" dirty="0"/>
          </a:p>
        </p:txBody>
      </p:sp>
      <p:sp>
        <p:nvSpPr>
          <p:cNvPr id="54" name="Shape 51"/>
          <p:cNvSpPr/>
          <p:nvPr/>
        </p:nvSpPr>
        <p:spPr>
          <a:xfrm>
            <a:off x="4748724" y="3345173"/>
            <a:ext cx="1219209" cy="544711"/>
          </a:xfrm>
          <a:prstGeom prst="rect">
            <a:avLst/>
          </a:prstGeom>
          <a:solidFill>
            <a:srgbClr val="E6F0FF"/>
          </a:solidFill>
          <a:ln w="18288">
            <a:solidFill>
              <a:srgbClr val="007BFF"/>
            </a:solidFill>
            <a:prstDash val="solid"/>
          </a:ln>
        </p:spPr>
        <p:txBody>
          <a:bodyPr/>
          <a:lstStyle/>
          <a:p>
            <a:endParaRPr lang="en-MU"/>
          </a:p>
        </p:txBody>
      </p:sp>
      <p:sp>
        <p:nvSpPr>
          <p:cNvPr id="55" name="Text 52"/>
          <p:cNvSpPr/>
          <p:nvPr/>
        </p:nvSpPr>
        <p:spPr>
          <a:xfrm>
            <a:off x="4805874" y="3416611"/>
            <a:ext cx="1104909"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007BFF"/>
                </a:solidFill>
              </a:rPr>
              <a:t>Testing Set</a:t>
            </a:r>
            <a:endParaRPr lang="en-US" sz="584" dirty="0"/>
          </a:p>
        </p:txBody>
      </p:sp>
      <p:sp>
        <p:nvSpPr>
          <p:cNvPr id="56" name="Text 53"/>
          <p:cNvSpPr/>
          <p:nvPr/>
        </p:nvSpPr>
        <p:spPr>
          <a:xfrm>
            <a:off x="4805874" y="3561271"/>
            <a:ext cx="1104909"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20%</a:t>
            </a:r>
            <a:endParaRPr lang="en-US" sz="683" dirty="0"/>
          </a:p>
        </p:txBody>
      </p:sp>
      <p:sp>
        <p:nvSpPr>
          <p:cNvPr id="57" name="Text 54"/>
          <p:cNvSpPr/>
          <p:nvPr/>
        </p:nvSpPr>
        <p:spPr>
          <a:xfrm>
            <a:off x="4805874" y="3711290"/>
            <a:ext cx="1104909" cy="107156"/>
          </a:xfrm>
          <a:prstGeom prst="rect">
            <a:avLst/>
          </a:prstGeom>
          <a:noFill/>
          <a:ln/>
        </p:spPr>
        <p:txBody>
          <a:bodyPr wrap="none" lIns="0" tIns="0" rIns="0" bIns="0" rtlCol="0" anchor="t">
            <a:spAutoFit/>
          </a:bodyPr>
          <a:lstStyle/>
          <a:p>
            <a:pPr marL="0" indent="0" algn="ctr">
              <a:lnSpc>
                <a:spcPts val="700"/>
              </a:lnSpc>
              <a:buNone/>
            </a:pPr>
            <a:r>
              <a:rPr lang="en-US" sz="568" dirty="0">
                <a:solidFill>
                  <a:srgbClr val="495057"/>
                </a:solidFill>
              </a:rPr>
              <a:t>104 houses</a:t>
            </a:r>
            <a:endParaRPr lang="en-US" sz="568" dirty="0"/>
          </a:p>
        </p:txBody>
      </p:sp>
      <p:sp>
        <p:nvSpPr>
          <p:cNvPr id="58" name="Shape 55"/>
          <p:cNvSpPr/>
          <p:nvPr/>
        </p:nvSpPr>
        <p:spPr>
          <a:xfrm>
            <a:off x="6258867" y="2352275"/>
            <a:ext cx="2495541" cy="700004"/>
          </a:xfrm>
          <a:prstGeom prst="rect">
            <a:avLst/>
          </a:prstGeom>
          <a:solidFill>
            <a:srgbClr val="FFF3CD"/>
          </a:solidFill>
          <a:ln/>
        </p:spPr>
        <p:txBody>
          <a:bodyPr/>
          <a:lstStyle/>
          <a:p>
            <a:endParaRPr lang="en-MU"/>
          </a:p>
        </p:txBody>
      </p:sp>
      <p:sp>
        <p:nvSpPr>
          <p:cNvPr id="59" name="Shape 56"/>
          <p:cNvSpPr/>
          <p:nvPr/>
        </p:nvSpPr>
        <p:spPr>
          <a:xfrm>
            <a:off x="6196533" y="2342876"/>
            <a:ext cx="28575" cy="700004"/>
          </a:xfrm>
          <a:prstGeom prst="rect">
            <a:avLst/>
          </a:prstGeom>
          <a:solidFill>
            <a:srgbClr val="FFA500"/>
          </a:solidFill>
          <a:ln/>
        </p:spPr>
        <p:txBody>
          <a:bodyPr/>
          <a:lstStyle/>
          <a:p>
            <a:endParaRPr lang="en-MU"/>
          </a:p>
        </p:txBody>
      </p:sp>
      <p:sp>
        <p:nvSpPr>
          <p:cNvPr id="60" name="Text 57"/>
          <p:cNvSpPr/>
          <p:nvPr/>
        </p:nvSpPr>
        <p:spPr>
          <a:xfrm>
            <a:off x="6273155" y="2351400"/>
            <a:ext cx="2495541" cy="700004"/>
          </a:xfrm>
          <a:prstGeom prst="rect">
            <a:avLst/>
          </a:prstGeom>
          <a:noFill/>
          <a:ln/>
        </p:spPr>
        <p:txBody>
          <a:bodyPr wrap="square" lIns="85090" tIns="85090" rIns="85090" bIns="85090" rtlCol="0" anchor="t">
            <a:spAutoFit/>
          </a:bodyPr>
          <a:lstStyle/>
          <a:p>
            <a:pPr marL="0" indent="0" algn="l">
              <a:lnSpc>
                <a:spcPts val="900"/>
              </a:lnSpc>
              <a:buNone/>
            </a:pPr>
            <a:r>
              <a:rPr lang="en-US" sz="584" b="1" dirty="0">
                <a:solidFill>
                  <a:srgbClr val="FFA500"/>
                </a:solidFill>
              </a:rPr>
              <a:t>Why This Split?</a:t>
            </a:r>
            <a:r>
              <a:rPr lang="en-US" sz="621" dirty="0">
                <a:solidFill>
                  <a:srgbClr val="1A1A1A"/>
                </a:solidFill>
              </a:rPr>
              <a:t> The model learns patterns from the training set (80%), then we evaluate its accuracy on unseen test data (20%). This prevents overfitting and gives a realistic measure of how the model will perform on new data.</a:t>
            </a:r>
            <a:endParaRPr lang="en-US" sz="584" dirty="0"/>
          </a:p>
        </p:txBody>
      </p:sp>
      <p:sp>
        <p:nvSpPr>
          <p:cNvPr id="61" name="Shape 58"/>
          <p:cNvSpPr/>
          <p:nvPr/>
        </p:nvSpPr>
        <p:spPr>
          <a:xfrm>
            <a:off x="6196533" y="1078706"/>
            <a:ext cx="2518842" cy="811430"/>
          </a:xfrm>
          <a:prstGeom prst="rect">
            <a:avLst/>
          </a:prstGeom>
          <a:solidFill>
            <a:srgbClr val="E6F0FF"/>
          </a:solidFill>
          <a:ln/>
        </p:spPr>
        <p:txBody>
          <a:bodyPr/>
          <a:lstStyle/>
          <a:p>
            <a:endParaRPr lang="en-MU"/>
          </a:p>
        </p:txBody>
      </p:sp>
      <p:sp>
        <p:nvSpPr>
          <p:cNvPr id="62" name="Shape 59"/>
          <p:cNvSpPr/>
          <p:nvPr/>
        </p:nvSpPr>
        <p:spPr>
          <a:xfrm>
            <a:off x="6196533" y="1078706"/>
            <a:ext cx="28575" cy="811430"/>
          </a:xfrm>
          <a:prstGeom prst="rect">
            <a:avLst/>
          </a:prstGeom>
          <a:solidFill>
            <a:srgbClr val="007BFF"/>
          </a:solidFill>
          <a:ln/>
        </p:spPr>
        <p:txBody>
          <a:bodyPr/>
          <a:lstStyle/>
          <a:p>
            <a:endParaRPr lang="en-MU"/>
          </a:p>
        </p:txBody>
      </p:sp>
      <p:sp>
        <p:nvSpPr>
          <p:cNvPr id="63" name="Text 60"/>
          <p:cNvSpPr/>
          <p:nvPr/>
        </p:nvSpPr>
        <p:spPr>
          <a:xfrm>
            <a:off x="6196533" y="1078706"/>
            <a:ext cx="2518842" cy="811430"/>
          </a:xfrm>
          <a:prstGeom prst="rect">
            <a:avLst/>
          </a:prstGeom>
          <a:noFill/>
          <a:ln/>
        </p:spPr>
        <p:txBody>
          <a:bodyPr wrap="square" lIns="85090" tIns="85090" rIns="85090" bIns="85090" rtlCol="0" anchor="t">
            <a:spAutoFit/>
          </a:bodyPr>
          <a:lstStyle/>
          <a:p>
            <a:pPr marL="0" indent="0" algn="l">
              <a:lnSpc>
                <a:spcPts val="900"/>
              </a:lnSpc>
              <a:buNone/>
            </a:pPr>
            <a:r>
              <a:rPr lang="en-US" sz="584" b="1" dirty="0">
                <a:solidFill>
                  <a:srgbClr val="007BFF"/>
                </a:solidFill>
              </a:rPr>
              <a:t>Features (X) vs. Target (y):</a:t>
            </a:r>
            <a:r>
              <a:rPr lang="en-US" sz="621" dirty="0">
                <a:solidFill>
                  <a:srgbClr val="495057"/>
                </a:solidFill>
              </a:rPr>
              <a:t>
</a:t>
            </a:r>
            <a:r>
              <a:rPr lang="en-US" sz="584" b="1" dirty="0">
                <a:solidFill>
                  <a:srgbClr val="007BFF"/>
                </a:solidFill>
              </a:rPr>
              <a:t>X (Features):</a:t>
            </a:r>
            <a:r>
              <a:rPr lang="en-US" sz="621" dirty="0">
                <a:solidFill>
                  <a:srgbClr val="495057"/>
                </a:solidFill>
              </a:rPr>
              <a:t> area, bedrooms, bathrooms, stories, mainroad, guestroom, basement, hotwaterheating, airconditioning, parking, prefarea, furnishingstatus_semi, furnishingstatus_unfurnished
</a:t>
            </a:r>
            <a:r>
              <a:rPr lang="en-US" sz="584" b="1" dirty="0">
                <a:solidFill>
                  <a:srgbClr val="007BFF"/>
                </a:solidFill>
              </a:rPr>
              <a:t>y (Target):</a:t>
            </a:r>
            <a:r>
              <a:rPr lang="en-US" sz="621" dirty="0">
                <a:solidFill>
                  <a:srgbClr val="495057"/>
                </a:solidFill>
              </a:rPr>
              <a:t> price (what we predict)</a:t>
            </a:r>
            <a:endParaRPr lang="en-US" sz="584" dirty="0"/>
          </a:p>
        </p:txBody>
      </p:sp>
      <p:sp>
        <p:nvSpPr>
          <p:cNvPr id="70" name="Shape 16">
            <a:extLst>
              <a:ext uri="{FF2B5EF4-FFF2-40B4-BE49-F238E27FC236}">
                <a16:creationId xmlns:a16="http://schemas.microsoft.com/office/drawing/2014/main" id="{AB55B828-4A58-118F-4FEB-363406AF201A}"/>
              </a:ext>
            </a:extLst>
          </p:cNvPr>
          <p:cNvSpPr/>
          <p:nvPr/>
        </p:nvSpPr>
        <p:spPr>
          <a:xfrm>
            <a:off x="3409940" y="1080406"/>
            <a:ext cx="2729443" cy="1091459"/>
          </a:xfrm>
          <a:prstGeom prst="rect">
            <a:avLst/>
          </a:prstGeom>
          <a:solidFill>
            <a:srgbClr val="F8F9FA"/>
          </a:solidFill>
          <a:ln/>
        </p:spPr>
        <p:txBody>
          <a:bodyPr/>
          <a:lstStyle/>
          <a:p>
            <a:endParaRPr lang="en-MU"/>
          </a:p>
        </p:txBody>
      </p:sp>
      <p:sp>
        <p:nvSpPr>
          <p:cNvPr id="71" name="Shape 17">
            <a:extLst>
              <a:ext uri="{FF2B5EF4-FFF2-40B4-BE49-F238E27FC236}">
                <a16:creationId xmlns:a16="http://schemas.microsoft.com/office/drawing/2014/main" id="{0232B213-F29D-93A1-F96D-5EC53FEE0573}"/>
              </a:ext>
            </a:extLst>
          </p:cNvPr>
          <p:cNvSpPr/>
          <p:nvPr/>
        </p:nvSpPr>
        <p:spPr>
          <a:xfrm>
            <a:off x="3367078" y="1080406"/>
            <a:ext cx="28575" cy="1091459"/>
          </a:xfrm>
          <a:prstGeom prst="rect">
            <a:avLst/>
          </a:prstGeom>
          <a:solidFill>
            <a:srgbClr val="007BFF"/>
          </a:solidFill>
          <a:ln/>
        </p:spPr>
        <p:txBody>
          <a:bodyPr/>
          <a:lstStyle/>
          <a:p>
            <a:endParaRPr lang="en-MU"/>
          </a:p>
        </p:txBody>
      </p:sp>
      <p:sp>
        <p:nvSpPr>
          <p:cNvPr id="72" name="Shape 18">
            <a:extLst>
              <a:ext uri="{FF2B5EF4-FFF2-40B4-BE49-F238E27FC236}">
                <a16:creationId xmlns:a16="http://schemas.microsoft.com/office/drawing/2014/main" id="{19FEBCDC-5C00-A01E-F961-1986BDE23F4A}"/>
              </a:ext>
            </a:extLst>
          </p:cNvPr>
          <p:cNvSpPr/>
          <p:nvPr/>
        </p:nvSpPr>
        <p:spPr>
          <a:xfrm>
            <a:off x="3438516" y="1151844"/>
            <a:ext cx="2672293" cy="291443"/>
          </a:xfrm>
          <a:prstGeom prst="rect">
            <a:avLst/>
          </a:prstGeom>
          <a:solidFill>
            <a:srgbClr val="1A1A1A"/>
          </a:solidFill>
          <a:ln/>
        </p:spPr>
        <p:txBody>
          <a:bodyPr/>
          <a:lstStyle/>
          <a:p>
            <a:endParaRPr lang="en-MU"/>
          </a:p>
        </p:txBody>
      </p:sp>
      <p:sp>
        <p:nvSpPr>
          <p:cNvPr id="73" name="Text 19">
            <a:extLst>
              <a:ext uri="{FF2B5EF4-FFF2-40B4-BE49-F238E27FC236}">
                <a16:creationId xmlns:a16="http://schemas.microsoft.com/office/drawing/2014/main" id="{D186A2B5-7125-DF89-DED5-45C4EC92DF2B}"/>
              </a:ext>
            </a:extLst>
          </p:cNvPr>
          <p:cNvSpPr/>
          <p:nvPr/>
        </p:nvSpPr>
        <p:spPr>
          <a:xfrm>
            <a:off x="3438516" y="1151844"/>
            <a:ext cx="2672293" cy="714042"/>
          </a:xfrm>
          <a:prstGeom prst="rect">
            <a:avLst/>
          </a:prstGeom>
          <a:noFill/>
          <a:ln/>
        </p:spPr>
        <p:txBody>
          <a:bodyPr wrap="square" lIns="68072" tIns="51054" rIns="68072" bIns="51054" rtlCol="0" anchor="t">
            <a:spAutoFit/>
          </a:bodyPr>
          <a:lstStyle/>
          <a:p>
            <a:pPr>
              <a:lnSpc>
                <a:spcPts val="800"/>
              </a:lnSpc>
            </a:pPr>
            <a:r>
              <a:rPr lang="en-US" sz="621" dirty="0">
                <a:solidFill>
                  <a:srgbClr val="28A745"/>
                </a:solidFill>
              </a:rPr>
              <a:t>#4 - print(</a:t>
            </a:r>
            <a:r>
              <a:rPr lang="en-US" sz="621" dirty="0" err="1">
                <a:solidFill>
                  <a:srgbClr val="28A745"/>
                </a:solidFill>
              </a:rPr>
              <a:t>f"Training</a:t>
            </a:r>
            <a:r>
              <a:rPr lang="en-US" sz="621" dirty="0">
                <a:solidFill>
                  <a:srgbClr val="28A745"/>
                </a:solidFill>
              </a:rPr>
              <a:t> set size: {</a:t>
            </a:r>
            <a:r>
              <a:rPr lang="en-US" sz="621" dirty="0" err="1">
                <a:solidFill>
                  <a:srgbClr val="28A745"/>
                </a:solidFill>
              </a:rPr>
              <a:t>X_train.shape</a:t>
            </a:r>
            <a:r>
              <a:rPr lang="en-US" sz="621" dirty="0">
                <a:solidFill>
                  <a:srgbClr val="28A745"/>
                </a:solidFill>
              </a:rPr>
              <a:t>[0]} samples")</a:t>
            </a:r>
          </a:p>
          <a:p>
            <a:pPr>
              <a:lnSpc>
                <a:spcPts val="800"/>
              </a:lnSpc>
            </a:pPr>
            <a:r>
              <a:rPr lang="en-US" sz="621" dirty="0">
                <a:solidFill>
                  <a:srgbClr val="28A745"/>
                </a:solidFill>
              </a:rPr>
              <a:t>print(</a:t>
            </a:r>
            <a:r>
              <a:rPr lang="en-US" sz="621" dirty="0" err="1">
                <a:solidFill>
                  <a:srgbClr val="28A745"/>
                </a:solidFill>
              </a:rPr>
              <a:t>f"Test</a:t>
            </a:r>
            <a:r>
              <a:rPr lang="en-US" sz="621" dirty="0">
                <a:solidFill>
                  <a:srgbClr val="28A745"/>
                </a:solidFill>
              </a:rPr>
              <a:t> set size: {</a:t>
            </a:r>
            <a:r>
              <a:rPr lang="en-US" sz="621" dirty="0" err="1">
                <a:solidFill>
                  <a:srgbClr val="28A745"/>
                </a:solidFill>
              </a:rPr>
              <a:t>X_test.shape</a:t>
            </a:r>
            <a:r>
              <a:rPr lang="en-US" sz="621" dirty="0">
                <a:solidFill>
                  <a:srgbClr val="28A745"/>
                </a:solidFill>
              </a:rPr>
              <a:t>[0]} samples")</a:t>
            </a:r>
          </a:p>
          <a:p>
            <a:pPr>
              <a:lnSpc>
                <a:spcPts val="800"/>
              </a:lnSpc>
            </a:pPr>
            <a:endParaRPr lang="en-US" sz="621" dirty="0">
              <a:solidFill>
                <a:srgbClr val="28A745"/>
              </a:solidFill>
            </a:endParaRPr>
          </a:p>
          <a:p>
            <a:pPr>
              <a:lnSpc>
                <a:spcPts val="800"/>
              </a:lnSpc>
            </a:pPr>
            <a:endParaRPr lang="en-US" sz="621" dirty="0">
              <a:solidFill>
                <a:srgbClr val="28A745"/>
              </a:solidFill>
            </a:endParaRPr>
          </a:p>
          <a:p>
            <a:pPr>
              <a:lnSpc>
                <a:spcPts val="800"/>
              </a:lnSpc>
            </a:pPr>
            <a:endParaRPr lang="en-US" sz="621" dirty="0">
              <a:solidFill>
                <a:srgbClr val="28A745"/>
              </a:solidFill>
            </a:endParaRPr>
          </a:p>
          <a:p>
            <a:pPr>
              <a:lnSpc>
                <a:spcPts val="800"/>
              </a:lnSpc>
            </a:pPr>
            <a:r>
              <a:rPr lang="en-US" sz="621" dirty="0"/>
              <a:t>This print how many rows sample ended up in each split.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0" y="0"/>
            <a:ext cx="9144000" cy="950119"/>
          </a:xfrm>
          <a:prstGeom prst="rect">
            <a:avLst/>
          </a:prstGeom>
          <a:solidFill>
            <a:srgbClr val="000000">
              <a:alpha val="0"/>
            </a:srgbClr>
          </a:solidFill>
          <a:ln/>
        </p:spPr>
        <p:txBody>
          <a:bodyPr/>
          <a:lstStyle/>
          <a:p>
            <a:endParaRPr lang="en-MU"/>
          </a:p>
        </p:txBody>
      </p:sp>
      <p:sp>
        <p:nvSpPr>
          <p:cNvPr id="4" name="Shape 1"/>
          <p:cNvSpPr/>
          <p:nvPr/>
        </p:nvSpPr>
        <p:spPr>
          <a:xfrm>
            <a:off x="0" y="935831"/>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Model 1: Linear Regression</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Detailed Code Explanation and Performance Metrics</a:t>
            </a:r>
            <a:endParaRPr lang="en-US" sz="987" dirty="0"/>
          </a:p>
        </p:txBody>
      </p:sp>
      <p:sp>
        <p:nvSpPr>
          <p:cNvPr id="7" name="Shape 4"/>
          <p:cNvSpPr/>
          <p:nvPr/>
        </p:nvSpPr>
        <p:spPr>
          <a:xfrm>
            <a:off x="428625" y="1078706"/>
            <a:ext cx="2936863" cy="951458"/>
          </a:xfrm>
          <a:prstGeom prst="rect">
            <a:avLst/>
          </a:prstGeom>
          <a:solidFill>
            <a:srgbClr val="F8F9FA"/>
          </a:solidFill>
          <a:ln/>
        </p:spPr>
        <p:txBody>
          <a:bodyPr/>
          <a:lstStyle/>
          <a:p>
            <a:endParaRPr lang="en-MU"/>
          </a:p>
        </p:txBody>
      </p:sp>
      <p:sp>
        <p:nvSpPr>
          <p:cNvPr id="8" name="Shape 5"/>
          <p:cNvSpPr/>
          <p:nvPr/>
        </p:nvSpPr>
        <p:spPr>
          <a:xfrm>
            <a:off x="428625" y="1078706"/>
            <a:ext cx="28575" cy="951458"/>
          </a:xfrm>
          <a:prstGeom prst="rect">
            <a:avLst/>
          </a:prstGeom>
          <a:solidFill>
            <a:srgbClr val="007BFF"/>
          </a:solidFill>
          <a:ln/>
        </p:spPr>
        <p:txBody>
          <a:bodyPr/>
          <a:lstStyle/>
          <a:p>
            <a:endParaRPr lang="en-MU"/>
          </a:p>
        </p:txBody>
      </p:sp>
      <p:sp>
        <p:nvSpPr>
          <p:cNvPr id="9" name="Shape 6"/>
          <p:cNvSpPr/>
          <p:nvPr/>
        </p:nvSpPr>
        <p:spPr>
          <a:xfrm>
            <a:off x="500063" y="1150144"/>
            <a:ext cx="2793988" cy="291443"/>
          </a:xfrm>
          <a:prstGeom prst="rect">
            <a:avLst/>
          </a:prstGeom>
          <a:solidFill>
            <a:srgbClr val="1A1A1A"/>
          </a:solidFill>
          <a:ln/>
        </p:spPr>
        <p:txBody>
          <a:bodyPr/>
          <a:lstStyle/>
          <a:p>
            <a:endParaRPr lang="en-MU"/>
          </a:p>
        </p:txBody>
      </p:sp>
      <p:sp>
        <p:nvSpPr>
          <p:cNvPr id="10" name="Text 7"/>
          <p:cNvSpPr/>
          <p:nvPr/>
        </p:nvSpPr>
        <p:spPr>
          <a:xfrm>
            <a:off x="500063" y="1150144"/>
            <a:ext cx="2793988" cy="29144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#1 – Import Model</a:t>
            </a:r>
            <a:endParaRPr lang="en-US" sz="621" dirty="0"/>
          </a:p>
          <a:p>
            <a:pPr marL="0" indent="0" algn="l">
              <a:lnSpc>
                <a:spcPts val="800"/>
              </a:lnSpc>
              <a:buNone/>
            </a:pPr>
            <a:r>
              <a:rPr lang="en-US" sz="621" dirty="0">
                <a:solidFill>
                  <a:srgbClr val="28A745"/>
                </a:solidFill>
              </a:rPr>
              <a:t>from sklearn.linear_model import LinearRegression</a:t>
            </a:r>
            <a:endParaRPr lang="en-US" sz="621" dirty="0"/>
          </a:p>
        </p:txBody>
      </p:sp>
      <p:sp>
        <p:nvSpPr>
          <p:cNvPr id="11" name="Text 8"/>
          <p:cNvSpPr/>
          <p:nvPr/>
        </p:nvSpPr>
        <p:spPr>
          <a:xfrm>
            <a:off x="600075" y="1480877"/>
            <a:ext cx="766837"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LinearRegression:</a:t>
            </a:r>
            <a:endParaRPr lang="en-US" sz="584" dirty="0"/>
          </a:p>
        </p:txBody>
      </p:sp>
      <p:sp>
        <p:nvSpPr>
          <p:cNvPr id="12" name="Text 9"/>
          <p:cNvSpPr/>
          <p:nvPr/>
        </p:nvSpPr>
        <p:spPr>
          <a:xfrm>
            <a:off x="600075" y="1569093"/>
            <a:ext cx="2612073" cy="227512"/>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A scikit-learn class that implements the linear regression algorithm.</a:t>
            </a:r>
            <a:endParaRPr lang="en-US" sz="621" dirty="0"/>
          </a:p>
        </p:txBody>
      </p:sp>
      <p:sp>
        <p:nvSpPr>
          <p:cNvPr id="13" name="Text 10"/>
          <p:cNvSpPr/>
          <p:nvPr/>
        </p:nvSpPr>
        <p:spPr>
          <a:xfrm>
            <a:off x="600075" y="1718016"/>
            <a:ext cx="402589"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Assumes:</a:t>
            </a:r>
            <a:endParaRPr lang="en-US" sz="584" dirty="0"/>
          </a:p>
        </p:txBody>
      </p:sp>
      <p:sp>
        <p:nvSpPr>
          <p:cNvPr id="14" name="Text 11"/>
          <p:cNvSpPr/>
          <p:nvPr/>
        </p:nvSpPr>
        <p:spPr>
          <a:xfrm>
            <a:off x="594201" y="1831772"/>
            <a:ext cx="2667716" cy="107594"/>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Linear relationship between features and target.</a:t>
            </a:r>
            <a:endParaRPr lang="en-US" sz="621" dirty="0"/>
          </a:p>
        </p:txBody>
      </p:sp>
      <p:sp>
        <p:nvSpPr>
          <p:cNvPr id="15" name="Shape 12"/>
          <p:cNvSpPr/>
          <p:nvPr/>
        </p:nvSpPr>
        <p:spPr>
          <a:xfrm>
            <a:off x="428625" y="2101602"/>
            <a:ext cx="2936863" cy="840032"/>
          </a:xfrm>
          <a:prstGeom prst="rect">
            <a:avLst/>
          </a:prstGeom>
          <a:solidFill>
            <a:srgbClr val="F8F9FA"/>
          </a:solidFill>
          <a:ln/>
        </p:spPr>
        <p:txBody>
          <a:bodyPr/>
          <a:lstStyle/>
          <a:p>
            <a:endParaRPr lang="en-MU"/>
          </a:p>
        </p:txBody>
      </p:sp>
      <p:sp>
        <p:nvSpPr>
          <p:cNvPr id="16" name="Shape 13"/>
          <p:cNvSpPr/>
          <p:nvPr/>
        </p:nvSpPr>
        <p:spPr>
          <a:xfrm>
            <a:off x="428625" y="2101602"/>
            <a:ext cx="28575" cy="840032"/>
          </a:xfrm>
          <a:prstGeom prst="rect">
            <a:avLst/>
          </a:prstGeom>
          <a:solidFill>
            <a:srgbClr val="007BFF"/>
          </a:solidFill>
          <a:ln/>
        </p:spPr>
        <p:txBody>
          <a:bodyPr/>
          <a:lstStyle/>
          <a:p>
            <a:endParaRPr lang="en-MU"/>
          </a:p>
        </p:txBody>
      </p:sp>
      <p:sp>
        <p:nvSpPr>
          <p:cNvPr id="17" name="Shape 14"/>
          <p:cNvSpPr/>
          <p:nvPr/>
        </p:nvSpPr>
        <p:spPr>
          <a:xfrm>
            <a:off x="500063" y="2173039"/>
            <a:ext cx="2793988" cy="291443"/>
          </a:xfrm>
          <a:prstGeom prst="rect">
            <a:avLst/>
          </a:prstGeom>
          <a:solidFill>
            <a:srgbClr val="1A1A1A"/>
          </a:solidFill>
          <a:ln/>
        </p:spPr>
        <p:txBody>
          <a:bodyPr/>
          <a:lstStyle/>
          <a:p>
            <a:endParaRPr lang="en-MU"/>
          </a:p>
        </p:txBody>
      </p:sp>
      <p:sp>
        <p:nvSpPr>
          <p:cNvPr id="18" name="Text 15"/>
          <p:cNvSpPr/>
          <p:nvPr/>
        </p:nvSpPr>
        <p:spPr>
          <a:xfrm>
            <a:off x="500063" y="2173039"/>
            <a:ext cx="2793988"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#2 – Create Model Instance</a:t>
            </a:r>
            <a:endParaRPr lang="en-US" sz="621" dirty="0"/>
          </a:p>
          <a:p>
            <a:pPr marL="0" indent="0" algn="l">
              <a:lnSpc>
                <a:spcPts val="800"/>
              </a:lnSpc>
              <a:buNone/>
            </a:pPr>
            <a:r>
              <a:rPr lang="en-US" sz="621" dirty="0" err="1">
                <a:solidFill>
                  <a:srgbClr val="28A745"/>
                </a:solidFill>
              </a:rPr>
              <a:t>lr</a:t>
            </a:r>
            <a:r>
              <a:rPr lang="en-US" sz="621" dirty="0">
                <a:solidFill>
                  <a:srgbClr val="28A745"/>
                </a:solidFill>
              </a:rPr>
              <a:t> = </a:t>
            </a:r>
            <a:r>
              <a:rPr lang="en-US" sz="621" dirty="0" err="1">
                <a:solidFill>
                  <a:srgbClr val="28A745"/>
                </a:solidFill>
              </a:rPr>
              <a:t>LinearRegression</a:t>
            </a:r>
            <a:r>
              <a:rPr lang="en-US" sz="621" dirty="0">
                <a:solidFill>
                  <a:srgbClr val="28A745"/>
                </a:solidFill>
              </a:rPr>
              <a:t>()</a:t>
            </a:r>
            <a:endParaRPr lang="en-US" sz="621" dirty="0"/>
          </a:p>
        </p:txBody>
      </p:sp>
      <p:sp>
        <p:nvSpPr>
          <p:cNvPr id="19" name="Text 16"/>
          <p:cNvSpPr/>
          <p:nvPr/>
        </p:nvSpPr>
        <p:spPr>
          <a:xfrm>
            <a:off x="600075" y="2503773"/>
            <a:ext cx="718145" cy="106376"/>
          </a:xfrm>
          <a:prstGeom prst="rect">
            <a:avLst/>
          </a:prstGeom>
          <a:noFill/>
          <a:ln/>
        </p:spPr>
        <p:txBody>
          <a:bodyPr wrap="none" lIns="0" tIns="0" rIns="0" bIns="0" rtlCol="0" anchor="t">
            <a:spAutoFit/>
          </a:bodyPr>
          <a:lstStyle/>
          <a:p>
            <a:pPr marL="0" indent="0" algn="l">
              <a:lnSpc>
                <a:spcPts val="900"/>
              </a:lnSpc>
              <a:buNone/>
            </a:pPr>
            <a:r>
              <a:rPr lang="en-US" sz="584" b="1" dirty="0" err="1">
                <a:solidFill>
                  <a:srgbClr val="1A1A1A"/>
                </a:solidFill>
              </a:rPr>
              <a:t>lr</a:t>
            </a:r>
            <a:r>
              <a:rPr lang="en-US" sz="584" b="1" dirty="0">
                <a:solidFill>
                  <a:srgbClr val="1A1A1A"/>
                </a:solidFill>
              </a:rPr>
              <a:t> = </a:t>
            </a:r>
            <a:r>
              <a:rPr lang="en-US" sz="584" b="1" dirty="0" err="1">
                <a:solidFill>
                  <a:srgbClr val="1A1A1A"/>
                </a:solidFill>
              </a:rPr>
              <a:t>LinearRegression</a:t>
            </a:r>
            <a:r>
              <a:rPr lang="en-US" sz="584" b="1" dirty="0">
                <a:solidFill>
                  <a:srgbClr val="1A1A1A"/>
                </a:solidFill>
              </a:rPr>
              <a:t>():</a:t>
            </a:r>
            <a:endParaRPr lang="en-US" sz="584" dirty="0"/>
          </a:p>
        </p:txBody>
      </p:sp>
      <p:sp>
        <p:nvSpPr>
          <p:cNvPr id="20" name="Text 17"/>
          <p:cNvSpPr/>
          <p:nvPr/>
        </p:nvSpPr>
        <p:spPr>
          <a:xfrm>
            <a:off x="600075" y="2606007"/>
            <a:ext cx="2615757" cy="227512"/>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Creates a new Linear Regression model object.</a:t>
            </a:r>
            <a:endParaRPr lang="en-US" sz="621" dirty="0"/>
          </a:p>
        </p:txBody>
      </p:sp>
      <p:sp>
        <p:nvSpPr>
          <p:cNvPr id="21" name="Text 18"/>
          <p:cNvSpPr/>
          <p:nvPr/>
        </p:nvSpPr>
        <p:spPr>
          <a:xfrm>
            <a:off x="600075" y="2740912"/>
            <a:ext cx="486835"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This object:</a:t>
            </a:r>
            <a:endParaRPr lang="en-US" sz="584" dirty="0"/>
          </a:p>
        </p:txBody>
      </p:sp>
      <p:sp>
        <p:nvSpPr>
          <p:cNvPr id="22" name="Text 19"/>
          <p:cNvSpPr/>
          <p:nvPr/>
        </p:nvSpPr>
        <p:spPr>
          <a:xfrm>
            <a:off x="1086910" y="2740912"/>
            <a:ext cx="2074897"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Will learn the weights (coefficients) during training.</a:t>
            </a:r>
            <a:endParaRPr lang="en-US" sz="621" dirty="0"/>
          </a:p>
        </p:txBody>
      </p:sp>
      <p:sp>
        <p:nvSpPr>
          <p:cNvPr id="23" name="Shape 20"/>
          <p:cNvSpPr/>
          <p:nvPr/>
        </p:nvSpPr>
        <p:spPr>
          <a:xfrm>
            <a:off x="428625" y="3013072"/>
            <a:ext cx="2936863" cy="980033"/>
          </a:xfrm>
          <a:prstGeom prst="rect">
            <a:avLst/>
          </a:prstGeom>
          <a:solidFill>
            <a:srgbClr val="F8F9FA"/>
          </a:solidFill>
          <a:ln/>
        </p:spPr>
        <p:txBody>
          <a:bodyPr/>
          <a:lstStyle/>
          <a:p>
            <a:endParaRPr lang="en-MU"/>
          </a:p>
        </p:txBody>
      </p:sp>
      <p:sp>
        <p:nvSpPr>
          <p:cNvPr id="24" name="Shape 21"/>
          <p:cNvSpPr/>
          <p:nvPr/>
        </p:nvSpPr>
        <p:spPr>
          <a:xfrm>
            <a:off x="428625" y="3013072"/>
            <a:ext cx="28575" cy="980033"/>
          </a:xfrm>
          <a:prstGeom prst="rect">
            <a:avLst/>
          </a:prstGeom>
          <a:solidFill>
            <a:srgbClr val="007BFF"/>
          </a:solidFill>
          <a:ln/>
        </p:spPr>
        <p:txBody>
          <a:bodyPr/>
          <a:lstStyle/>
          <a:p>
            <a:endParaRPr lang="en-MU"/>
          </a:p>
        </p:txBody>
      </p:sp>
      <p:sp>
        <p:nvSpPr>
          <p:cNvPr id="25" name="Shape 22"/>
          <p:cNvSpPr/>
          <p:nvPr/>
        </p:nvSpPr>
        <p:spPr>
          <a:xfrm>
            <a:off x="500063" y="3084509"/>
            <a:ext cx="2793988" cy="291443"/>
          </a:xfrm>
          <a:prstGeom prst="rect">
            <a:avLst/>
          </a:prstGeom>
          <a:solidFill>
            <a:srgbClr val="1A1A1A"/>
          </a:solidFill>
          <a:ln/>
        </p:spPr>
        <p:txBody>
          <a:bodyPr/>
          <a:lstStyle/>
          <a:p>
            <a:endParaRPr lang="en-MU"/>
          </a:p>
        </p:txBody>
      </p:sp>
      <p:sp>
        <p:nvSpPr>
          <p:cNvPr id="26" name="Text 23"/>
          <p:cNvSpPr/>
          <p:nvPr/>
        </p:nvSpPr>
        <p:spPr>
          <a:xfrm>
            <a:off x="500063" y="3084509"/>
            <a:ext cx="2793988"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#3 – Train the Model</a:t>
            </a:r>
            <a:endParaRPr lang="en-US" sz="621" dirty="0"/>
          </a:p>
          <a:p>
            <a:pPr marL="0" indent="0" algn="l">
              <a:lnSpc>
                <a:spcPts val="800"/>
              </a:lnSpc>
              <a:buNone/>
            </a:pPr>
            <a:r>
              <a:rPr lang="en-US" sz="621" dirty="0" err="1">
                <a:solidFill>
                  <a:srgbClr val="28A745"/>
                </a:solidFill>
              </a:rPr>
              <a:t>lr.fit</a:t>
            </a:r>
            <a:r>
              <a:rPr lang="en-US" sz="621" dirty="0">
                <a:solidFill>
                  <a:srgbClr val="28A745"/>
                </a:solidFill>
              </a:rPr>
              <a:t>(X_train, y_train)</a:t>
            </a:r>
            <a:endParaRPr lang="en-US" sz="621" dirty="0"/>
          </a:p>
        </p:txBody>
      </p:sp>
      <p:sp>
        <p:nvSpPr>
          <p:cNvPr id="27" name="Text 24"/>
          <p:cNvSpPr/>
          <p:nvPr/>
        </p:nvSpPr>
        <p:spPr>
          <a:xfrm>
            <a:off x="600075" y="3415243"/>
            <a:ext cx="203513"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.fit():</a:t>
            </a:r>
            <a:endParaRPr lang="en-US" sz="584" dirty="0"/>
          </a:p>
        </p:txBody>
      </p:sp>
      <p:sp>
        <p:nvSpPr>
          <p:cNvPr id="28" name="Text 25"/>
          <p:cNvSpPr/>
          <p:nvPr/>
        </p:nvSpPr>
        <p:spPr>
          <a:xfrm>
            <a:off x="803588" y="3415243"/>
            <a:ext cx="1502866"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Trains the model using training data.</a:t>
            </a:r>
            <a:endParaRPr lang="en-US" sz="621" dirty="0"/>
          </a:p>
        </p:txBody>
      </p:sp>
      <p:sp>
        <p:nvSpPr>
          <p:cNvPr id="29" name="Text 26"/>
          <p:cNvSpPr/>
          <p:nvPr/>
        </p:nvSpPr>
        <p:spPr>
          <a:xfrm>
            <a:off x="600075" y="3540956"/>
            <a:ext cx="325515"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X_train:</a:t>
            </a:r>
            <a:endParaRPr lang="en-US" sz="584" dirty="0"/>
          </a:p>
        </p:txBody>
      </p:sp>
      <p:sp>
        <p:nvSpPr>
          <p:cNvPr id="30" name="Text 27"/>
          <p:cNvSpPr/>
          <p:nvPr/>
        </p:nvSpPr>
        <p:spPr>
          <a:xfrm>
            <a:off x="925590" y="3540956"/>
            <a:ext cx="2115527"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Training features (area, bedrooms, bathrooms, etc.).</a:t>
            </a:r>
            <a:endParaRPr lang="en-US" sz="621" dirty="0"/>
          </a:p>
        </p:txBody>
      </p:sp>
      <p:sp>
        <p:nvSpPr>
          <p:cNvPr id="31" name="Text 28"/>
          <p:cNvSpPr/>
          <p:nvPr/>
        </p:nvSpPr>
        <p:spPr>
          <a:xfrm>
            <a:off x="600075" y="3666669"/>
            <a:ext cx="317116"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y_train:</a:t>
            </a:r>
            <a:endParaRPr lang="en-US" sz="584" dirty="0"/>
          </a:p>
        </p:txBody>
      </p:sp>
      <p:sp>
        <p:nvSpPr>
          <p:cNvPr id="32" name="Text 29"/>
          <p:cNvSpPr/>
          <p:nvPr/>
        </p:nvSpPr>
        <p:spPr>
          <a:xfrm>
            <a:off x="917191" y="3666669"/>
            <a:ext cx="1769390"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Training target values (actual house prices).</a:t>
            </a:r>
            <a:endParaRPr lang="en-US" sz="621" dirty="0"/>
          </a:p>
        </p:txBody>
      </p:sp>
      <p:sp>
        <p:nvSpPr>
          <p:cNvPr id="33" name="Text 30"/>
          <p:cNvSpPr/>
          <p:nvPr/>
        </p:nvSpPr>
        <p:spPr>
          <a:xfrm>
            <a:off x="600075" y="3792382"/>
            <a:ext cx="31318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Learns:</a:t>
            </a:r>
            <a:endParaRPr lang="en-US" sz="584" dirty="0"/>
          </a:p>
        </p:txBody>
      </p:sp>
      <p:sp>
        <p:nvSpPr>
          <p:cNvPr id="34" name="Text 31"/>
          <p:cNvSpPr/>
          <p:nvPr/>
        </p:nvSpPr>
        <p:spPr>
          <a:xfrm>
            <a:off x="913256" y="3792382"/>
            <a:ext cx="186736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The best weights to minimize prediction error.</a:t>
            </a:r>
            <a:endParaRPr lang="en-US" sz="621" dirty="0"/>
          </a:p>
        </p:txBody>
      </p:sp>
      <p:sp>
        <p:nvSpPr>
          <p:cNvPr id="35" name="Shape 32"/>
          <p:cNvSpPr/>
          <p:nvPr/>
        </p:nvSpPr>
        <p:spPr>
          <a:xfrm>
            <a:off x="428625" y="4064543"/>
            <a:ext cx="2936863" cy="854320"/>
          </a:xfrm>
          <a:prstGeom prst="rect">
            <a:avLst/>
          </a:prstGeom>
          <a:solidFill>
            <a:srgbClr val="F8F9FA"/>
          </a:solidFill>
          <a:ln/>
        </p:spPr>
        <p:txBody>
          <a:bodyPr/>
          <a:lstStyle/>
          <a:p>
            <a:endParaRPr lang="en-MU"/>
          </a:p>
        </p:txBody>
      </p:sp>
      <p:sp>
        <p:nvSpPr>
          <p:cNvPr id="36" name="Shape 33"/>
          <p:cNvSpPr/>
          <p:nvPr/>
        </p:nvSpPr>
        <p:spPr>
          <a:xfrm>
            <a:off x="428625" y="4064543"/>
            <a:ext cx="28575" cy="854320"/>
          </a:xfrm>
          <a:prstGeom prst="rect">
            <a:avLst/>
          </a:prstGeom>
          <a:solidFill>
            <a:srgbClr val="007BFF"/>
          </a:solidFill>
          <a:ln/>
        </p:spPr>
        <p:txBody>
          <a:bodyPr/>
          <a:lstStyle/>
          <a:p>
            <a:endParaRPr lang="en-MU"/>
          </a:p>
        </p:txBody>
      </p:sp>
      <p:sp>
        <p:nvSpPr>
          <p:cNvPr id="37" name="Shape 34"/>
          <p:cNvSpPr/>
          <p:nvPr/>
        </p:nvSpPr>
        <p:spPr>
          <a:xfrm>
            <a:off x="500063" y="4135980"/>
            <a:ext cx="2793988" cy="291443"/>
          </a:xfrm>
          <a:prstGeom prst="rect">
            <a:avLst/>
          </a:prstGeom>
          <a:solidFill>
            <a:srgbClr val="1A1A1A"/>
          </a:solidFill>
          <a:ln/>
        </p:spPr>
        <p:txBody>
          <a:bodyPr/>
          <a:lstStyle/>
          <a:p>
            <a:endParaRPr lang="en-MU"/>
          </a:p>
        </p:txBody>
      </p:sp>
      <p:sp>
        <p:nvSpPr>
          <p:cNvPr id="38" name="Text 35"/>
          <p:cNvSpPr/>
          <p:nvPr/>
        </p:nvSpPr>
        <p:spPr>
          <a:xfrm>
            <a:off x="500063" y="4135980"/>
            <a:ext cx="2793988"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#4 – Make Predictions</a:t>
            </a:r>
            <a:endParaRPr lang="en-US" sz="621" dirty="0"/>
          </a:p>
          <a:p>
            <a:pPr marL="0" indent="0" algn="l">
              <a:lnSpc>
                <a:spcPts val="800"/>
              </a:lnSpc>
              <a:buNone/>
            </a:pPr>
            <a:r>
              <a:rPr lang="en-US" sz="621" dirty="0">
                <a:solidFill>
                  <a:srgbClr val="28A745"/>
                </a:solidFill>
              </a:rPr>
              <a:t>y_pred_lr = </a:t>
            </a:r>
            <a:r>
              <a:rPr lang="en-US" sz="621" dirty="0" err="1">
                <a:solidFill>
                  <a:srgbClr val="28A745"/>
                </a:solidFill>
              </a:rPr>
              <a:t>lr.predict</a:t>
            </a:r>
            <a:r>
              <a:rPr lang="en-US" sz="621" dirty="0">
                <a:solidFill>
                  <a:srgbClr val="28A745"/>
                </a:solidFill>
              </a:rPr>
              <a:t>(X_test)</a:t>
            </a:r>
            <a:endParaRPr lang="en-US" sz="621" dirty="0"/>
          </a:p>
        </p:txBody>
      </p:sp>
      <p:sp>
        <p:nvSpPr>
          <p:cNvPr id="39" name="Text 36"/>
          <p:cNvSpPr/>
          <p:nvPr/>
        </p:nvSpPr>
        <p:spPr>
          <a:xfrm>
            <a:off x="600075" y="4466713"/>
            <a:ext cx="41082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.predict():</a:t>
            </a:r>
            <a:endParaRPr lang="en-US" sz="584" dirty="0"/>
          </a:p>
        </p:txBody>
      </p:sp>
      <p:sp>
        <p:nvSpPr>
          <p:cNvPr id="40" name="Text 37"/>
          <p:cNvSpPr/>
          <p:nvPr/>
        </p:nvSpPr>
        <p:spPr>
          <a:xfrm>
            <a:off x="1010896" y="4466713"/>
            <a:ext cx="2168603"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Uses the trained model to predict prices for test data.</a:t>
            </a:r>
            <a:endParaRPr lang="en-US" sz="621" dirty="0"/>
          </a:p>
        </p:txBody>
      </p:sp>
      <p:sp>
        <p:nvSpPr>
          <p:cNvPr id="41" name="Text 38"/>
          <p:cNvSpPr/>
          <p:nvPr/>
        </p:nvSpPr>
        <p:spPr>
          <a:xfrm>
            <a:off x="600075" y="4592427"/>
            <a:ext cx="284522"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X_test:</a:t>
            </a:r>
            <a:endParaRPr lang="en-US" sz="584" dirty="0"/>
          </a:p>
        </p:txBody>
      </p:sp>
      <p:sp>
        <p:nvSpPr>
          <p:cNvPr id="42" name="Text 39"/>
          <p:cNvSpPr/>
          <p:nvPr/>
        </p:nvSpPr>
        <p:spPr>
          <a:xfrm>
            <a:off x="884597" y="4592427"/>
            <a:ext cx="1562109"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Test features (unseen during training).</a:t>
            </a:r>
            <a:endParaRPr lang="en-US" sz="621" dirty="0"/>
          </a:p>
        </p:txBody>
      </p:sp>
      <p:sp>
        <p:nvSpPr>
          <p:cNvPr id="43" name="Text 40"/>
          <p:cNvSpPr/>
          <p:nvPr/>
        </p:nvSpPr>
        <p:spPr>
          <a:xfrm>
            <a:off x="600075" y="4718140"/>
            <a:ext cx="405157"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y_pred_lr:</a:t>
            </a:r>
            <a:endParaRPr lang="en-US" sz="584" dirty="0"/>
          </a:p>
        </p:txBody>
      </p:sp>
      <p:sp>
        <p:nvSpPr>
          <p:cNvPr id="44" name="Text 41"/>
          <p:cNvSpPr/>
          <p:nvPr/>
        </p:nvSpPr>
        <p:spPr>
          <a:xfrm>
            <a:off x="1005232" y="4718140"/>
            <a:ext cx="1569644"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Predicted house prices for the test set.</a:t>
            </a:r>
            <a:endParaRPr lang="en-US" sz="621" dirty="0"/>
          </a:p>
        </p:txBody>
      </p:sp>
      <p:sp>
        <p:nvSpPr>
          <p:cNvPr id="45" name="Shape 42"/>
          <p:cNvSpPr/>
          <p:nvPr/>
        </p:nvSpPr>
        <p:spPr>
          <a:xfrm>
            <a:off x="3449520" y="1078707"/>
            <a:ext cx="2694510" cy="1394315"/>
          </a:xfrm>
          <a:prstGeom prst="rect">
            <a:avLst/>
          </a:prstGeom>
          <a:solidFill>
            <a:srgbClr val="F8F9FA"/>
          </a:solidFill>
          <a:ln/>
        </p:spPr>
        <p:txBody>
          <a:bodyPr/>
          <a:lstStyle/>
          <a:p>
            <a:endParaRPr lang="en-MU"/>
          </a:p>
        </p:txBody>
      </p:sp>
      <p:sp>
        <p:nvSpPr>
          <p:cNvPr id="46" name="Shape 43"/>
          <p:cNvSpPr/>
          <p:nvPr/>
        </p:nvSpPr>
        <p:spPr>
          <a:xfrm>
            <a:off x="3449519" y="1078707"/>
            <a:ext cx="45719" cy="1394315"/>
          </a:xfrm>
          <a:prstGeom prst="rect">
            <a:avLst/>
          </a:prstGeom>
          <a:solidFill>
            <a:srgbClr val="007BFF"/>
          </a:solidFill>
          <a:ln/>
        </p:spPr>
        <p:txBody>
          <a:bodyPr/>
          <a:lstStyle/>
          <a:p>
            <a:endParaRPr lang="en-MU"/>
          </a:p>
        </p:txBody>
      </p:sp>
      <p:sp>
        <p:nvSpPr>
          <p:cNvPr id="47" name="Shape 44"/>
          <p:cNvSpPr/>
          <p:nvPr/>
        </p:nvSpPr>
        <p:spPr>
          <a:xfrm>
            <a:off x="3520957" y="1150144"/>
            <a:ext cx="2563425" cy="696087"/>
          </a:xfrm>
          <a:prstGeom prst="rect">
            <a:avLst/>
          </a:prstGeom>
          <a:solidFill>
            <a:srgbClr val="1A1A1A"/>
          </a:solidFill>
          <a:ln/>
        </p:spPr>
        <p:txBody>
          <a:bodyPr/>
          <a:lstStyle/>
          <a:p>
            <a:endParaRPr lang="en-MU"/>
          </a:p>
        </p:txBody>
      </p:sp>
      <p:sp>
        <p:nvSpPr>
          <p:cNvPr id="48" name="Text 45"/>
          <p:cNvSpPr/>
          <p:nvPr/>
        </p:nvSpPr>
        <p:spPr>
          <a:xfrm>
            <a:off x="3520957" y="1150145"/>
            <a:ext cx="2563425" cy="611449"/>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#5 – Evaluate Performance</a:t>
            </a:r>
            <a:endParaRPr lang="en-US" sz="621" dirty="0"/>
          </a:p>
          <a:p>
            <a:pPr marL="0" indent="0" algn="l">
              <a:lnSpc>
                <a:spcPts val="800"/>
              </a:lnSpc>
              <a:buNone/>
            </a:pPr>
            <a:r>
              <a:rPr lang="en-US" sz="621" dirty="0">
                <a:solidFill>
                  <a:srgbClr val="28A745"/>
                </a:solidFill>
              </a:rPr>
              <a:t>r2_lr = r2_score(y_test, y_pred_lr)</a:t>
            </a:r>
            <a:endParaRPr lang="en-US" sz="621" dirty="0"/>
          </a:p>
          <a:p>
            <a:pPr marL="0" indent="0" algn="l">
              <a:lnSpc>
                <a:spcPts val="800"/>
              </a:lnSpc>
              <a:buNone/>
            </a:pPr>
            <a:r>
              <a:rPr lang="en-US" sz="621" dirty="0">
                <a:solidFill>
                  <a:srgbClr val="28A745"/>
                </a:solidFill>
              </a:rPr>
              <a:t>mae_lr = mean_absolute_error(y_test, </a:t>
            </a:r>
            <a:r>
              <a:rPr lang="en-US" sz="621" dirty="0" err="1">
                <a:solidFill>
                  <a:srgbClr val="28A745"/>
                </a:solidFill>
              </a:rPr>
              <a:t>y_pred_lr</a:t>
            </a:r>
            <a:r>
              <a:rPr lang="en-US" sz="621" dirty="0">
                <a:solidFill>
                  <a:srgbClr val="28A745"/>
                </a:solidFill>
              </a:rPr>
              <a:t>)</a:t>
            </a:r>
          </a:p>
          <a:p>
            <a:pPr marL="0" indent="0" algn="l">
              <a:lnSpc>
                <a:spcPts val="800"/>
              </a:lnSpc>
              <a:buNone/>
            </a:pPr>
            <a:r>
              <a:rPr lang="en-US" sz="621" dirty="0" err="1">
                <a:solidFill>
                  <a:srgbClr val="28A745"/>
                </a:solidFill>
              </a:rPr>
              <a:t>Mse</a:t>
            </a:r>
            <a:r>
              <a:rPr lang="en-US" sz="621" dirty="0">
                <a:solidFill>
                  <a:srgbClr val="28A745"/>
                </a:solidFill>
              </a:rPr>
              <a:t> </a:t>
            </a:r>
            <a:endParaRPr lang="en-US" sz="621" dirty="0"/>
          </a:p>
          <a:p>
            <a:pPr marL="0" indent="0" algn="l">
              <a:lnSpc>
                <a:spcPts val="800"/>
              </a:lnSpc>
              <a:buNone/>
            </a:pPr>
            <a:r>
              <a:rPr lang="en-US" sz="621" dirty="0" err="1">
                <a:solidFill>
                  <a:srgbClr val="28A745"/>
                </a:solidFill>
              </a:rPr>
              <a:t>rmse_lr</a:t>
            </a:r>
            <a:r>
              <a:rPr lang="en-US" sz="621" dirty="0">
                <a:solidFill>
                  <a:srgbClr val="28A745"/>
                </a:solidFill>
              </a:rPr>
              <a:t> = np.sqrt(mean_squared_error(y_test, y_pred_lr))</a:t>
            </a:r>
            <a:endParaRPr lang="en-US" sz="621" dirty="0"/>
          </a:p>
        </p:txBody>
      </p:sp>
      <p:sp>
        <p:nvSpPr>
          <p:cNvPr id="49" name="Text 46"/>
          <p:cNvSpPr/>
          <p:nvPr/>
        </p:nvSpPr>
        <p:spPr>
          <a:xfrm>
            <a:off x="3615095" y="1984179"/>
            <a:ext cx="397581" cy="106376"/>
          </a:xfrm>
          <a:prstGeom prst="rect">
            <a:avLst/>
          </a:prstGeom>
          <a:noFill/>
          <a:ln/>
        </p:spPr>
        <p:txBody>
          <a:bodyPr wrap="square" lIns="0" tIns="0" rIns="0" bIns="0" rtlCol="0" anchor="t">
            <a:spAutoFit/>
          </a:bodyPr>
          <a:lstStyle/>
          <a:p>
            <a:pPr marL="0" indent="0" algn="l">
              <a:lnSpc>
                <a:spcPts val="900"/>
              </a:lnSpc>
              <a:buNone/>
            </a:pPr>
            <a:r>
              <a:rPr lang="en-US" sz="584" b="1" dirty="0">
                <a:solidFill>
                  <a:srgbClr val="1A1A1A"/>
                </a:solidFill>
              </a:rPr>
              <a:t>r2_score():</a:t>
            </a:r>
            <a:endParaRPr lang="en-US" sz="584" dirty="0"/>
          </a:p>
        </p:txBody>
      </p:sp>
      <p:sp>
        <p:nvSpPr>
          <p:cNvPr id="50" name="Text 47"/>
          <p:cNvSpPr/>
          <p:nvPr/>
        </p:nvSpPr>
        <p:spPr>
          <a:xfrm>
            <a:off x="3615095" y="2107562"/>
            <a:ext cx="2279467" cy="107594"/>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R² Score (0-1). Higher is better. How well the model explains variance.</a:t>
            </a:r>
            <a:endParaRPr lang="en-US" sz="621" dirty="0"/>
          </a:p>
        </p:txBody>
      </p:sp>
      <p:sp>
        <p:nvSpPr>
          <p:cNvPr id="55" name="Shape 52"/>
          <p:cNvSpPr/>
          <p:nvPr/>
        </p:nvSpPr>
        <p:spPr>
          <a:xfrm>
            <a:off x="6206520" y="3209888"/>
            <a:ext cx="2496350" cy="1498625"/>
          </a:xfrm>
          <a:prstGeom prst="rect">
            <a:avLst/>
          </a:prstGeom>
          <a:solidFill>
            <a:srgbClr val="F8F9FA"/>
          </a:solidFill>
          <a:ln w="9144">
            <a:solidFill>
              <a:srgbClr val="E0E0E0"/>
            </a:solidFill>
            <a:prstDash val="solid"/>
          </a:ln>
        </p:spPr>
        <p:txBody>
          <a:bodyPr/>
          <a:lstStyle/>
          <a:p>
            <a:endParaRPr lang="en-MU"/>
          </a:p>
        </p:txBody>
      </p:sp>
      <p:sp>
        <p:nvSpPr>
          <p:cNvPr id="56" name="Text 53"/>
          <p:cNvSpPr/>
          <p:nvPr/>
        </p:nvSpPr>
        <p:spPr>
          <a:xfrm>
            <a:off x="6292245" y="3295613"/>
            <a:ext cx="2324900"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Linear Regression Training Process</a:t>
            </a:r>
            <a:endParaRPr lang="en-US" sz="683" dirty="0"/>
          </a:p>
        </p:txBody>
      </p:sp>
      <p:sp>
        <p:nvSpPr>
          <p:cNvPr id="57" name="Shape 54"/>
          <p:cNvSpPr/>
          <p:nvPr/>
        </p:nvSpPr>
        <p:spPr>
          <a:xfrm>
            <a:off x="6292245" y="3488495"/>
            <a:ext cx="171450" cy="171450"/>
          </a:xfrm>
          <a:prstGeom prst="ellipse">
            <a:avLst/>
          </a:prstGeom>
          <a:solidFill>
            <a:srgbClr val="007BFF"/>
          </a:solidFill>
          <a:ln/>
        </p:spPr>
        <p:txBody>
          <a:bodyPr/>
          <a:lstStyle/>
          <a:p>
            <a:endParaRPr lang="en-MU"/>
          </a:p>
        </p:txBody>
      </p:sp>
      <p:sp>
        <p:nvSpPr>
          <p:cNvPr id="59" name="Text 56"/>
          <p:cNvSpPr/>
          <p:nvPr/>
        </p:nvSpPr>
        <p:spPr>
          <a:xfrm>
            <a:off x="6535133" y="3488495"/>
            <a:ext cx="2082012" cy="222852"/>
          </a:xfrm>
          <a:prstGeom prst="rect">
            <a:avLst/>
          </a:prstGeom>
          <a:noFill/>
          <a:ln/>
        </p:spPr>
        <p:txBody>
          <a:bodyPr wrap="square" lIns="0" tIns="0" rIns="0" bIns="0" rtlCol="0" anchor="t">
            <a:spAutoFit/>
          </a:bodyPr>
          <a:lstStyle/>
          <a:p>
            <a:pPr marL="0" indent="0" algn="l">
              <a:lnSpc>
                <a:spcPts val="900"/>
              </a:lnSpc>
              <a:buNone/>
            </a:pPr>
            <a:r>
              <a:rPr lang="en-US" sz="584" b="1" dirty="0">
                <a:solidFill>
                  <a:srgbClr val="1A1A1A"/>
                </a:solidFill>
              </a:rPr>
              <a:t>Initialize:</a:t>
            </a:r>
            <a:r>
              <a:rPr lang="en-US" sz="621" dirty="0">
                <a:solidFill>
                  <a:srgbClr val="495057"/>
                </a:solidFill>
              </a:rPr>
              <a:t> Create an empty Linear Regression model with no learned weights.</a:t>
            </a:r>
            <a:endParaRPr lang="en-US" sz="584" dirty="0"/>
          </a:p>
        </p:txBody>
      </p:sp>
      <p:sp>
        <p:nvSpPr>
          <p:cNvPr id="60" name="Shape 57"/>
          <p:cNvSpPr/>
          <p:nvPr/>
        </p:nvSpPr>
        <p:spPr>
          <a:xfrm>
            <a:off x="6292245" y="3768496"/>
            <a:ext cx="171450" cy="171450"/>
          </a:xfrm>
          <a:prstGeom prst="ellipse">
            <a:avLst/>
          </a:prstGeom>
          <a:solidFill>
            <a:srgbClr val="007BFF"/>
          </a:solidFill>
          <a:ln/>
        </p:spPr>
        <p:txBody>
          <a:bodyPr/>
          <a:lstStyle/>
          <a:p>
            <a:endParaRPr lang="en-MU"/>
          </a:p>
        </p:txBody>
      </p:sp>
      <p:sp>
        <p:nvSpPr>
          <p:cNvPr id="62" name="Text 59"/>
          <p:cNvSpPr/>
          <p:nvPr/>
        </p:nvSpPr>
        <p:spPr>
          <a:xfrm>
            <a:off x="6535133" y="3768496"/>
            <a:ext cx="2082012" cy="222852"/>
          </a:xfrm>
          <a:prstGeom prst="rect">
            <a:avLst/>
          </a:prstGeom>
          <a:noFill/>
          <a:ln/>
        </p:spPr>
        <p:txBody>
          <a:bodyPr wrap="square" lIns="0" tIns="0" rIns="0" bIns="0" rtlCol="0" anchor="t">
            <a:spAutoFit/>
          </a:bodyPr>
          <a:lstStyle/>
          <a:p>
            <a:pPr marL="0" indent="0" algn="l">
              <a:lnSpc>
                <a:spcPts val="900"/>
              </a:lnSpc>
              <a:buNone/>
            </a:pPr>
            <a:r>
              <a:rPr lang="en-US" sz="584" b="1" dirty="0">
                <a:solidFill>
                  <a:srgbClr val="1A1A1A"/>
                </a:solidFill>
              </a:rPr>
              <a:t>Train:</a:t>
            </a:r>
            <a:r>
              <a:rPr lang="en-US" sz="621" dirty="0">
                <a:solidFill>
                  <a:srgbClr val="495057"/>
                </a:solidFill>
              </a:rPr>
              <a:t> Feed training data (X_train, y_train) to the model. It learns the best-fit line through the data.</a:t>
            </a:r>
            <a:endParaRPr lang="en-US" sz="584" dirty="0"/>
          </a:p>
        </p:txBody>
      </p:sp>
      <p:sp>
        <p:nvSpPr>
          <p:cNvPr id="63" name="Shape 60"/>
          <p:cNvSpPr/>
          <p:nvPr/>
        </p:nvSpPr>
        <p:spPr>
          <a:xfrm>
            <a:off x="6292245" y="4048498"/>
            <a:ext cx="171450" cy="171450"/>
          </a:xfrm>
          <a:prstGeom prst="ellipse">
            <a:avLst/>
          </a:prstGeom>
          <a:solidFill>
            <a:srgbClr val="007BFF"/>
          </a:solidFill>
          <a:ln/>
        </p:spPr>
        <p:txBody>
          <a:bodyPr/>
          <a:lstStyle/>
          <a:p>
            <a:endParaRPr lang="en-MU"/>
          </a:p>
        </p:txBody>
      </p:sp>
      <p:sp>
        <p:nvSpPr>
          <p:cNvPr id="64" name="Text 61"/>
          <p:cNvSpPr/>
          <p:nvPr/>
        </p:nvSpPr>
        <p:spPr>
          <a:xfrm>
            <a:off x="3629806" y="1917316"/>
            <a:ext cx="171450" cy="171450"/>
          </a:xfrm>
          <a:prstGeom prst="rect">
            <a:avLst/>
          </a:prstGeom>
          <a:noFill/>
          <a:ln/>
        </p:spPr>
        <p:txBody>
          <a:bodyPr wrap="square" lIns="0" tIns="0" rIns="0" bIns="0" rtlCol="0" anchor="ctr">
            <a:spAutoFit/>
          </a:bodyPr>
          <a:lstStyle/>
          <a:p>
            <a:pPr marL="0" indent="0" algn="ctr">
              <a:lnSpc>
                <a:spcPts val="800"/>
              </a:lnSpc>
              <a:buNone/>
            </a:pPr>
            <a:r>
              <a:rPr lang="en-US" sz="584" b="1" dirty="0">
                <a:solidFill>
                  <a:srgbClr val="FFFFFF"/>
                </a:solidFill>
              </a:rPr>
              <a:t>3</a:t>
            </a:r>
            <a:endParaRPr lang="en-US" sz="584" dirty="0"/>
          </a:p>
        </p:txBody>
      </p:sp>
      <p:sp>
        <p:nvSpPr>
          <p:cNvPr id="65" name="Text 62"/>
          <p:cNvSpPr/>
          <p:nvPr/>
        </p:nvSpPr>
        <p:spPr>
          <a:xfrm>
            <a:off x="6535133" y="4048498"/>
            <a:ext cx="2082012" cy="222852"/>
          </a:xfrm>
          <a:prstGeom prst="rect">
            <a:avLst/>
          </a:prstGeom>
          <a:noFill/>
          <a:ln/>
        </p:spPr>
        <p:txBody>
          <a:bodyPr wrap="square" lIns="0" tIns="0" rIns="0" bIns="0" rtlCol="0" anchor="t">
            <a:spAutoFit/>
          </a:bodyPr>
          <a:lstStyle/>
          <a:p>
            <a:pPr marL="0" indent="0" algn="l">
              <a:lnSpc>
                <a:spcPts val="900"/>
              </a:lnSpc>
              <a:buNone/>
            </a:pPr>
            <a:r>
              <a:rPr lang="en-US" sz="584" b="1" dirty="0">
                <a:solidFill>
                  <a:srgbClr val="1A1A1A"/>
                </a:solidFill>
              </a:rPr>
              <a:t>Predict:</a:t>
            </a:r>
            <a:r>
              <a:rPr lang="en-US" sz="621" dirty="0">
                <a:solidFill>
                  <a:srgbClr val="495057"/>
                </a:solidFill>
              </a:rPr>
              <a:t> Use the learned weights to predict prices for unseen test data (X_test).</a:t>
            </a:r>
            <a:endParaRPr lang="en-US" sz="584" dirty="0"/>
          </a:p>
        </p:txBody>
      </p:sp>
      <p:sp>
        <p:nvSpPr>
          <p:cNvPr id="66" name="Shape 63"/>
          <p:cNvSpPr/>
          <p:nvPr/>
        </p:nvSpPr>
        <p:spPr>
          <a:xfrm>
            <a:off x="6292245" y="4328499"/>
            <a:ext cx="171450" cy="171450"/>
          </a:xfrm>
          <a:prstGeom prst="ellipse">
            <a:avLst/>
          </a:prstGeom>
          <a:solidFill>
            <a:srgbClr val="007BFF"/>
          </a:solidFill>
          <a:ln/>
        </p:spPr>
        <p:txBody>
          <a:bodyPr/>
          <a:lstStyle/>
          <a:p>
            <a:endParaRPr lang="en-MU"/>
          </a:p>
        </p:txBody>
      </p:sp>
      <p:sp>
        <p:nvSpPr>
          <p:cNvPr id="67" name="Text 64"/>
          <p:cNvSpPr/>
          <p:nvPr/>
        </p:nvSpPr>
        <p:spPr>
          <a:xfrm>
            <a:off x="3629806" y="2197317"/>
            <a:ext cx="171450" cy="171450"/>
          </a:xfrm>
          <a:prstGeom prst="rect">
            <a:avLst/>
          </a:prstGeom>
          <a:noFill/>
          <a:ln/>
        </p:spPr>
        <p:txBody>
          <a:bodyPr wrap="square" lIns="0" tIns="0" rIns="0" bIns="0" rtlCol="0" anchor="ctr">
            <a:spAutoFit/>
          </a:bodyPr>
          <a:lstStyle/>
          <a:p>
            <a:pPr marL="0" indent="0" algn="ctr">
              <a:lnSpc>
                <a:spcPts val="800"/>
              </a:lnSpc>
              <a:buNone/>
            </a:pPr>
            <a:r>
              <a:rPr lang="en-US" sz="584" b="1" dirty="0">
                <a:solidFill>
                  <a:srgbClr val="FFFFFF"/>
                </a:solidFill>
              </a:rPr>
              <a:t>4</a:t>
            </a:r>
            <a:endParaRPr lang="en-US" sz="584" dirty="0"/>
          </a:p>
        </p:txBody>
      </p:sp>
      <p:sp>
        <p:nvSpPr>
          <p:cNvPr id="68" name="Text 65"/>
          <p:cNvSpPr/>
          <p:nvPr/>
        </p:nvSpPr>
        <p:spPr>
          <a:xfrm>
            <a:off x="6535133" y="4328499"/>
            <a:ext cx="2082012" cy="222852"/>
          </a:xfrm>
          <a:prstGeom prst="rect">
            <a:avLst/>
          </a:prstGeom>
          <a:noFill/>
          <a:ln/>
        </p:spPr>
        <p:txBody>
          <a:bodyPr wrap="square" lIns="0" tIns="0" rIns="0" bIns="0" rtlCol="0" anchor="t">
            <a:spAutoFit/>
          </a:bodyPr>
          <a:lstStyle/>
          <a:p>
            <a:pPr marL="0" indent="0" algn="l">
              <a:lnSpc>
                <a:spcPts val="900"/>
              </a:lnSpc>
              <a:buNone/>
            </a:pPr>
            <a:r>
              <a:rPr lang="en-US" sz="584" b="1" dirty="0">
                <a:solidFill>
                  <a:srgbClr val="1A1A1A"/>
                </a:solidFill>
              </a:rPr>
              <a:t>Evaluate:</a:t>
            </a:r>
            <a:r>
              <a:rPr lang="en-US" sz="621" dirty="0">
                <a:solidFill>
                  <a:srgbClr val="495057"/>
                </a:solidFill>
              </a:rPr>
              <a:t> Compare predictions (y_pred_lr) with actual prices (y_test) to measure accuracy.</a:t>
            </a:r>
            <a:endParaRPr lang="en-US" sz="584" dirty="0"/>
          </a:p>
        </p:txBody>
      </p:sp>
      <p:sp>
        <p:nvSpPr>
          <p:cNvPr id="69" name="Shape 66"/>
          <p:cNvSpPr/>
          <p:nvPr/>
        </p:nvSpPr>
        <p:spPr>
          <a:xfrm>
            <a:off x="6247600" y="1048415"/>
            <a:ext cx="2496350" cy="1285875"/>
          </a:xfrm>
          <a:prstGeom prst="rect">
            <a:avLst/>
          </a:prstGeom>
          <a:solidFill>
            <a:srgbClr val="F8F9FA"/>
          </a:solidFill>
          <a:ln w="9144">
            <a:solidFill>
              <a:srgbClr val="E0E0E0"/>
            </a:solidFill>
            <a:prstDash val="solid"/>
          </a:ln>
        </p:spPr>
        <p:txBody>
          <a:bodyPr/>
          <a:lstStyle/>
          <a:p>
            <a:endParaRPr lang="en-MU"/>
          </a:p>
        </p:txBody>
      </p:sp>
      <p:sp>
        <p:nvSpPr>
          <p:cNvPr id="70" name="Text 67"/>
          <p:cNvSpPr/>
          <p:nvPr/>
        </p:nvSpPr>
        <p:spPr>
          <a:xfrm>
            <a:off x="6333325" y="1134140"/>
            <a:ext cx="2324900"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Performance Metrics</a:t>
            </a:r>
            <a:endParaRPr lang="en-US" sz="683" dirty="0"/>
          </a:p>
        </p:txBody>
      </p:sp>
      <p:sp>
        <p:nvSpPr>
          <p:cNvPr id="71" name="Shape 68"/>
          <p:cNvSpPr/>
          <p:nvPr/>
        </p:nvSpPr>
        <p:spPr>
          <a:xfrm>
            <a:off x="6326181" y="1327021"/>
            <a:ext cx="2317756" cy="196453"/>
          </a:xfrm>
          <a:prstGeom prst="rect">
            <a:avLst/>
          </a:prstGeom>
          <a:solidFill>
            <a:srgbClr val="F8F9FA"/>
          </a:solidFill>
          <a:ln/>
        </p:spPr>
        <p:txBody>
          <a:bodyPr/>
          <a:lstStyle/>
          <a:p>
            <a:endParaRPr lang="en-MU"/>
          </a:p>
        </p:txBody>
      </p:sp>
      <p:sp>
        <p:nvSpPr>
          <p:cNvPr id="72" name="Shape 69"/>
          <p:cNvSpPr/>
          <p:nvPr/>
        </p:nvSpPr>
        <p:spPr>
          <a:xfrm>
            <a:off x="6326181" y="1327021"/>
            <a:ext cx="369856" cy="196453"/>
          </a:xfrm>
          <a:prstGeom prst="rect">
            <a:avLst/>
          </a:prstGeom>
          <a:solidFill>
            <a:srgbClr val="007BFF"/>
          </a:solidFill>
          <a:ln/>
        </p:spPr>
        <p:txBody>
          <a:bodyPr/>
          <a:lstStyle/>
          <a:p>
            <a:endParaRPr lang="en-MU"/>
          </a:p>
        </p:txBody>
      </p:sp>
      <p:sp>
        <p:nvSpPr>
          <p:cNvPr id="73" name="Text 70"/>
          <p:cNvSpPr/>
          <p:nvPr/>
        </p:nvSpPr>
        <p:spPr>
          <a:xfrm>
            <a:off x="6336897" y="1327021"/>
            <a:ext cx="369856" cy="196453"/>
          </a:xfrm>
          <a:prstGeom prst="rect">
            <a:avLst/>
          </a:prstGeom>
          <a:noFill/>
          <a:ln/>
        </p:spPr>
        <p:txBody>
          <a:bodyPr wrap="square" lIns="34036" tIns="51054" rIns="34036" bIns="51054" rtlCol="0" anchor="ctr">
            <a:spAutoFit/>
          </a:bodyPr>
          <a:lstStyle/>
          <a:p>
            <a:pPr marL="0" indent="0" algn="l">
              <a:lnSpc>
                <a:spcPts val="700"/>
              </a:lnSpc>
              <a:buNone/>
            </a:pPr>
            <a:r>
              <a:rPr lang="en-US" sz="534" b="1" dirty="0">
                <a:solidFill>
                  <a:srgbClr val="FFFFFF"/>
                </a:solidFill>
              </a:rPr>
              <a:t>Metric</a:t>
            </a:r>
            <a:endParaRPr lang="en-US" sz="534" dirty="0"/>
          </a:p>
        </p:txBody>
      </p:sp>
      <p:sp>
        <p:nvSpPr>
          <p:cNvPr id="74" name="Shape 71"/>
          <p:cNvSpPr/>
          <p:nvPr/>
        </p:nvSpPr>
        <p:spPr>
          <a:xfrm>
            <a:off x="6706754" y="1327021"/>
            <a:ext cx="576523" cy="196453"/>
          </a:xfrm>
          <a:prstGeom prst="rect">
            <a:avLst/>
          </a:prstGeom>
          <a:solidFill>
            <a:srgbClr val="007BFF"/>
          </a:solidFill>
          <a:ln/>
        </p:spPr>
        <p:txBody>
          <a:bodyPr/>
          <a:lstStyle/>
          <a:p>
            <a:endParaRPr lang="en-MU"/>
          </a:p>
        </p:txBody>
      </p:sp>
      <p:sp>
        <p:nvSpPr>
          <p:cNvPr id="75" name="Text 72"/>
          <p:cNvSpPr/>
          <p:nvPr/>
        </p:nvSpPr>
        <p:spPr>
          <a:xfrm>
            <a:off x="4003235" y="2927375"/>
            <a:ext cx="576523" cy="196453"/>
          </a:xfrm>
          <a:prstGeom prst="rect">
            <a:avLst/>
          </a:prstGeom>
          <a:noFill/>
          <a:ln/>
        </p:spPr>
        <p:txBody>
          <a:bodyPr wrap="square" lIns="34036" tIns="51054" rIns="34036" bIns="51054" rtlCol="0" anchor="ctr">
            <a:spAutoFit/>
          </a:bodyPr>
          <a:lstStyle/>
          <a:p>
            <a:pPr marL="0" indent="0" algn="l">
              <a:lnSpc>
                <a:spcPts val="700"/>
              </a:lnSpc>
              <a:buNone/>
            </a:pPr>
            <a:r>
              <a:rPr lang="en-US" sz="534" b="1" dirty="0">
                <a:solidFill>
                  <a:srgbClr val="FFFFFF"/>
                </a:solidFill>
              </a:rPr>
              <a:t>Value</a:t>
            </a:r>
            <a:endParaRPr lang="en-US" sz="534" dirty="0"/>
          </a:p>
        </p:txBody>
      </p:sp>
      <p:sp>
        <p:nvSpPr>
          <p:cNvPr id="76" name="Shape 73"/>
          <p:cNvSpPr/>
          <p:nvPr/>
        </p:nvSpPr>
        <p:spPr>
          <a:xfrm>
            <a:off x="7283277" y="1327021"/>
            <a:ext cx="1371377" cy="196453"/>
          </a:xfrm>
          <a:prstGeom prst="rect">
            <a:avLst/>
          </a:prstGeom>
          <a:solidFill>
            <a:srgbClr val="007BFF"/>
          </a:solidFill>
          <a:ln/>
        </p:spPr>
        <p:txBody>
          <a:bodyPr/>
          <a:lstStyle/>
          <a:p>
            <a:endParaRPr lang="en-MU"/>
          </a:p>
        </p:txBody>
      </p:sp>
      <p:sp>
        <p:nvSpPr>
          <p:cNvPr id="77" name="Text 74"/>
          <p:cNvSpPr/>
          <p:nvPr/>
        </p:nvSpPr>
        <p:spPr>
          <a:xfrm>
            <a:off x="7283277" y="1327021"/>
            <a:ext cx="1371377" cy="196453"/>
          </a:xfrm>
          <a:prstGeom prst="rect">
            <a:avLst/>
          </a:prstGeom>
          <a:noFill/>
          <a:ln/>
        </p:spPr>
        <p:txBody>
          <a:bodyPr wrap="square" lIns="34036" tIns="51054" rIns="34036" bIns="51054" rtlCol="0" anchor="ctr">
            <a:spAutoFit/>
          </a:bodyPr>
          <a:lstStyle/>
          <a:p>
            <a:pPr marL="0" indent="0" algn="l">
              <a:lnSpc>
                <a:spcPts val="700"/>
              </a:lnSpc>
              <a:buNone/>
            </a:pPr>
            <a:r>
              <a:rPr lang="en-US" sz="534" b="1" dirty="0">
                <a:solidFill>
                  <a:srgbClr val="FFFFFF"/>
                </a:solidFill>
              </a:rPr>
              <a:t>Interpretation</a:t>
            </a:r>
            <a:endParaRPr lang="en-US" sz="534" dirty="0"/>
          </a:p>
        </p:txBody>
      </p:sp>
      <p:sp>
        <p:nvSpPr>
          <p:cNvPr id="78" name="Shape 75"/>
          <p:cNvSpPr/>
          <p:nvPr/>
        </p:nvSpPr>
        <p:spPr>
          <a:xfrm>
            <a:off x="6326181" y="1523474"/>
            <a:ext cx="2317756" cy="307181"/>
          </a:xfrm>
          <a:prstGeom prst="rect">
            <a:avLst/>
          </a:prstGeom>
          <a:solidFill>
            <a:srgbClr val="F8F9FA"/>
          </a:solidFill>
          <a:ln/>
        </p:spPr>
        <p:txBody>
          <a:bodyPr/>
          <a:lstStyle/>
          <a:p>
            <a:endParaRPr lang="en-MU"/>
          </a:p>
        </p:txBody>
      </p:sp>
      <p:sp>
        <p:nvSpPr>
          <p:cNvPr id="79" name="Text 76"/>
          <p:cNvSpPr/>
          <p:nvPr/>
        </p:nvSpPr>
        <p:spPr>
          <a:xfrm>
            <a:off x="6369044" y="1569908"/>
            <a:ext cx="212889" cy="214313"/>
          </a:xfrm>
          <a:prstGeom prst="rect">
            <a:avLst/>
          </a:prstGeom>
          <a:noFill/>
          <a:ln/>
        </p:spPr>
        <p:txBody>
          <a:bodyPr wrap="square" lIns="0" tIns="0" rIns="0" bIns="0" rtlCol="0" anchor="t">
            <a:spAutoFit/>
          </a:bodyPr>
          <a:lstStyle/>
          <a:p>
            <a:pPr marL="0" indent="0" algn="l">
              <a:lnSpc>
                <a:spcPts val="700"/>
              </a:lnSpc>
              <a:buNone/>
            </a:pPr>
            <a:r>
              <a:rPr lang="en-US" sz="534" b="1" dirty="0">
                <a:solidFill>
                  <a:srgbClr val="1A1A1A"/>
                </a:solidFill>
              </a:rPr>
              <a:t>R² Score</a:t>
            </a:r>
            <a:endParaRPr lang="en-US" sz="534" dirty="0"/>
          </a:p>
        </p:txBody>
      </p:sp>
      <p:sp>
        <p:nvSpPr>
          <p:cNvPr id="80" name="Text 77"/>
          <p:cNvSpPr/>
          <p:nvPr/>
        </p:nvSpPr>
        <p:spPr>
          <a:xfrm>
            <a:off x="6706754" y="1523474"/>
            <a:ext cx="576523" cy="307181"/>
          </a:xfrm>
          <a:prstGeom prst="rect">
            <a:avLst/>
          </a:prstGeom>
          <a:noFill/>
          <a:ln/>
        </p:spPr>
        <p:txBody>
          <a:bodyPr wrap="square" lIns="34036" tIns="51054" rIns="34036" bIns="51054" rtlCol="0" anchor="ctr">
            <a:spAutoFit/>
          </a:bodyPr>
          <a:lstStyle/>
          <a:p>
            <a:pPr marL="0" indent="0" algn="l">
              <a:lnSpc>
                <a:spcPts val="700"/>
              </a:lnSpc>
              <a:buNone/>
            </a:pPr>
            <a:r>
              <a:rPr lang="en-US" sz="534" b="1" dirty="0">
                <a:solidFill>
                  <a:srgbClr val="007BFF"/>
                </a:solidFill>
              </a:rPr>
              <a:t>0.512</a:t>
            </a:r>
            <a:endParaRPr lang="en-US" sz="534" dirty="0"/>
          </a:p>
        </p:txBody>
      </p:sp>
      <p:sp>
        <p:nvSpPr>
          <p:cNvPr id="81" name="Text 78"/>
          <p:cNvSpPr/>
          <p:nvPr/>
        </p:nvSpPr>
        <p:spPr>
          <a:xfrm>
            <a:off x="7283277" y="1523474"/>
            <a:ext cx="1371377" cy="307181"/>
          </a:xfrm>
          <a:prstGeom prst="rect">
            <a:avLst/>
          </a:prstGeom>
          <a:noFill/>
          <a:ln/>
        </p:spPr>
        <p:txBody>
          <a:bodyPr wrap="square" lIns="34036" tIns="51054" rIns="34036" bIns="51054" rtlCol="0" anchor="ctr">
            <a:spAutoFit/>
          </a:bodyPr>
          <a:lstStyle/>
          <a:p>
            <a:pPr marL="0" indent="0" algn="l">
              <a:lnSpc>
                <a:spcPts val="700"/>
              </a:lnSpc>
              <a:buNone/>
            </a:pPr>
            <a:r>
              <a:rPr lang="en-US" sz="568" dirty="0">
                <a:solidFill>
                  <a:srgbClr val="1A1A1A"/>
                </a:solidFill>
              </a:rPr>
              <a:t>Model explains 51.2% of price variance</a:t>
            </a:r>
            <a:endParaRPr lang="en-US" sz="568" dirty="0"/>
          </a:p>
        </p:txBody>
      </p:sp>
      <p:sp>
        <p:nvSpPr>
          <p:cNvPr id="82" name="Shape 79"/>
          <p:cNvSpPr/>
          <p:nvPr/>
        </p:nvSpPr>
        <p:spPr>
          <a:xfrm>
            <a:off x="3633378" y="3431009"/>
            <a:ext cx="2317756" cy="200025"/>
          </a:xfrm>
          <a:prstGeom prst="rect">
            <a:avLst/>
          </a:prstGeom>
          <a:solidFill>
            <a:srgbClr val="FFFFFF"/>
          </a:solidFill>
          <a:ln/>
        </p:spPr>
        <p:txBody>
          <a:bodyPr/>
          <a:lstStyle/>
          <a:p>
            <a:endParaRPr lang="en-MU"/>
          </a:p>
        </p:txBody>
      </p:sp>
      <p:sp>
        <p:nvSpPr>
          <p:cNvPr id="83" name="Text 80"/>
          <p:cNvSpPr/>
          <p:nvPr/>
        </p:nvSpPr>
        <p:spPr>
          <a:xfrm>
            <a:off x="6369044" y="1877090"/>
            <a:ext cx="172343"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MAE</a:t>
            </a:r>
            <a:endParaRPr lang="en-US" sz="534" dirty="0"/>
          </a:p>
        </p:txBody>
      </p:sp>
      <p:sp>
        <p:nvSpPr>
          <p:cNvPr id="84" name="Text 81"/>
          <p:cNvSpPr/>
          <p:nvPr/>
        </p:nvSpPr>
        <p:spPr>
          <a:xfrm>
            <a:off x="6706754" y="1830655"/>
            <a:ext cx="576523" cy="200025"/>
          </a:xfrm>
          <a:prstGeom prst="rect">
            <a:avLst/>
          </a:prstGeom>
          <a:noFill/>
          <a:ln/>
        </p:spPr>
        <p:txBody>
          <a:bodyPr wrap="square" lIns="34036" tIns="51054" rIns="34036" bIns="51054" rtlCol="0" anchor="ctr">
            <a:spAutoFit/>
          </a:bodyPr>
          <a:lstStyle/>
          <a:p>
            <a:pPr marL="0" indent="0" algn="l">
              <a:lnSpc>
                <a:spcPts val="700"/>
              </a:lnSpc>
              <a:buNone/>
            </a:pPr>
            <a:r>
              <a:rPr lang="en-US" sz="534" b="1" dirty="0">
                <a:solidFill>
                  <a:srgbClr val="007BFF"/>
                </a:solidFill>
              </a:rPr>
              <a:t>₨1,245,678</a:t>
            </a:r>
            <a:endParaRPr lang="en-US" sz="534" dirty="0"/>
          </a:p>
        </p:txBody>
      </p:sp>
      <p:sp>
        <p:nvSpPr>
          <p:cNvPr id="85" name="Text 82"/>
          <p:cNvSpPr/>
          <p:nvPr/>
        </p:nvSpPr>
        <p:spPr>
          <a:xfrm>
            <a:off x="7283277" y="1830655"/>
            <a:ext cx="1371377" cy="200025"/>
          </a:xfrm>
          <a:prstGeom prst="rect">
            <a:avLst/>
          </a:prstGeom>
          <a:noFill/>
          <a:ln/>
        </p:spPr>
        <p:txBody>
          <a:bodyPr wrap="square" lIns="34036" tIns="51054" rIns="34036" bIns="51054" rtlCol="0" anchor="ctr">
            <a:spAutoFit/>
          </a:bodyPr>
          <a:lstStyle/>
          <a:p>
            <a:pPr marL="0" indent="0" algn="l">
              <a:lnSpc>
                <a:spcPts val="700"/>
              </a:lnSpc>
              <a:buNone/>
            </a:pPr>
            <a:r>
              <a:rPr lang="en-US" sz="568" dirty="0">
                <a:solidFill>
                  <a:srgbClr val="1A1A1A"/>
                </a:solidFill>
              </a:rPr>
              <a:t>Average prediction error</a:t>
            </a:r>
            <a:endParaRPr lang="en-US" sz="568" dirty="0"/>
          </a:p>
        </p:txBody>
      </p:sp>
      <p:sp>
        <p:nvSpPr>
          <p:cNvPr id="86" name="Shape 83"/>
          <p:cNvSpPr/>
          <p:nvPr/>
        </p:nvSpPr>
        <p:spPr>
          <a:xfrm>
            <a:off x="6336897" y="2030680"/>
            <a:ext cx="2317756" cy="200025"/>
          </a:xfrm>
          <a:prstGeom prst="rect">
            <a:avLst/>
          </a:prstGeom>
          <a:solidFill>
            <a:srgbClr val="F8F9FA"/>
          </a:solidFill>
          <a:ln/>
        </p:spPr>
        <p:txBody>
          <a:bodyPr/>
          <a:lstStyle/>
          <a:p>
            <a:endParaRPr lang="en-MU"/>
          </a:p>
        </p:txBody>
      </p:sp>
      <p:sp>
        <p:nvSpPr>
          <p:cNvPr id="87" name="Text 84"/>
          <p:cNvSpPr/>
          <p:nvPr/>
        </p:nvSpPr>
        <p:spPr>
          <a:xfrm>
            <a:off x="6358328" y="2077115"/>
            <a:ext cx="213280" cy="107156"/>
          </a:xfrm>
          <a:prstGeom prst="rect">
            <a:avLst/>
          </a:prstGeom>
          <a:noFill/>
          <a:ln/>
        </p:spPr>
        <p:txBody>
          <a:bodyPr wrap="none" lIns="0" tIns="0" rIns="0" bIns="0" rtlCol="0" anchor="t">
            <a:spAutoFit/>
          </a:bodyPr>
          <a:lstStyle/>
          <a:p>
            <a:pPr marL="0" indent="0" algn="l">
              <a:lnSpc>
                <a:spcPts val="700"/>
              </a:lnSpc>
              <a:buNone/>
            </a:pPr>
            <a:r>
              <a:rPr lang="en-US" sz="534" b="1" dirty="0">
                <a:solidFill>
                  <a:srgbClr val="1A1A1A"/>
                </a:solidFill>
              </a:rPr>
              <a:t>RMSE</a:t>
            </a:r>
            <a:endParaRPr lang="en-US" sz="534" dirty="0"/>
          </a:p>
        </p:txBody>
      </p:sp>
      <p:sp>
        <p:nvSpPr>
          <p:cNvPr id="88" name="Text 85"/>
          <p:cNvSpPr/>
          <p:nvPr/>
        </p:nvSpPr>
        <p:spPr>
          <a:xfrm>
            <a:off x="6706754" y="2030680"/>
            <a:ext cx="576523" cy="200025"/>
          </a:xfrm>
          <a:prstGeom prst="rect">
            <a:avLst/>
          </a:prstGeom>
          <a:noFill/>
          <a:ln/>
        </p:spPr>
        <p:txBody>
          <a:bodyPr wrap="square" lIns="34036" tIns="51054" rIns="34036" bIns="51054" rtlCol="0" anchor="ctr">
            <a:spAutoFit/>
          </a:bodyPr>
          <a:lstStyle/>
          <a:p>
            <a:pPr marL="0" indent="0" algn="l">
              <a:lnSpc>
                <a:spcPts val="700"/>
              </a:lnSpc>
              <a:buNone/>
            </a:pPr>
            <a:r>
              <a:rPr lang="en-US" sz="534" b="1" dirty="0">
                <a:solidFill>
                  <a:srgbClr val="007BFF"/>
                </a:solidFill>
              </a:rPr>
              <a:t>₨1,567,234</a:t>
            </a:r>
            <a:endParaRPr lang="en-US" sz="534" dirty="0"/>
          </a:p>
        </p:txBody>
      </p:sp>
      <p:sp>
        <p:nvSpPr>
          <p:cNvPr id="89" name="Text 86"/>
          <p:cNvSpPr/>
          <p:nvPr/>
        </p:nvSpPr>
        <p:spPr>
          <a:xfrm>
            <a:off x="7283277" y="2030680"/>
            <a:ext cx="1371377" cy="200025"/>
          </a:xfrm>
          <a:prstGeom prst="rect">
            <a:avLst/>
          </a:prstGeom>
          <a:noFill/>
          <a:ln/>
        </p:spPr>
        <p:txBody>
          <a:bodyPr wrap="square" lIns="34036" tIns="51054" rIns="34036" bIns="51054" rtlCol="0" anchor="ctr">
            <a:spAutoFit/>
          </a:bodyPr>
          <a:lstStyle/>
          <a:p>
            <a:pPr marL="0" indent="0" algn="l">
              <a:lnSpc>
                <a:spcPts val="700"/>
              </a:lnSpc>
              <a:buNone/>
            </a:pPr>
            <a:r>
              <a:rPr lang="en-US" sz="568" dirty="0">
                <a:solidFill>
                  <a:srgbClr val="1A1A1A"/>
                </a:solidFill>
              </a:rPr>
              <a:t>Root Mean Squared Error</a:t>
            </a:r>
            <a:endParaRPr lang="en-US" sz="568" dirty="0"/>
          </a:p>
        </p:txBody>
      </p:sp>
      <p:sp>
        <p:nvSpPr>
          <p:cNvPr id="103" name="Shape 99"/>
          <p:cNvSpPr/>
          <p:nvPr/>
        </p:nvSpPr>
        <p:spPr>
          <a:xfrm>
            <a:off x="6219025" y="2390910"/>
            <a:ext cx="2496350" cy="700004"/>
          </a:xfrm>
          <a:prstGeom prst="rect">
            <a:avLst/>
          </a:prstGeom>
          <a:solidFill>
            <a:srgbClr val="FFF3CD"/>
          </a:solidFill>
          <a:ln/>
        </p:spPr>
        <p:txBody>
          <a:bodyPr/>
          <a:lstStyle/>
          <a:p>
            <a:endParaRPr lang="en-MU"/>
          </a:p>
        </p:txBody>
      </p:sp>
      <p:sp>
        <p:nvSpPr>
          <p:cNvPr id="104" name="Shape 100"/>
          <p:cNvSpPr/>
          <p:nvPr/>
        </p:nvSpPr>
        <p:spPr>
          <a:xfrm>
            <a:off x="6219025" y="2390910"/>
            <a:ext cx="28575" cy="700004"/>
          </a:xfrm>
          <a:prstGeom prst="rect">
            <a:avLst/>
          </a:prstGeom>
          <a:solidFill>
            <a:srgbClr val="FFA500"/>
          </a:solidFill>
          <a:ln/>
        </p:spPr>
        <p:txBody>
          <a:bodyPr/>
          <a:lstStyle/>
          <a:p>
            <a:endParaRPr lang="en-MU"/>
          </a:p>
        </p:txBody>
      </p:sp>
      <p:sp>
        <p:nvSpPr>
          <p:cNvPr id="105" name="Text 101"/>
          <p:cNvSpPr/>
          <p:nvPr/>
        </p:nvSpPr>
        <p:spPr>
          <a:xfrm>
            <a:off x="6219025" y="2390910"/>
            <a:ext cx="2496350" cy="510268"/>
          </a:xfrm>
          <a:prstGeom prst="rect">
            <a:avLst/>
          </a:prstGeom>
          <a:noFill/>
          <a:ln/>
        </p:spPr>
        <p:txBody>
          <a:bodyPr wrap="square" lIns="85090" tIns="85090" rIns="85090" bIns="85090" rtlCol="0" anchor="t">
            <a:spAutoFit/>
          </a:bodyPr>
          <a:lstStyle/>
          <a:p>
            <a:pPr marL="0" indent="0" algn="l">
              <a:lnSpc>
                <a:spcPts val="900"/>
              </a:lnSpc>
              <a:buNone/>
            </a:pPr>
            <a:r>
              <a:rPr lang="en-US" sz="584" b="1" dirty="0">
                <a:solidFill>
                  <a:srgbClr val="FFA500"/>
                </a:solidFill>
              </a:rPr>
              <a:t>Key Insight:</a:t>
            </a:r>
            <a:r>
              <a:rPr lang="en-US" sz="621" dirty="0">
                <a:solidFill>
                  <a:srgbClr val="1A1A1A"/>
                </a:solidFill>
              </a:rPr>
              <a:t> Linear Regression is fast and interpretable but assumes a linear relationship. With R² = 0.512, it explains about half the price variance.</a:t>
            </a:r>
            <a:endParaRPr lang="en-US" sz="5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82" name="Shape 20">
            <a:extLst>
              <a:ext uri="{FF2B5EF4-FFF2-40B4-BE49-F238E27FC236}">
                <a16:creationId xmlns:a16="http://schemas.microsoft.com/office/drawing/2014/main" id="{04F49E65-C80C-6A06-7847-AF1634164A3A}"/>
              </a:ext>
            </a:extLst>
          </p:cNvPr>
          <p:cNvSpPr/>
          <p:nvPr/>
        </p:nvSpPr>
        <p:spPr>
          <a:xfrm>
            <a:off x="477031" y="1838405"/>
            <a:ext cx="4439841" cy="792413"/>
          </a:xfrm>
          <a:prstGeom prst="rect">
            <a:avLst/>
          </a:prstGeom>
          <a:solidFill>
            <a:srgbClr val="F8F9FA"/>
          </a:solidFill>
          <a:ln/>
        </p:spPr>
        <p:txBody>
          <a:bodyPr/>
          <a:lstStyle/>
          <a:p>
            <a:endParaRPr lang="en-MU"/>
          </a:p>
        </p:txBody>
      </p:sp>
      <p:sp>
        <p:nvSpPr>
          <p:cNvPr id="3" name="Shape 0"/>
          <p:cNvSpPr/>
          <p:nvPr/>
        </p:nvSpPr>
        <p:spPr>
          <a:xfrm>
            <a:off x="0" y="0"/>
            <a:ext cx="9144000" cy="928688"/>
          </a:xfrm>
          <a:prstGeom prst="rect">
            <a:avLst/>
          </a:prstGeom>
          <a:solidFill>
            <a:srgbClr val="000000">
              <a:alpha val="0"/>
            </a:srgbClr>
          </a:solidFill>
          <a:ln/>
        </p:spPr>
        <p:txBody>
          <a:bodyPr/>
          <a:lstStyle/>
          <a:p>
            <a:endParaRPr lang="en-MU"/>
          </a:p>
        </p:txBody>
      </p:sp>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Model 2: Decision Tree Regressor</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Detailed code explanation and performance metrics for Decision Tree model</a:t>
            </a:r>
            <a:endParaRPr lang="en-US" sz="987" dirty="0"/>
          </a:p>
        </p:txBody>
      </p:sp>
      <p:sp>
        <p:nvSpPr>
          <p:cNvPr id="7" name="Shape 4"/>
          <p:cNvSpPr/>
          <p:nvPr/>
        </p:nvSpPr>
        <p:spPr>
          <a:xfrm>
            <a:off x="428625" y="1057275"/>
            <a:ext cx="4439841" cy="714319"/>
          </a:xfrm>
          <a:prstGeom prst="rect">
            <a:avLst/>
          </a:prstGeom>
          <a:solidFill>
            <a:srgbClr val="F8F9FA"/>
          </a:solidFill>
          <a:ln/>
        </p:spPr>
        <p:txBody>
          <a:bodyPr/>
          <a:lstStyle/>
          <a:p>
            <a:endParaRPr lang="en-MU"/>
          </a:p>
        </p:txBody>
      </p:sp>
      <p:sp>
        <p:nvSpPr>
          <p:cNvPr id="8" name="Shape 5"/>
          <p:cNvSpPr/>
          <p:nvPr/>
        </p:nvSpPr>
        <p:spPr>
          <a:xfrm>
            <a:off x="428625" y="1057275"/>
            <a:ext cx="28575" cy="714319"/>
          </a:xfrm>
          <a:prstGeom prst="rect">
            <a:avLst/>
          </a:prstGeom>
          <a:solidFill>
            <a:srgbClr val="007BFF"/>
          </a:solidFill>
          <a:ln/>
        </p:spPr>
        <p:txBody>
          <a:bodyPr/>
          <a:lstStyle/>
          <a:p>
            <a:endParaRPr lang="en-MU"/>
          </a:p>
        </p:txBody>
      </p:sp>
      <p:sp>
        <p:nvSpPr>
          <p:cNvPr id="9" name="Shape 6"/>
          <p:cNvSpPr/>
          <p:nvPr/>
        </p:nvSpPr>
        <p:spPr>
          <a:xfrm>
            <a:off x="500063" y="1128713"/>
            <a:ext cx="4296966" cy="291443"/>
          </a:xfrm>
          <a:prstGeom prst="rect">
            <a:avLst/>
          </a:prstGeom>
          <a:solidFill>
            <a:srgbClr val="1A1A1A"/>
          </a:solidFill>
          <a:ln/>
        </p:spPr>
        <p:txBody>
          <a:bodyPr/>
          <a:lstStyle/>
          <a:p>
            <a:endParaRPr lang="en-MU"/>
          </a:p>
        </p:txBody>
      </p:sp>
      <p:sp>
        <p:nvSpPr>
          <p:cNvPr id="10" name="Text 7"/>
          <p:cNvSpPr/>
          <p:nvPr/>
        </p:nvSpPr>
        <p:spPr>
          <a:xfrm>
            <a:off x="500063" y="1128713"/>
            <a:ext cx="4296966" cy="29144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#1 – Import Decision Tree Model</a:t>
            </a:r>
            <a:endParaRPr lang="en-US" sz="621" dirty="0"/>
          </a:p>
          <a:p>
            <a:pPr marL="0" indent="0" algn="l">
              <a:lnSpc>
                <a:spcPts val="800"/>
              </a:lnSpc>
              <a:buNone/>
            </a:pPr>
            <a:r>
              <a:rPr lang="en-US" sz="621" dirty="0">
                <a:solidFill>
                  <a:srgbClr val="28A745"/>
                </a:solidFill>
              </a:rPr>
              <a:t>from sklearn.tree import DecisionTreeRegressor</a:t>
            </a:r>
            <a:endParaRPr lang="en-US" sz="621" dirty="0"/>
          </a:p>
        </p:txBody>
      </p:sp>
      <p:sp>
        <p:nvSpPr>
          <p:cNvPr id="11" name="Text 8"/>
          <p:cNvSpPr/>
          <p:nvPr/>
        </p:nvSpPr>
        <p:spPr>
          <a:xfrm>
            <a:off x="600075" y="1459446"/>
            <a:ext cx="997334"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DecisionTreeRegressor:</a:t>
            </a:r>
            <a:endParaRPr lang="en-US" sz="584" dirty="0"/>
          </a:p>
        </p:txBody>
      </p:sp>
      <p:sp>
        <p:nvSpPr>
          <p:cNvPr id="12" name="Text 9"/>
          <p:cNvSpPr/>
          <p:nvPr/>
        </p:nvSpPr>
        <p:spPr>
          <a:xfrm>
            <a:off x="600075" y="1601266"/>
            <a:ext cx="3955210" cy="227512"/>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A scikit-learn model that builds a tree-like structure to predict continuous values (prices).</a:t>
            </a:r>
            <a:endParaRPr lang="en-US" sz="621" dirty="0"/>
          </a:p>
        </p:txBody>
      </p:sp>
      <p:sp>
        <p:nvSpPr>
          <p:cNvPr id="14" name="Shape 11"/>
          <p:cNvSpPr/>
          <p:nvPr/>
        </p:nvSpPr>
        <p:spPr>
          <a:xfrm>
            <a:off x="428625" y="1843032"/>
            <a:ext cx="28575" cy="1162896"/>
          </a:xfrm>
          <a:prstGeom prst="rect">
            <a:avLst/>
          </a:prstGeom>
          <a:solidFill>
            <a:srgbClr val="007BFF"/>
          </a:solidFill>
          <a:ln/>
        </p:spPr>
        <p:txBody>
          <a:bodyPr/>
          <a:lstStyle/>
          <a:p>
            <a:endParaRPr lang="en-MU"/>
          </a:p>
        </p:txBody>
      </p:sp>
      <p:sp>
        <p:nvSpPr>
          <p:cNvPr id="15" name="Shape 12"/>
          <p:cNvSpPr/>
          <p:nvPr/>
        </p:nvSpPr>
        <p:spPr>
          <a:xfrm>
            <a:off x="500063" y="1914469"/>
            <a:ext cx="4296966" cy="342963"/>
          </a:xfrm>
          <a:prstGeom prst="rect">
            <a:avLst/>
          </a:prstGeom>
          <a:solidFill>
            <a:srgbClr val="1A1A1A"/>
          </a:solidFill>
          <a:ln/>
        </p:spPr>
        <p:txBody>
          <a:bodyPr/>
          <a:lstStyle/>
          <a:p>
            <a:endParaRPr lang="en-MU"/>
          </a:p>
        </p:txBody>
      </p:sp>
      <p:sp>
        <p:nvSpPr>
          <p:cNvPr id="16" name="Text 13"/>
          <p:cNvSpPr/>
          <p:nvPr/>
        </p:nvSpPr>
        <p:spPr>
          <a:xfrm>
            <a:off x="500063" y="1914469"/>
            <a:ext cx="4296966"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#2 – Create Model with Parameters</a:t>
            </a:r>
            <a:endParaRPr lang="en-US" sz="621" dirty="0"/>
          </a:p>
          <a:p>
            <a:pPr marL="0" indent="0" algn="l">
              <a:lnSpc>
                <a:spcPts val="800"/>
              </a:lnSpc>
              <a:buNone/>
            </a:pPr>
            <a:r>
              <a:rPr lang="en-US" sz="621" dirty="0">
                <a:solidFill>
                  <a:srgbClr val="28A745"/>
                </a:solidFill>
              </a:rPr>
              <a:t>dt = </a:t>
            </a:r>
            <a:r>
              <a:rPr lang="en-US" sz="621" dirty="0" err="1">
                <a:solidFill>
                  <a:srgbClr val="28A745"/>
                </a:solidFill>
              </a:rPr>
              <a:t>DecisionTreeRegressor</a:t>
            </a:r>
            <a:r>
              <a:rPr lang="en-US" sz="621" dirty="0">
                <a:solidFill>
                  <a:srgbClr val="28A745"/>
                </a:solidFill>
              </a:rPr>
              <a:t>(</a:t>
            </a:r>
            <a:r>
              <a:rPr lang="en-US" sz="621" dirty="0" err="1">
                <a:solidFill>
                  <a:srgbClr val="28A745"/>
                </a:solidFill>
              </a:rPr>
              <a:t>random_state</a:t>
            </a:r>
            <a:r>
              <a:rPr lang="en-US" sz="621" dirty="0">
                <a:solidFill>
                  <a:srgbClr val="28A745"/>
                </a:solidFill>
              </a:rPr>
              <a:t>=42)</a:t>
            </a:r>
            <a:endParaRPr lang="en-US" sz="621" dirty="0"/>
          </a:p>
        </p:txBody>
      </p:sp>
      <p:sp>
        <p:nvSpPr>
          <p:cNvPr id="20" name="Text 17"/>
          <p:cNvSpPr/>
          <p:nvPr/>
        </p:nvSpPr>
        <p:spPr>
          <a:xfrm>
            <a:off x="1498318" y="2502796"/>
            <a:ext cx="65" cy="107594"/>
          </a:xfrm>
          <a:prstGeom prst="rect">
            <a:avLst/>
          </a:prstGeom>
          <a:noFill/>
          <a:ln/>
        </p:spPr>
        <p:txBody>
          <a:bodyPr wrap="none" lIns="0" tIns="0" rIns="0" bIns="0" rtlCol="0" anchor="t">
            <a:spAutoFit/>
          </a:bodyPr>
          <a:lstStyle/>
          <a:p>
            <a:pPr marL="0" indent="0" algn="l">
              <a:lnSpc>
                <a:spcPts val="900"/>
              </a:lnSpc>
              <a:buNone/>
            </a:pPr>
            <a:endParaRPr lang="en-US" sz="621" dirty="0"/>
          </a:p>
        </p:txBody>
      </p:sp>
      <p:sp>
        <p:nvSpPr>
          <p:cNvPr id="21" name="Text 18"/>
          <p:cNvSpPr/>
          <p:nvPr/>
        </p:nvSpPr>
        <p:spPr>
          <a:xfrm>
            <a:off x="600075" y="2389364"/>
            <a:ext cx="763042"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random_state=42:</a:t>
            </a:r>
            <a:endParaRPr lang="en-US" sz="584" dirty="0"/>
          </a:p>
        </p:txBody>
      </p:sp>
      <p:sp>
        <p:nvSpPr>
          <p:cNvPr id="22" name="Text 19"/>
          <p:cNvSpPr/>
          <p:nvPr/>
        </p:nvSpPr>
        <p:spPr>
          <a:xfrm>
            <a:off x="1363117" y="2389364"/>
            <a:ext cx="1674233"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Ensures reproducible results across runs.</a:t>
            </a:r>
            <a:endParaRPr lang="en-US" sz="621" dirty="0"/>
          </a:p>
        </p:txBody>
      </p:sp>
      <p:sp>
        <p:nvSpPr>
          <p:cNvPr id="23" name="Shape 20"/>
          <p:cNvSpPr/>
          <p:nvPr/>
        </p:nvSpPr>
        <p:spPr>
          <a:xfrm>
            <a:off x="474240" y="2507477"/>
            <a:ext cx="4439841" cy="728607"/>
          </a:xfrm>
          <a:prstGeom prst="rect">
            <a:avLst/>
          </a:prstGeom>
          <a:solidFill>
            <a:srgbClr val="F8F9FA"/>
          </a:solidFill>
          <a:ln/>
        </p:spPr>
        <p:txBody>
          <a:bodyPr/>
          <a:lstStyle/>
          <a:p>
            <a:endParaRPr lang="en-MU"/>
          </a:p>
        </p:txBody>
      </p:sp>
      <p:sp>
        <p:nvSpPr>
          <p:cNvPr id="24" name="Shape 21"/>
          <p:cNvSpPr/>
          <p:nvPr/>
        </p:nvSpPr>
        <p:spPr>
          <a:xfrm>
            <a:off x="428625" y="3077366"/>
            <a:ext cx="28575" cy="728607"/>
          </a:xfrm>
          <a:prstGeom prst="rect">
            <a:avLst/>
          </a:prstGeom>
          <a:solidFill>
            <a:srgbClr val="007BFF"/>
          </a:solidFill>
          <a:ln/>
        </p:spPr>
        <p:txBody>
          <a:bodyPr/>
          <a:lstStyle/>
          <a:p>
            <a:endParaRPr lang="en-MU"/>
          </a:p>
        </p:txBody>
      </p:sp>
      <p:sp>
        <p:nvSpPr>
          <p:cNvPr id="25" name="Shape 22"/>
          <p:cNvSpPr/>
          <p:nvPr/>
        </p:nvSpPr>
        <p:spPr>
          <a:xfrm>
            <a:off x="545678" y="2578914"/>
            <a:ext cx="4296966" cy="291443"/>
          </a:xfrm>
          <a:prstGeom prst="rect">
            <a:avLst/>
          </a:prstGeom>
          <a:solidFill>
            <a:srgbClr val="1A1A1A"/>
          </a:solidFill>
          <a:ln/>
        </p:spPr>
        <p:txBody>
          <a:bodyPr/>
          <a:lstStyle/>
          <a:p>
            <a:endParaRPr lang="en-MU"/>
          </a:p>
        </p:txBody>
      </p:sp>
      <p:sp>
        <p:nvSpPr>
          <p:cNvPr id="26" name="Text 23"/>
          <p:cNvSpPr/>
          <p:nvPr/>
        </p:nvSpPr>
        <p:spPr>
          <a:xfrm>
            <a:off x="545678" y="2578914"/>
            <a:ext cx="4296966"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#3 – Train the Model</a:t>
            </a:r>
            <a:endParaRPr lang="en-US" sz="621" dirty="0"/>
          </a:p>
          <a:p>
            <a:pPr marL="0" indent="0" algn="l">
              <a:lnSpc>
                <a:spcPts val="800"/>
              </a:lnSpc>
              <a:buNone/>
            </a:pPr>
            <a:r>
              <a:rPr lang="en-US" sz="621" dirty="0" err="1">
                <a:solidFill>
                  <a:srgbClr val="28A745"/>
                </a:solidFill>
              </a:rPr>
              <a:t>dt.fit</a:t>
            </a:r>
            <a:r>
              <a:rPr lang="en-US" sz="621" dirty="0">
                <a:solidFill>
                  <a:srgbClr val="28A745"/>
                </a:solidFill>
              </a:rPr>
              <a:t>(X_train, y_train)</a:t>
            </a:r>
            <a:endParaRPr lang="en-US" sz="621" dirty="0"/>
          </a:p>
        </p:txBody>
      </p:sp>
      <p:sp>
        <p:nvSpPr>
          <p:cNvPr id="27" name="Text 24"/>
          <p:cNvSpPr/>
          <p:nvPr/>
        </p:nvSpPr>
        <p:spPr>
          <a:xfrm>
            <a:off x="645690" y="2909647"/>
            <a:ext cx="203513"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.fit():</a:t>
            </a:r>
            <a:endParaRPr lang="en-US" sz="584" dirty="0"/>
          </a:p>
        </p:txBody>
      </p:sp>
      <p:sp>
        <p:nvSpPr>
          <p:cNvPr id="28" name="Text 25"/>
          <p:cNvSpPr/>
          <p:nvPr/>
        </p:nvSpPr>
        <p:spPr>
          <a:xfrm>
            <a:off x="849203" y="2909647"/>
            <a:ext cx="3189322"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Trains the decision tree using training data (X_train = features, y_train = prices).</a:t>
            </a:r>
            <a:endParaRPr lang="en-US" sz="621" dirty="0"/>
          </a:p>
        </p:txBody>
      </p:sp>
      <p:sp>
        <p:nvSpPr>
          <p:cNvPr id="29" name="Text 26"/>
          <p:cNvSpPr/>
          <p:nvPr/>
        </p:nvSpPr>
        <p:spPr>
          <a:xfrm>
            <a:off x="645690" y="3035361"/>
            <a:ext cx="34848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Process:</a:t>
            </a:r>
            <a:endParaRPr lang="en-US" sz="584" dirty="0"/>
          </a:p>
        </p:txBody>
      </p:sp>
      <p:sp>
        <p:nvSpPr>
          <p:cNvPr id="30" name="Text 27"/>
          <p:cNvSpPr/>
          <p:nvPr/>
        </p:nvSpPr>
        <p:spPr>
          <a:xfrm>
            <a:off x="994171" y="3035361"/>
            <a:ext cx="2819353"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Recursively splits data based on features to minimize prediction error.</a:t>
            </a:r>
            <a:endParaRPr lang="en-US" sz="621" dirty="0"/>
          </a:p>
        </p:txBody>
      </p:sp>
      <p:sp>
        <p:nvSpPr>
          <p:cNvPr id="31" name="Shape 28"/>
          <p:cNvSpPr/>
          <p:nvPr/>
        </p:nvSpPr>
        <p:spPr>
          <a:xfrm>
            <a:off x="477031" y="3277030"/>
            <a:ext cx="4439841" cy="728607"/>
          </a:xfrm>
          <a:prstGeom prst="rect">
            <a:avLst/>
          </a:prstGeom>
          <a:solidFill>
            <a:srgbClr val="F8F9FA"/>
          </a:solidFill>
          <a:ln/>
        </p:spPr>
        <p:txBody>
          <a:bodyPr/>
          <a:lstStyle/>
          <a:p>
            <a:endParaRPr lang="en-MU"/>
          </a:p>
        </p:txBody>
      </p:sp>
      <p:sp>
        <p:nvSpPr>
          <p:cNvPr id="32" name="Shape 29"/>
          <p:cNvSpPr/>
          <p:nvPr/>
        </p:nvSpPr>
        <p:spPr>
          <a:xfrm>
            <a:off x="428625" y="3877410"/>
            <a:ext cx="28575" cy="728607"/>
          </a:xfrm>
          <a:prstGeom prst="rect">
            <a:avLst/>
          </a:prstGeom>
          <a:solidFill>
            <a:srgbClr val="007BFF"/>
          </a:solidFill>
          <a:ln/>
        </p:spPr>
        <p:txBody>
          <a:bodyPr/>
          <a:lstStyle/>
          <a:p>
            <a:endParaRPr lang="en-MU"/>
          </a:p>
        </p:txBody>
      </p:sp>
      <p:sp>
        <p:nvSpPr>
          <p:cNvPr id="33" name="Shape 30"/>
          <p:cNvSpPr/>
          <p:nvPr/>
        </p:nvSpPr>
        <p:spPr>
          <a:xfrm>
            <a:off x="548469" y="3348467"/>
            <a:ext cx="4296966" cy="291443"/>
          </a:xfrm>
          <a:prstGeom prst="rect">
            <a:avLst/>
          </a:prstGeom>
          <a:solidFill>
            <a:srgbClr val="1A1A1A"/>
          </a:solidFill>
          <a:ln/>
        </p:spPr>
        <p:txBody>
          <a:bodyPr/>
          <a:lstStyle/>
          <a:p>
            <a:endParaRPr lang="en-MU"/>
          </a:p>
        </p:txBody>
      </p:sp>
      <p:sp>
        <p:nvSpPr>
          <p:cNvPr id="34" name="Text 31"/>
          <p:cNvSpPr/>
          <p:nvPr/>
        </p:nvSpPr>
        <p:spPr>
          <a:xfrm>
            <a:off x="548469" y="3348467"/>
            <a:ext cx="4296966" cy="303673"/>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#4 – Make Predictions</a:t>
            </a:r>
            <a:endParaRPr lang="en-US" sz="621" dirty="0"/>
          </a:p>
          <a:p>
            <a:pPr marL="0" indent="0" algn="l">
              <a:lnSpc>
                <a:spcPts val="800"/>
              </a:lnSpc>
              <a:buNone/>
            </a:pPr>
            <a:r>
              <a:rPr lang="en-US" sz="621" dirty="0" err="1">
                <a:solidFill>
                  <a:srgbClr val="28A745"/>
                </a:solidFill>
              </a:rPr>
              <a:t>dt_pred_dt</a:t>
            </a:r>
            <a:r>
              <a:rPr lang="en-US" sz="621" dirty="0">
                <a:solidFill>
                  <a:srgbClr val="28A745"/>
                </a:solidFill>
              </a:rPr>
              <a:t> = </a:t>
            </a:r>
            <a:r>
              <a:rPr lang="en-US" sz="621" dirty="0" err="1">
                <a:solidFill>
                  <a:srgbClr val="28A745"/>
                </a:solidFill>
              </a:rPr>
              <a:t>dt.predict</a:t>
            </a:r>
            <a:r>
              <a:rPr lang="en-US" sz="621" dirty="0">
                <a:solidFill>
                  <a:srgbClr val="28A745"/>
                </a:solidFill>
              </a:rPr>
              <a:t>(X_test)</a:t>
            </a:r>
            <a:endParaRPr lang="en-US" sz="621" dirty="0"/>
          </a:p>
        </p:txBody>
      </p:sp>
      <p:sp>
        <p:nvSpPr>
          <p:cNvPr id="35" name="Text 32"/>
          <p:cNvSpPr/>
          <p:nvPr/>
        </p:nvSpPr>
        <p:spPr>
          <a:xfrm>
            <a:off x="648481" y="3679201"/>
            <a:ext cx="41082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.predict():</a:t>
            </a:r>
            <a:endParaRPr lang="en-US" sz="584" dirty="0"/>
          </a:p>
        </p:txBody>
      </p:sp>
      <p:sp>
        <p:nvSpPr>
          <p:cNvPr id="36" name="Text 33"/>
          <p:cNvSpPr/>
          <p:nvPr/>
        </p:nvSpPr>
        <p:spPr>
          <a:xfrm>
            <a:off x="1059302" y="3679201"/>
            <a:ext cx="2388050"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Uses the trained tree to predict prices for test data (X_test).</a:t>
            </a:r>
            <a:endParaRPr lang="en-US" sz="621" dirty="0"/>
          </a:p>
        </p:txBody>
      </p:sp>
      <p:sp>
        <p:nvSpPr>
          <p:cNvPr id="37" name="Text 34"/>
          <p:cNvSpPr/>
          <p:nvPr/>
        </p:nvSpPr>
        <p:spPr>
          <a:xfrm>
            <a:off x="648481" y="3804914"/>
            <a:ext cx="333998"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Output:</a:t>
            </a:r>
            <a:endParaRPr lang="en-US" sz="584" dirty="0"/>
          </a:p>
        </p:txBody>
      </p:sp>
      <p:sp>
        <p:nvSpPr>
          <p:cNvPr id="38" name="Text 35"/>
          <p:cNvSpPr/>
          <p:nvPr/>
        </p:nvSpPr>
        <p:spPr>
          <a:xfrm>
            <a:off x="982479" y="3804914"/>
            <a:ext cx="1302255"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Array of predicted house prices.</a:t>
            </a:r>
            <a:endParaRPr lang="en-US" sz="621" dirty="0"/>
          </a:p>
        </p:txBody>
      </p:sp>
      <p:sp>
        <p:nvSpPr>
          <p:cNvPr id="39" name="Shape 36"/>
          <p:cNvSpPr/>
          <p:nvPr/>
        </p:nvSpPr>
        <p:spPr>
          <a:xfrm>
            <a:off x="457200" y="3971967"/>
            <a:ext cx="4439841" cy="1171463"/>
          </a:xfrm>
          <a:prstGeom prst="rect">
            <a:avLst/>
          </a:prstGeom>
          <a:solidFill>
            <a:srgbClr val="F8F9FA"/>
          </a:solidFill>
          <a:ln/>
        </p:spPr>
        <p:txBody>
          <a:bodyPr/>
          <a:lstStyle/>
          <a:p>
            <a:endParaRPr lang="en-MU"/>
          </a:p>
        </p:txBody>
      </p:sp>
      <p:sp>
        <p:nvSpPr>
          <p:cNvPr id="41" name="Shape 38"/>
          <p:cNvSpPr/>
          <p:nvPr/>
        </p:nvSpPr>
        <p:spPr>
          <a:xfrm>
            <a:off x="528638" y="4043405"/>
            <a:ext cx="4296966" cy="608444"/>
          </a:xfrm>
          <a:prstGeom prst="rect">
            <a:avLst/>
          </a:prstGeom>
          <a:solidFill>
            <a:srgbClr val="1A1A1A"/>
          </a:solidFill>
          <a:ln/>
        </p:spPr>
        <p:txBody>
          <a:bodyPr/>
          <a:lstStyle/>
          <a:p>
            <a:endParaRPr lang="en-MU"/>
          </a:p>
        </p:txBody>
      </p:sp>
      <p:sp>
        <p:nvSpPr>
          <p:cNvPr id="42" name="Text 39"/>
          <p:cNvSpPr/>
          <p:nvPr/>
        </p:nvSpPr>
        <p:spPr>
          <a:xfrm>
            <a:off x="528638" y="4043405"/>
            <a:ext cx="4296966" cy="611449"/>
          </a:xfrm>
          <a:prstGeom prst="rect">
            <a:avLst/>
          </a:prstGeom>
          <a:noFill/>
          <a:ln/>
        </p:spPr>
        <p:txBody>
          <a:bodyPr wrap="square" lIns="68072" tIns="51054" rIns="68072" bIns="51054" rtlCol="0" anchor="t">
            <a:spAutoFit/>
          </a:bodyPr>
          <a:lstStyle/>
          <a:p>
            <a:pPr marL="0" indent="0" algn="l">
              <a:lnSpc>
                <a:spcPts val="800"/>
              </a:lnSpc>
              <a:buNone/>
            </a:pPr>
            <a:r>
              <a:rPr lang="en-US" sz="621" dirty="0">
                <a:solidFill>
                  <a:srgbClr val="28A745"/>
                </a:solidFill>
              </a:rPr>
              <a:t>#5 – Calculate Performance Metrics</a:t>
            </a:r>
            <a:endParaRPr lang="en-US" sz="621" dirty="0"/>
          </a:p>
          <a:p>
            <a:pPr marL="0" indent="0" algn="l">
              <a:lnSpc>
                <a:spcPts val="800"/>
              </a:lnSpc>
              <a:buNone/>
            </a:pPr>
            <a:r>
              <a:rPr lang="en-US" sz="621" dirty="0">
                <a:solidFill>
                  <a:srgbClr val="28A745"/>
                </a:solidFill>
              </a:rPr>
              <a:t>r2_dt = r2_score(y_test, </a:t>
            </a:r>
            <a:r>
              <a:rPr lang="en-US" sz="621" dirty="0" err="1">
                <a:solidFill>
                  <a:srgbClr val="28A745"/>
                </a:solidFill>
              </a:rPr>
              <a:t>y_pred_dt</a:t>
            </a:r>
            <a:r>
              <a:rPr lang="en-US" sz="621" dirty="0">
                <a:solidFill>
                  <a:srgbClr val="28A745"/>
                </a:solidFill>
              </a:rPr>
              <a:t>)</a:t>
            </a:r>
          </a:p>
          <a:p>
            <a:pPr marL="0" indent="0" algn="l">
              <a:lnSpc>
                <a:spcPts val="800"/>
              </a:lnSpc>
              <a:buNone/>
            </a:pPr>
            <a:r>
              <a:rPr lang="en-US" sz="621" dirty="0" err="1">
                <a:solidFill>
                  <a:srgbClr val="28A745"/>
                </a:solidFill>
              </a:rPr>
              <a:t>mae_dt</a:t>
            </a:r>
            <a:r>
              <a:rPr lang="en-US" sz="621" dirty="0">
                <a:solidFill>
                  <a:srgbClr val="28A745"/>
                </a:solidFill>
              </a:rPr>
              <a:t> = </a:t>
            </a:r>
            <a:r>
              <a:rPr lang="en-US" sz="621" dirty="0" err="1">
                <a:solidFill>
                  <a:srgbClr val="28A745"/>
                </a:solidFill>
              </a:rPr>
              <a:t>mean_absolute_error</a:t>
            </a:r>
            <a:r>
              <a:rPr lang="en-US" sz="621" dirty="0">
                <a:solidFill>
                  <a:srgbClr val="28A745"/>
                </a:solidFill>
              </a:rPr>
              <a:t>(</a:t>
            </a:r>
            <a:r>
              <a:rPr lang="en-US" sz="621" dirty="0" err="1">
                <a:solidFill>
                  <a:srgbClr val="28A745"/>
                </a:solidFill>
              </a:rPr>
              <a:t>y_test</a:t>
            </a:r>
            <a:r>
              <a:rPr lang="en-US" sz="621" dirty="0">
                <a:solidFill>
                  <a:srgbClr val="28A745"/>
                </a:solidFill>
              </a:rPr>
              <a:t>, </a:t>
            </a:r>
            <a:r>
              <a:rPr lang="en-US" sz="621" dirty="0" err="1">
                <a:solidFill>
                  <a:srgbClr val="28A745"/>
                </a:solidFill>
              </a:rPr>
              <a:t>y_pred_dt</a:t>
            </a:r>
            <a:r>
              <a:rPr lang="en-US" sz="621" dirty="0">
                <a:solidFill>
                  <a:srgbClr val="28A745"/>
                </a:solidFill>
              </a:rPr>
              <a:t>)</a:t>
            </a:r>
          </a:p>
          <a:p>
            <a:pPr marL="0" indent="0" algn="l">
              <a:lnSpc>
                <a:spcPts val="800"/>
              </a:lnSpc>
              <a:buNone/>
            </a:pPr>
            <a:r>
              <a:rPr lang="en-US" sz="621" dirty="0" err="1">
                <a:solidFill>
                  <a:srgbClr val="28A745"/>
                </a:solidFill>
              </a:rPr>
              <a:t>Mse_dt</a:t>
            </a:r>
            <a:r>
              <a:rPr lang="en-US" sz="621" dirty="0">
                <a:solidFill>
                  <a:srgbClr val="28A745"/>
                </a:solidFill>
              </a:rPr>
              <a:t> = </a:t>
            </a:r>
            <a:r>
              <a:rPr lang="en-US" sz="621" dirty="0" err="1">
                <a:solidFill>
                  <a:srgbClr val="28A745"/>
                </a:solidFill>
              </a:rPr>
              <a:t>mean_squared_error</a:t>
            </a:r>
            <a:r>
              <a:rPr lang="en-US" sz="621" dirty="0">
                <a:solidFill>
                  <a:srgbClr val="28A745"/>
                </a:solidFill>
              </a:rPr>
              <a:t>(</a:t>
            </a:r>
            <a:r>
              <a:rPr lang="en-US" sz="621" dirty="0" err="1">
                <a:solidFill>
                  <a:srgbClr val="28A745"/>
                </a:solidFill>
              </a:rPr>
              <a:t>y_test</a:t>
            </a:r>
            <a:r>
              <a:rPr lang="en-US" sz="621" dirty="0">
                <a:solidFill>
                  <a:srgbClr val="28A745"/>
                </a:solidFill>
              </a:rPr>
              <a:t>, </a:t>
            </a:r>
            <a:r>
              <a:rPr lang="en-US" sz="621" dirty="0" err="1">
                <a:solidFill>
                  <a:srgbClr val="28A745"/>
                </a:solidFill>
              </a:rPr>
              <a:t>y_pred_dt</a:t>
            </a:r>
            <a:r>
              <a:rPr lang="en-US" sz="621" dirty="0">
                <a:solidFill>
                  <a:srgbClr val="28A745"/>
                </a:solidFill>
              </a:rPr>
              <a:t>)</a:t>
            </a:r>
            <a:endParaRPr lang="en-US" sz="621" dirty="0"/>
          </a:p>
          <a:p>
            <a:pPr marL="0" indent="0" algn="l">
              <a:lnSpc>
                <a:spcPts val="800"/>
              </a:lnSpc>
              <a:buNone/>
            </a:pPr>
            <a:r>
              <a:rPr lang="en-US" sz="621" dirty="0">
                <a:solidFill>
                  <a:srgbClr val="28A745"/>
                </a:solidFill>
              </a:rPr>
              <a:t>= np.sqrt(mean_squared_error(y_test, dt_predictions))</a:t>
            </a:r>
            <a:endParaRPr lang="en-US" sz="621" dirty="0"/>
          </a:p>
        </p:txBody>
      </p:sp>
      <p:sp>
        <p:nvSpPr>
          <p:cNvPr id="43" name="Text 40"/>
          <p:cNvSpPr/>
          <p:nvPr/>
        </p:nvSpPr>
        <p:spPr>
          <a:xfrm>
            <a:off x="628650" y="4741664"/>
            <a:ext cx="43334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r2_score():</a:t>
            </a:r>
            <a:endParaRPr lang="en-US" sz="584" dirty="0"/>
          </a:p>
        </p:txBody>
      </p:sp>
      <p:sp>
        <p:nvSpPr>
          <p:cNvPr id="44" name="Text 41"/>
          <p:cNvSpPr/>
          <p:nvPr/>
        </p:nvSpPr>
        <p:spPr>
          <a:xfrm>
            <a:off x="1061991" y="4741664"/>
            <a:ext cx="2967056" cy="116086"/>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Measures how well predictions match actual values (0-1, higher is better).</a:t>
            </a:r>
            <a:endParaRPr lang="en-US" sz="621" dirty="0"/>
          </a:p>
        </p:txBody>
      </p:sp>
      <p:sp>
        <p:nvSpPr>
          <p:cNvPr id="49" name="Shape 46"/>
          <p:cNvSpPr/>
          <p:nvPr/>
        </p:nvSpPr>
        <p:spPr>
          <a:xfrm>
            <a:off x="5082778" y="1057275"/>
            <a:ext cx="3632597" cy="1480542"/>
          </a:xfrm>
          <a:prstGeom prst="rect">
            <a:avLst/>
          </a:prstGeom>
          <a:solidFill>
            <a:srgbClr val="F8F9FA"/>
          </a:solidFill>
          <a:ln w="9144">
            <a:solidFill>
              <a:srgbClr val="E0E0E0"/>
            </a:solidFill>
            <a:prstDash val="solid"/>
          </a:ln>
        </p:spPr>
        <p:txBody>
          <a:bodyPr/>
          <a:lstStyle/>
          <a:p>
            <a:endParaRPr lang="en-MU"/>
          </a:p>
        </p:txBody>
      </p:sp>
      <p:sp>
        <p:nvSpPr>
          <p:cNvPr id="50" name="Text 47"/>
          <p:cNvSpPr/>
          <p:nvPr/>
        </p:nvSpPr>
        <p:spPr>
          <a:xfrm>
            <a:off x="5168503" y="1143000"/>
            <a:ext cx="3461147"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Decision Tree Performance Metrics</a:t>
            </a:r>
            <a:endParaRPr lang="en-US" sz="683" dirty="0"/>
          </a:p>
        </p:txBody>
      </p:sp>
      <p:sp>
        <p:nvSpPr>
          <p:cNvPr id="51" name="Shape 48"/>
          <p:cNvSpPr/>
          <p:nvPr/>
        </p:nvSpPr>
        <p:spPr>
          <a:xfrm>
            <a:off x="5172075" y="1335881"/>
            <a:ext cx="3454003" cy="205383"/>
          </a:xfrm>
          <a:prstGeom prst="rect">
            <a:avLst/>
          </a:prstGeom>
          <a:solidFill>
            <a:srgbClr val="F8F9FA"/>
          </a:solidFill>
          <a:ln/>
        </p:spPr>
        <p:txBody>
          <a:bodyPr/>
          <a:lstStyle/>
          <a:p>
            <a:endParaRPr lang="en-MU"/>
          </a:p>
        </p:txBody>
      </p:sp>
      <p:sp>
        <p:nvSpPr>
          <p:cNvPr id="52" name="Shape 49"/>
          <p:cNvSpPr/>
          <p:nvPr/>
        </p:nvSpPr>
        <p:spPr>
          <a:xfrm>
            <a:off x="5172075" y="1335881"/>
            <a:ext cx="1750442" cy="205383"/>
          </a:xfrm>
          <a:prstGeom prst="rect">
            <a:avLst/>
          </a:prstGeom>
          <a:solidFill>
            <a:srgbClr val="007BFF"/>
          </a:solidFill>
          <a:ln/>
        </p:spPr>
        <p:txBody>
          <a:bodyPr/>
          <a:lstStyle/>
          <a:p>
            <a:endParaRPr lang="en-MU"/>
          </a:p>
        </p:txBody>
      </p:sp>
      <p:sp>
        <p:nvSpPr>
          <p:cNvPr id="53" name="Text 50"/>
          <p:cNvSpPr/>
          <p:nvPr/>
        </p:nvSpPr>
        <p:spPr>
          <a:xfrm>
            <a:off x="5172075" y="1335881"/>
            <a:ext cx="1750442" cy="205383"/>
          </a:xfrm>
          <a:prstGeom prst="rect">
            <a:avLst/>
          </a:prstGeom>
          <a:noFill/>
          <a:ln/>
        </p:spPr>
        <p:txBody>
          <a:bodyPr wrap="square" lIns="34036" tIns="51054" rIns="34036" bIns="51054" rtlCol="0" anchor="ctr">
            <a:spAutoFit/>
          </a:bodyPr>
          <a:lstStyle/>
          <a:p>
            <a:pPr marL="0" indent="0" algn="l">
              <a:lnSpc>
                <a:spcPts val="800"/>
              </a:lnSpc>
              <a:buNone/>
            </a:pPr>
            <a:r>
              <a:rPr lang="en-US" sz="584" b="1" dirty="0">
                <a:solidFill>
                  <a:srgbClr val="FFFFFF"/>
                </a:solidFill>
              </a:rPr>
              <a:t>Metric</a:t>
            </a:r>
            <a:endParaRPr lang="en-US" sz="584" dirty="0"/>
          </a:p>
        </p:txBody>
      </p:sp>
      <p:sp>
        <p:nvSpPr>
          <p:cNvPr id="54" name="Shape 51"/>
          <p:cNvSpPr/>
          <p:nvPr/>
        </p:nvSpPr>
        <p:spPr>
          <a:xfrm>
            <a:off x="6922517" y="1335881"/>
            <a:ext cx="1703561" cy="205383"/>
          </a:xfrm>
          <a:prstGeom prst="rect">
            <a:avLst/>
          </a:prstGeom>
          <a:solidFill>
            <a:srgbClr val="007BFF"/>
          </a:solidFill>
          <a:ln/>
        </p:spPr>
        <p:txBody>
          <a:bodyPr/>
          <a:lstStyle/>
          <a:p>
            <a:endParaRPr lang="en-MU"/>
          </a:p>
        </p:txBody>
      </p:sp>
      <p:sp>
        <p:nvSpPr>
          <p:cNvPr id="55" name="Text 52"/>
          <p:cNvSpPr/>
          <p:nvPr/>
        </p:nvSpPr>
        <p:spPr>
          <a:xfrm>
            <a:off x="6922517" y="1335881"/>
            <a:ext cx="1703561" cy="205383"/>
          </a:xfrm>
          <a:prstGeom prst="rect">
            <a:avLst/>
          </a:prstGeom>
          <a:noFill/>
          <a:ln/>
        </p:spPr>
        <p:txBody>
          <a:bodyPr wrap="square" lIns="34036" tIns="51054" rIns="34036" bIns="51054" rtlCol="0" anchor="ctr">
            <a:spAutoFit/>
          </a:bodyPr>
          <a:lstStyle/>
          <a:p>
            <a:pPr marL="0" indent="0" algn="l">
              <a:lnSpc>
                <a:spcPts val="800"/>
              </a:lnSpc>
              <a:buNone/>
            </a:pPr>
            <a:r>
              <a:rPr lang="en-US" sz="584" b="1" dirty="0">
                <a:solidFill>
                  <a:srgbClr val="FFFFFF"/>
                </a:solidFill>
              </a:rPr>
              <a:t>Value</a:t>
            </a:r>
            <a:endParaRPr lang="en-US" sz="584" dirty="0"/>
          </a:p>
        </p:txBody>
      </p:sp>
      <p:sp>
        <p:nvSpPr>
          <p:cNvPr id="56" name="Shape 53"/>
          <p:cNvSpPr/>
          <p:nvPr/>
        </p:nvSpPr>
        <p:spPr>
          <a:xfrm>
            <a:off x="5172075" y="1541264"/>
            <a:ext cx="3454003" cy="208955"/>
          </a:xfrm>
          <a:prstGeom prst="rect">
            <a:avLst/>
          </a:prstGeom>
          <a:solidFill>
            <a:srgbClr val="F8F9FA"/>
          </a:solidFill>
          <a:ln/>
        </p:spPr>
        <p:txBody>
          <a:bodyPr/>
          <a:lstStyle/>
          <a:p>
            <a:endParaRPr lang="en-MU"/>
          </a:p>
        </p:txBody>
      </p:sp>
      <p:sp>
        <p:nvSpPr>
          <p:cNvPr id="57" name="Text 54"/>
          <p:cNvSpPr/>
          <p:nvPr/>
        </p:nvSpPr>
        <p:spPr>
          <a:xfrm>
            <a:off x="5204222" y="1587698"/>
            <a:ext cx="34359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R² Score</a:t>
            </a:r>
            <a:endParaRPr lang="en-US" sz="584" dirty="0"/>
          </a:p>
        </p:txBody>
      </p:sp>
      <p:sp>
        <p:nvSpPr>
          <p:cNvPr id="58" name="Text 55"/>
          <p:cNvSpPr/>
          <p:nvPr/>
        </p:nvSpPr>
        <p:spPr>
          <a:xfrm>
            <a:off x="6922517" y="1541264"/>
            <a:ext cx="1703561" cy="208955"/>
          </a:xfrm>
          <a:prstGeom prst="rect">
            <a:avLst/>
          </a:prstGeom>
          <a:noFill/>
          <a:ln/>
        </p:spPr>
        <p:txBody>
          <a:bodyPr wrap="square" lIns="34036" tIns="51054" rIns="34036" bIns="51054" rtlCol="0" anchor="ctr">
            <a:spAutoFit/>
          </a:bodyPr>
          <a:lstStyle/>
          <a:p>
            <a:pPr marL="0" indent="0" algn="l">
              <a:lnSpc>
                <a:spcPts val="800"/>
              </a:lnSpc>
              <a:buNone/>
            </a:pPr>
            <a:r>
              <a:rPr lang="en-US" sz="584" b="1" dirty="0">
                <a:solidFill>
                  <a:srgbClr val="007BFF"/>
                </a:solidFill>
              </a:rPr>
              <a:t>0.524</a:t>
            </a:r>
            <a:endParaRPr lang="en-US" sz="584" dirty="0"/>
          </a:p>
        </p:txBody>
      </p:sp>
      <p:sp>
        <p:nvSpPr>
          <p:cNvPr id="59" name="Shape 56"/>
          <p:cNvSpPr/>
          <p:nvPr/>
        </p:nvSpPr>
        <p:spPr>
          <a:xfrm>
            <a:off x="5172075" y="1750219"/>
            <a:ext cx="3454003" cy="208955"/>
          </a:xfrm>
          <a:prstGeom prst="rect">
            <a:avLst/>
          </a:prstGeom>
          <a:solidFill>
            <a:srgbClr val="FFFFFF"/>
          </a:solidFill>
          <a:ln/>
        </p:spPr>
        <p:txBody>
          <a:bodyPr/>
          <a:lstStyle/>
          <a:p>
            <a:endParaRPr lang="en-MU"/>
          </a:p>
        </p:txBody>
      </p:sp>
      <p:sp>
        <p:nvSpPr>
          <p:cNvPr id="60" name="Text 57"/>
          <p:cNvSpPr/>
          <p:nvPr/>
        </p:nvSpPr>
        <p:spPr>
          <a:xfrm>
            <a:off x="5204222" y="1796653"/>
            <a:ext cx="18799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MAE</a:t>
            </a:r>
            <a:endParaRPr lang="en-US" sz="584" dirty="0"/>
          </a:p>
        </p:txBody>
      </p:sp>
      <p:sp>
        <p:nvSpPr>
          <p:cNvPr id="61" name="Text 58"/>
          <p:cNvSpPr/>
          <p:nvPr/>
        </p:nvSpPr>
        <p:spPr>
          <a:xfrm>
            <a:off x="6922517" y="1750219"/>
            <a:ext cx="1703561" cy="208955"/>
          </a:xfrm>
          <a:prstGeom prst="rect">
            <a:avLst/>
          </a:prstGeom>
          <a:noFill/>
          <a:ln/>
        </p:spPr>
        <p:txBody>
          <a:bodyPr wrap="square" lIns="34036" tIns="51054" rIns="34036" bIns="51054" rtlCol="0" anchor="ctr">
            <a:spAutoFit/>
          </a:bodyPr>
          <a:lstStyle/>
          <a:p>
            <a:pPr marL="0" indent="0" algn="l">
              <a:lnSpc>
                <a:spcPts val="800"/>
              </a:lnSpc>
              <a:buNone/>
            </a:pPr>
            <a:r>
              <a:rPr lang="en-US" sz="584" b="1" dirty="0">
                <a:solidFill>
                  <a:srgbClr val="007BFF"/>
                </a:solidFill>
              </a:rPr>
              <a:t>₨1,156,892</a:t>
            </a:r>
            <a:endParaRPr lang="en-US" sz="584" dirty="0"/>
          </a:p>
        </p:txBody>
      </p:sp>
      <p:sp>
        <p:nvSpPr>
          <p:cNvPr id="62" name="Shape 59"/>
          <p:cNvSpPr/>
          <p:nvPr/>
        </p:nvSpPr>
        <p:spPr>
          <a:xfrm>
            <a:off x="5172075" y="1959173"/>
            <a:ext cx="3454003" cy="208955"/>
          </a:xfrm>
          <a:prstGeom prst="rect">
            <a:avLst/>
          </a:prstGeom>
          <a:solidFill>
            <a:srgbClr val="F8F9FA"/>
          </a:solidFill>
          <a:ln/>
        </p:spPr>
        <p:txBody>
          <a:bodyPr/>
          <a:lstStyle/>
          <a:p>
            <a:endParaRPr lang="en-MU"/>
          </a:p>
        </p:txBody>
      </p:sp>
      <p:sp>
        <p:nvSpPr>
          <p:cNvPr id="63" name="Text 60"/>
          <p:cNvSpPr/>
          <p:nvPr/>
        </p:nvSpPr>
        <p:spPr>
          <a:xfrm>
            <a:off x="5204222" y="2005608"/>
            <a:ext cx="232674"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RMSE</a:t>
            </a:r>
            <a:endParaRPr lang="en-US" sz="584" dirty="0"/>
          </a:p>
        </p:txBody>
      </p:sp>
      <p:sp>
        <p:nvSpPr>
          <p:cNvPr id="64" name="Text 61"/>
          <p:cNvSpPr/>
          <p:nvPr/>
        </p:nvSpPr>
        <p:spPr>
          <a:xfrm>
            <a:off x="6922517" y="1959173"/>
            <a:ext cx="1703561" cy="208955"/>
          </a:xfrm>
          <a:prstGeom prst="rect">
            <a:avLst/>
          </a:prstGeom>
          <a:noFill/>
          <a:ln/>
        </p:spPr>
        <p:txBody>
          <a:bodyPr wrap="square" lIns="34036" tIns="51054" rIns="34036" bIns="51054" rtlCol="0" anchor="ctr">
            <a:spAutoFit/>
          </a:bodyPr>
          <a:lstStyle/>
          <a:p>
            <a:pPr marL="0" indent="0" algn="l">
              <a:lnSpc>
                <a:spcPts val="800"/>
              </a:lnSpc>
              <a:buNone/>
            </a:pPr>
            <a:r>
              <a:rPr lang="en-US" sz="584" b="1" dirty="0">
                <a:solidFill>
                  <a:srgbClr val="007BFF"/>
                </a:solidFill>
              </a:rPr>
              <a:t>₨1,523,456</a:t>
            </a:r>
            <a:endParaRPr lang="en-US" sz="584" dirty="0"/>
          </a:p>
        </p:txBody>
      </p:sp>
      <p:sp>
        <p:nvSpPr>
          <p:cNvPr id="65" name="Shape 62"/>
          <p:cNvSpPr/>
          <p:nvPr/>
        </p:nvSpPr>
        <p:spPr>
          <a:xfrm>
            <a:off x="5172075" y="2168128"/>
            <a:ext cx="3454003" cy="208955"/>
          </a:xfrm>
          <a:prstGeom prst="rect">
            <a:avLst/>
          </a:prstGeom>
          <a:solidFill>
            <a:srgbClr val="FFFFFF"/>
          </a:solidFill>
          <a:ln/>
        </p:spPr>
        <p:txBody>
          <a:bodyPr/>
          <a:lstStyle/>
          <a:p>
            <a:endParaRPr lang="en-MU"/>
          </a:p>
        </p:txBody>
      </p:sp>
      <p:sp>
        <p:nvSpPr>
          <p:cNvPr id="66" name="Text 63"/>
          <p:cNvSpPr/>
          <p:nvPr/>
        </p:nvSpPr>
        <p:spPr>
          <a:xfrm>
            <a:off x="5204222" y="2214563"/>
            <a:ext cx="586457"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Training Time</a:t>
            </a:r>
            <a:endParaRPr lang="en-US" sz="584" dirty="0"/>
          </a:p>
        </p:txBody>
      </p:sp>
      <p:sp>
        <p:nvSpPr>
          <p:cNvPr id="67" name="Text 64"/>
          <p:cNvSpPr/>
          <p:nvPr/>
        </p:nvSpPr>
        <p:spPr>
          <a:xfrm>
            <a:off x="6922517" y="2168128"/>
            <a:ext cx="1703561" cy="208955"/>
          </a:xfrm>
          <a:prstGeom prst="rect">
            <a:avLst/>
          </a:prstGeom>
          <a:noFill/>
          <a:ln/>
        </p:spPr>
        <p:txBody>
          <a:bodyPr wrap="square" lIns="34036" tIns="51054" rIns="34036" bIns="51054" rtlCol="0" anchor="ctr">
            <a:spAutoFit/>
          </a:bodyPr>
          <a:lstStyle/>
          <a:p>
            <a:pPr marL="0" indent="0" algn="l">
              <a:lnSpc>
                <a:spcPts val="800"/>
              </a:lnSpc>
              <a:buNone/>
            </a:pPr>
            <a:r>
              <a:rPr lang="en-US" sz="584" b="1" dirty="0">
                <a:solidFill>
                  <a:srgbClr val="007BFF"/>
                </a:solidFill>
              </a:rPr>
              <a:t>0.012s</a:t>
            </a:r>
            <a:endParaRPr lang="en-US" sz="584" dirty="0"/>
          </a:p>
        </p:txBody>
      </p:sp>
      <p:sp>
        <p:nvSpPr>
          <p:cNvPr id="79" name="Shape 76"/>
          <p:cNvSpPr/>
          <p:nvPr/>
        </p:nvSpPr>
        <p:spPr>
          <a:xfrm>
            <a:off x="5082778" y="4257229"/>
            <a:ext cx="3632597" cy="588578"/>
          </a:xfrm>
          <a:prstGeom prst="rect">
            <a:avLst/>
          </a:prstGeom>
          <a:solidFill>
            <a:srgbClr val="FFF3CD"/>
          </a:solidFill>
          <a:ln/>
        </p:spPr>
        <p:txBody>
          <a:bodyPr/>
          <a:lstStyle/>
          <a:p>
            <a:endParaRPr lang="en-MU"/>
          </a:p>
        </p:txBody>
      </p:sp>
      <p:sp>
        <p:nvSpPr>
          <p:cNvPr id="80" name="Shape 77"/>
          <p:cNvSpPr/>
          <p:nvPr/>
        </p:nvSpPr>
        <p:spPr>
          <a:xfrm>
            <a:off x="5082778" y="4257229"/>
            <a:ext cx="28575" cy="588578"/>
          </a:xfrm>
          <a:prstGeom prst="rect">
            <a:avLst/>
          </a:prstGeom>
          <a:solidFill>
            <a:srgbClr val="FFA500"/>
          </a:solidFill>
          <a:ln/>
        </p:spPr>
        <p:txBody>
          <a:bodyPr/>
          <a:lstStyle/>
          <a:p>
            <a:endParaRPr lang="en-MU"/>
          </a:p>
        </p:txBody>
      </p:sp>
      <p:sp>
        <p:nvSpPr>
          <p:cNvPr id="81" name="Text 78"/>
          <p:cNvSpPr/>
          <p:nvPr/>
        </p:nvSpPr>
        <p:spPr>
          <a:xfrm>
            <a:off x="5082778" y="4257229"/>
            <a:ext cx="3632597" cy="625684"/>
          </a:xfrm>
          <a:prstGeom prst="rect">
            <a:avLst/>
          </a:prstGeom>
          <a:noFill/>
          <a:ln/>
        </p:spPr>
        <p:txBody>
          <a:bodyPr wrap="square" lIns="85090" tIns="85090" rIns="85090" bIns="85090" rtlCol="0" anchor="t">
            <a:spAutoFit/>
          </a:bodyPr>
          <a:lstStyle/>
          <a:p>
            <a:pPr marL="0" indent="0" algn="l">
              <a:lnSpc>
                <a:spcPts val="900"/>
              </a:lnSpc>
              <a:buNone/>
            </a:pPr>
            <a:r>
              <a:rPr lang="en-US" sz="584" b="1" dirty="0">
                <a:solidFill>
                  <a:srgbClr val="FFA500"/>
                </a:solidFill>
              </a:rPr>
              <a:t>Decision Tree Insight:</a:t>
            </a:r>
            <a:r>
              <a:rPr lang="en-US" sz="621" dirty="0">
                <a:solidFill>
                  <a:srgbClr val="1A1A1A"/>
                </a:solidFill>
              </a:rPr>
              <a:t> Trees make sequential yes/no decisions on features to predict prices. Easy to understand but prone to overfitting. R² of 0.524 is moderate—better than Linear Regression (0.512) but worse than Random Forest (0.546). Trees excel at capturing non-linear patterns but can memorize noise in training data.</a:t>
            </a:r>
            <a:endParaRPr lang="en-US" sz="5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0" y="0"/>
            <a:ext cx="9144000" cy="928688"/>
          </a:xfrm>
          <a:prstGeom prst="rect">
            <a:avLst/>
          </a:prstGeom>
          <a:solidFill>
            <a:srgbClr val="000000">
              <a:alpha val="0"/>
            </a:srgbClr>
          </a:solidFill>
          <a:ln/>
        </p:spPr>
        <p:txBody>
          <a:bodyPr/>
          <a:lstStyle/>
          <a:p>
            <a:endParaRPr lang="en-MU"/>
          </a:p>
        </p:txBody>
      </p:sp>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Model 3: Random Forest Regressor</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Ensemble Learning with Multiple Decision Trees</a:t>
            </a:r>
            <a:endParaRPr lang="en-US" sz="987" dirty="0"/>
          </a:p>
        </p:txBody>
      </p:sp>
      <p:sp>
        <p:nvSpPr>
          <p:cNvPr id="7" name="Shape 4"/>
          <p:cNvSpPr/>
          <p:nvPr/>
        </p:nvSpPr>
        <p:spPr>
          <a:xfrm>
            <a:off x="428625" y="1057275"/>
            <a:ext cx="2933709" cy="600019"/>
          </a:xfrm>
          <a:prstGeom prst="rect">
            <a:avLst/>
          </a:prstGeom>
          <a:solidFill>
            <a:srgbClr val="F8F9FA"/>
          </a:solidFill>
          <a:ln/>
        </p:spPr>
        <p:txBody>
          <a:bodyPr/>
          <a:lstStyle/>
          <a:p>
            <a:endParaRPr lang="en-MU"/>
          </a:p>
        </p:txBody>
      </p:sp>
      <p:sp>
        <p:nvSpPr>
          <p:cNvPr id="8" name="Shape 5"/>
          <p:cNvSpPr/>
          <p:nvPr/>
        </p:nvSpPr>
        <p:spPr>
          <a:xfrm>
            <a:off x="428625" y="1057275"/>
            <a:ext cx="28575" cy="600019"/>
          </a:xfrm>
          <a:prstGeom prst="rect">
            <a:avLst/>
          </a:prstGeom>
          <a:solidFill>
            <a:srgbClr val="007BFF"/>
          </a:solidFill>
          <a:ln/>
        </p:spPr>
        <p:txBody>
          <a:bodyPr/>
          <a:lstStyle/>
          <a:p>
            <a:endParaRPr lang="en-MU"/>
          </a:p>
        </p:txBody>
      </p:sp>
      <p:sp>
        <p:nvSpPr>
          <p:cNvPr id="9" name="Shape 6"/>
          <p:cNvSpPr/>
          <p:nvPr/>
        </p:nvSpPr>
        <p:spPr>
          <a:xfrm>
            <a:off x="485775" y="1114425"/>
            <a:ext cx="2819409" cy="245734"/>
          </a:xfrm>
          <a:prstGeom prst="rect">
            <a:avLst/>
          </a:prstGeom>
          <a:solidFill>
            <a:srgbClr val="1A1A1A"/>
          </a:solidFill>
          <a:ln/>
        </p:spPr>
        <p:txBody>
          <a:bodyPr/>
          <a:lstStyle/>
          <a:p>
            <a:endParaRPr lang="en-MU"/>
          </a:p>
        </p:txBody>
      </p:sp>
      <p:sp>
        <p:nvSpPr>
          <p:cNvPr id="10" name="Text 7"/>
          <p:cNvSpPr/>
          <p:nvPr/>
        </p:nvSpPr>
        <p:spPr>
          <a:xfrm>
            <a:off x="485775" y="1114425"/>
            <a:ext cx="2819409"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#1 – Import RandomForestRegressor</a:t>
            </a:r>
            <a:endParaRPr lang="en-US" sz="568" dirty="0"/>
          </a:p>
          <a:p>
            <a:pPr marL="0" indent="0" algn="l">
              <a:lnSpc>
                <a:spcPts val="700"/>
              </a:lnSpc>
              <a:buNone/>
            </a:pPr>
            <a:r>
              <a:rPr lang="en-US" sz="568" dirty="0">
                <a:solidFill>
                  <a:srgbClr val="28A745"/>
                </a:solidFill>
              </a:rPr>
              <a:t>from sklearn.ensemble import RandomForestRegressor</a:t>
            </a:r>
            <a:endParaRPr lang="en-US" sz="568" dirty="0"/>
          </a:p>
        </p:txBody>
      </p:sp>
      <p:sp>
        <p:nvSpPr>
          <p:cNvPr id="11" name="Text 8"/>
          <p:cNvSpPr/>
          <p:nvPr/>
        </p:nvSpPr>
        <p:spPr>
          <a:xfrm>
            <a:off x="571500" y="1385162"/>
            <a:ext cx="985419"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RandomForestRegressor:</a:t>
            </a:r>
            <a:endParaRPr lang="en-US" sz="534" dirty="0"/>
          </a:p>
        </p:txBody>
      </p:sp>
      <p:sp>
        <p:nvSpPr>
          <p:cNvPr id="12" name="Text 9"/>
          <p:cNvSpPr/>
          <p:nvPr/>
        </p:nvSpPr>
        <p:spPr>
          <a:xfrm>
            <a:off x="571500" y="1499461"/>
            <a:ext cx="2493252" cy="209290"/>
          </a:xfrm>
          <a:prstGeom prst="rect">
            <a:avLst/>
          </a:prstGeom>
          <a:noFill/>
          <a:ln/>
        </p:spPr>
        <p:txBody>
          <a:bodyPr wrap="square" lIns="0" tIns="0" rIns="0" bIns="0" rtlCol="0" anchor="t">
            <a:spAutoFit/>
          </a:bodyPr>
          <a:lstStyle/>
          <a:p>
            <a:pPr marL="0" indent="0" algn="l">
              <a:lnSpc>
                <a:spcPts val="800"/>
              </a:lnSpc>
              <a:buNone/>
            </a:pPr>
            <a:r>
              <a:rPr lang="en-US" sz="568" dirty="0">
                <a:solidFill>
                  <a:srgbClr val="495057"/>
                </a:solidFill>
              </a:rPr>
              <a:t>Ensemble model that combines multiple decision trees for robust predictions.</a:t>
            </a:r>
            <a:endParaRPr lang="en-US" sz="568" dirty="0"/>
          </a:p>
        </p:txBody>
      </p:sp>
      <p:sp>
        <p:nvSpPr>
          <p:cNvPr id="13" name="Shape 10"/>
          <p:cNvSpPr/>
          <p:nvPr/>
        </p:nvSpPr>
        <p:spPr>
          <a:xfrm>
            <a:off x="428625" y="1714444"/>
            <a:ext cx="2933709" cy="999316"/>
          </a:xfrm>
          <a:prstGeom prst="rect">
            <a:avLst/>
          </a:prstGeom>
          <a:solidFill>
            <a:srgbClr val="F8F9FA"/>
          </a:solidFill>
          <a:ln/>
        </p:spPr>
        <p:txBody>
          <a:bodyPr/>
          <a:lstStyle/>
          <a:p>
            <a:endParaRPr lang="en-MU"/>
          </a:p>
        </p:txBody>
      </p:sp>
      <p:sp>
        <p:nvSpPr>
          <p:cNvPr id="14" name="Shape 11"/>
          <p:cNvSpPr/>
          <p:nvPr/>
        </p:nvSpPr>
        <p:spPr>
          <a:xfrm>
            <a:off x="428625" y="1714444"/>
            <a:ext cx="28575" cy="999316"/>
          </a:xfrm>
          <a:prstGeom prst="rect">
            <a:avLst/>
          </a:prstGeom>
          <a:solidFill>
            <a:srgbClr val="007BFF"/>
          </a:solidFill>
          <a:ln/>
        </p:spPr>
        <p:txBody>
          <a:bodyPr/>
          <a:lstStyle/>
          <a:p>
            <a:endParaRPr lang="en-MU"/>
          </a:p>
        </p:txBody>
      </p:sp>
      <p:sp>
        <p:nvSpPr>
          <p:cNvPr id="15" name="Shape 12"/>
          <p:cNvSpPr/>
          <p:nvPr/>
        </p:nvSpPr>
        <p:spPr>
          <a:xfrm>
            <a:off x="485775" y="1771594"/>
            <a:ext cx="2819409" cy="528610"/>
          </a:xfrm>
          <a:prstGeom prst="rect">
            <a:avLst/>
          </a:prstGeom>
          <a:solidFill>
            <a:srgbClr val="1A1A1A"/>
          </a:solidFill>
          <a:ln/>
        </p:spPr>
        <p:txBody>
          <a:bodyPr/>
          <a:lstStyle/>
          <a:p>
            <a:endParaRPr lang="en-MU"/>
          </a:p>
        </p:txBody>
      </p:sp>
      <p:sp>
        <p:nvSpPr>
          <p:cNvPr id="16" name="Text 13"/>
          <p:cNvSpPr/>
          <p:nvPr/>
        </p:nvSpPr>
        <p:spPr>
          <a:xfrm>
            <a:off x="485775" y="1771594"/>
            <a:ext cx="2819409" cy="424603"/>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#2 – Create Model Instance</a:t>
            </a:r>
            <a:endParaRPr lang="en-US" sz="568" dirty="0"/>
          </a:p>
          <a:p>
            <a:pPr marL="0" indent="0" algn="l">
              <a:lnSpc>
                <a:spcPts val="700"/>
              </a:lnSpc>
              <a:buNone/>
            </a:pPr>
            <a:r>
              <a:rPr lang="en-US" sz="568" dirty="0">
                <a:solidFill>
                  <a:srgbClr val="28A745"/>
                </a:solidFill>
              </a:rPr>
              <a:t>rf = RandomForestRegressor(</a:t>
            </a:r>
            <a:endParaRPr lang="en-US" sz="568" dirty="0"/>
          </a:p>
          <a:p>
            <a:pPr marL="0" indent="0" algn="l">
              <a:lnSpc>
                <a:spcPts val="700"/>
              </a:lnSpc>
              <a:buNone/>
            </a:pPr>
            <a:r>
              <a:rPr lang="en-US" sz="568" dirty="0">
                <a:solidFill>
                  <a:srgbClr val="28A745"/>
                </a:solidFill>
              </a:rPr>
              <a:t>    n_estimators=100,</a:t>
            </a:r>
            <a:endParaRPr lang="en-US" sz="568" dirty="0"/>
          </a:p>
          <a:p>
            <a:pPr marL="0" indent="0" algn="l">
              <a:lnSpc>
                <a:spcPts val="700"/>
              </a:lnSpc>
              <a:buNone/>
            </a:pPr>
            <a:r>
              <a:rPr lang="en-US" sz="568" dirty="0">
                <a:solidFill>
                  <a:srgbClr val="28A745"/>
                </a:solidFill>
              </a:rPr>
              <a:t>    random_state=42)</a:t>
            </a:r>
            <a:endParaRPr lang="en-US" sz="568" dirty="0"/>
          </a:p>
        </p:txBody>
      </p:sp>
      <p:sp>
        <p:nvSpPr>
          <p:cNvPr id="17" name="Text 14"/>
          <p:cNvSpPr/>
          <p:nvPr/>
        </p:nvSpPr>
        <p:spPr>
          <a:xfrm>
            <a:off x="571500" y="2325207"/>
            <a:ext cx="711808"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n_estimators=100:</a:t>
            </a:r>
            <a:endParaRPr lang="en-US" sz="534" dirty="0"/>
          </a:p>
        </p:txBody>
      </p:sp>
      <p:sp>
        <p:nvSpPr>
          <p:cNvPr id="18" name="Text 15"/>
          <p:cNvSpPr/>
          <p:nvPr/>
        </p:nvSpPr>
        <p:spPr>
          <a:xfrm>
            <a:off x="1283308" y="2325207"/>
            <a:ext cx="1474264"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Creates 100 decision trees in the forest.</a:t>
            </a:r>
            <a:endParaRPr lang="en-US" sz="568" dirty="0"/>
          </a:p>
        </p:txBody>
      </p:sp>
      <p:sp>
        <p:nvSpPr>
          <p:cNvPr id="19" name="Text 16"/>
          <p:cNvSpPr/>
          <p:nvPr/>
        </p:nvSpPr>
        <p:spPr>
          <a:xfrm>
            <a:off x="571500" y="2434484"/>
            <a:ext cx="699474"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random_state=42:</a:t>
            </a:r>
            <a:endParaRPr lang="en-US" sz="534" dirty="0"/>
          </a:p>
        </p:txBody>
      </p:sp>
      <p:sp>
        <p:nvSpPr>
          <p:cNvPr id="20" name="Text 17"/>
          <p:cNvSpPr/>
          <p:nvPr/>
        </p:nvSpPr>
        <p:spPr>
          <a:xfrm>
            <a:off x="1270974" y="2434484"/>
            <a:ext cx="1792830"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Ensures reproducibility (same results every run).</a:t>
            </a:r>
            <a:endParaRPr lang="en-US" sz="568" dirty="0"/>
          </a:p>
        </p:txBody>
      </p:sp>
      <p:sp>
        <p:nvSpPr>
          <p:cNvPr id="23" name="Shape 20"/>
          <p:cNvSpPr/>
          <p:nvPr/>
        </p:nvSpPr>
        <p:spPr>
          <a:xfrm>
            <a:off x="428625" y="2770910"/>
            <a:ext cx="2933709" cy="716440"/>
          </a:xfrm>
          <a:prstGeom prst="rect">
            <a:avLst/>
          </a:prstGeom>
          <a:solidFill>
            <a:srgbClr val="F8F9FA"/>
          </a:solidFill>
          <a:ln/>
        </p:spPr>
        <p:txBody>
          <a:bodyPr/>
          <a:lstStyle/>
          <a:p>
            <a:endParaRPr lang="en-MU"/>
          </a:p>
        </p:txBody>
      </p:sp>
      <p:sp>
        <p:nvSpPr>
          <p:cNvPr id="24" name="Shape 21"/>
          <p:cNvSpPr/>
          <p:nvPr/>
        </p:nvSpPr>
        <p:spPr>
          <a:xfrm>
            <a:off x="428625" y="2770910"/>
            <a:ext cx="28575" cy="716440"/>
          </a:xfrm>
          <a:prstGeom prst="rect">
            <a:avLst/>
          </a:prstGeom>
          <a:solidFill>
            <a:srgbClr val="007BFF"/>
          </a:solidFill>
          <a:ln/>
        </p:spPr>
        <p:txBody>
          <a:bodyPr/>
          <a:lstStyle/>
          <a:p>
            <a:endParaRPr lang="en-MU"/>
          </a:p>
        </p:txBody>
      </p:sp>
      <p:sp>
        <p:nvSpPr>
          <p:cNvPr id="25" name="Shape 22"/>
          <p:cNvSpPr/>
          <p:nvPr/>
        </p:nvSpPr>
        <p:spPr>
          <a:xfrm>
            <a:off x="485775" y="2828060"/>
            <a:ext cx="2819409" cy="245734"/>
          </a:xfrm>
          <a:prstGeom prst="rect">
            <a:avLst/>
          </a:prstGeom>
          <a:solidFill>
            <a:srgbClr val="1A1A1A"/>
          </a:solidFill>
          <a:ln/>
        </p:spPr>
        <p:txBody>
          <a:bodyPr/>
          <a:lstStyle/>
          <a:p>
            <a:endParaRPr lang="en-MU"/>
          </a:p>
        </p:txBody>
      </p:sp>
      <p:sp>
        <p:nvSpPr>
          <p:cNvPr id="26" name="Text 23"/>
          <p:cNvSpPr/>
          <p:nvPr/>
        </p:nvSpPr>
        <p:spPr>
          <a:xfrm>
            <a:off x="485775" y="2828060"/>
            <a:ext cx="2819409"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#3 – Train Model</a:t>
            </a:r>
            <a:endParaRPr lang="en-US" sz="568" dirty="0"/>
          </a:p>
          <a:p>
            <a:pPr marL="0" indent="0" algn="l">
              <a:lnSpc>
                <a:spcPts val="700"/>
              </a:lnSpc>
              <a:buNone/>
            </a:pPr>
            <a:r>
              <a:rPr lang="en-US" sz="568" dirty="0" err="1">
                <a:solidFill>
                  <a:srgbClr val="28A745"/>
                </a:solidFill>
              </a:rPr>
              <a:t>rf.fit</a:t>
            </a:r>
            <a:r>
              <a:rPr lang="en-US" sz="568" dirty="0">
                <a:solidFill>
                  <a:srgbClr val="28A745"/>
                </a:solidFill>
              </a:rPr>
              <a:t>(</a:t>
            </a:r>
            <a:r>
              <a:rPr lang="en-US" sz="568" dirty="0" err="1">
                <a:solidFill>
                  <a:srgbClr val="28A745"/>
                </a:solidFill>
              </a:rPr>
              <a:t>x_train</a:t>
            </a:r>
            <a:r>
              <a:rPr lang="en-US" sz="568" dirty="0">
                <a:solidFill>
                  <a:srgbClr val="28A745"/>
                </a:solidFill>
              </a:rPr>
              <a:t>, y_train)</a:t>
            </a:r>
            <a:endParaRPr lang="en-US" sz="568" dirty="0"/>
          </a:p>
        </p:txBody>
      </p:sp>
      <p:sp>
        <p:nvSpPr>
          <p:cNvPr id="27" name="Text 24"/>
          <p:cNvSpPr/>
          <p:nvPr/>
        </p:nvSpPr>
        <p:spPr>
          <a:xfrm>
            <a:off x="571500" y="3098797"/>
            <a:ext cx="186575"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.fit():</a:t>
            </a:r>
            <a:endParaRPr lang="en-US" sz="534" dirty="0"/>
          </a:p>
        </p:txBody>
      </p:sp>
      <p:sp>
        <p:nvSpPr>
          <p:cNvPr id="28" name="Text 25"/>
          <p:cNvSpPr/>
          <p:nvPr/>
        </p:nvSpPr>
        <p:spPr>
          <a:xfrm>
            <a:off x="758075" y="3098797"/>
            <a:ext cx="1482300"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Trains all 100 trees on the training data.</a:t>
            </a:r>
            <a:endParaRPr lang="en-US" sz="568" dirty="0"/>
          </a:p>
        </p:txBody>
      </p:sp>
      <p:sp>
        <p:nvSpPr>
          <p:cNvPr id="29" name="Text 26"/>
          <p:cNvSpPr/>
          <p:nvPr/>
        </p:nvSpPr>
        <p:spPr>
          <a:xfrm>
            <a:off x="571500" y="3208074"/>
            <a:ext cx="298391"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X_train:</a:t>
            </a:r>
            <a:endParaRPr lang="en-US" sz="534" dirty="0"/>
          </a:p>
        </p:txBody>
      </p:sp>
      <p:sp>
        <p:nvSpPr>
          <p:cNvPr id="30" name="Text 27"/>
          <p:cNvSpPr/>
          <p:nvPr/>
        </p:nvSpPr>
        <p:spPr>
          <a:xfrm>
            <a:off x="869891" y="3208074"/>
            <a:ext cx="1170961"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Training features (80% of data).</a:t>
            </a:r>
            <a:endParaRPr lang="en-US" sz="568" dirty="0"/>
          </a:p>
        </p:txBody>
      </p:sp>
      <p:sp>
        <p:nvSpPr>
          <p:cNvPr id="31" name="Text 28"/>
          <p:cNvSpPr/>
          <p:nvPr/>
        </p:nvSpPr>
        <p:spPr>
          <a:xfrm>
            <a:off x="571500" y="3317351"/>
            <a:ext cx="290689"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y_train:</a:t>
            </a:r>
            <a:endParaRPr lang="en-US" sz="534" dirty="0"/>
          </a:p>
        </p:txBody>
      </p:sp>
      <p:sp>
        <p:nvSpPr>
          <p:cNvPr id="32" name="Text 29"/>
          <p:cNvSpPr/>
          <p:nvPr/>
        </p:nvSpPr>
        <p:spPr>
          <a:xfrm>
            <a:off x="862189" y="3317351"/>
            <a:ext cx="1123187"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Training target (house prices).</a:t>
            </a:r>
            <a:endParaRPr lang="en-US" sz="568" dirty="0"/>
          </a:p>
        </p:txBody>
      </p:sp>
      <p:sp>
        <p:nvSpPr>
          <p:cNvPr id="33" name="Shape 30"/>
          <p:cNvSpPr/>
          <p:nvPr/>
        </p:nvSpPr>
        <p:spPr>
          <a:xfrm>
            <a:off x="428625" y="3544500"/>
            <a:ext cx="2933709" cy="716440"/>
          </a:xfrm>
          <a:prstGeom prst="rect">
            <a:avLst/>
          </a:prstGeom>
          <a:solidFill>
            <a:srgbClr val="F8F9FA"/>
          </a:solidFill>
          <a:ln/>
        </p:spPr>
        <p:txBody>
          <a:bodyPr/>
          <a:lstStyle/>
          <a:p>
            <a:endParaRPr lang="en-MU"/>
          </a:p>
        </p:txBody>
      </p:sp>
      <p:sp>
        <p:nvSpPr>
          <p:cNvPr id="34" name="Shape 31"/>
          <p:cNvSpPr/>
          <p:nvPr/>
        </p:nvSpPr>
        <p:spPr>
          <a:xfrm>
            <a:off x="428625" y="3544500"/>
            <a:ext cx="28575" cy="716440"/>
          </a:xfrm>
          <a:prstGeom prst="rect">
            <a:avLst/>
          </a:prstGeom>
          <a:solidFill>
            <a:srgbClr val="007BFF"/>
          </a:solidFill>
          <a:ln/>
        </p:spPr>
        <p:txBody>
          <a:bodyPr/>
          <a:lstStyle/>
          <a:p>
            <a:endParaRPr lang="en-MU"/>
          </a:p>
        </p:txBody>
      </p:sp>
      <p:sp>
        <p:nvSpPr>
          <p:cNvPr id="35" name="Shape 32"/>
          <p:cNvSpPr/>
          <p:nvPr/>
        </p:nvSpPr>
        <p:spPr>
          <a:xfrm>
            <a:off x="485775" y="3601650"/>
            <a:ext cx="2819409" cy="245734"/>
          </a:xfrm>
          <a:prstGeom prst="rect">
            <a:avLst/>
          </a:prstGeom>
          <a:solidFill>
            <a:srgbClr val="1A1A1A"/>
          </a:solidFill>
          <a:ln/>
        </p:spPr>
        <p:txBody>
          <a:bodyPr/>
          <a:lstStyle/>
          <a:p>
            <a:endParaRPr lang="en-MU"/>
          </a:p>
        </p:txBody>
      </p:sp>
      <p:sp>
        <p:nvSpPr>
          <p:cNvPr id="36" name="Text 33"/>
          <p:cNvSpPr/>
          <p:nvPr/>
        </p:nvSpPr>
        <p:spPr>
          <a:xfrm>
            <a:off x="485775" y="3601650"/>
            <a:ext cx="2819409" cy="245734"/>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#4 – Make Predictions</a:t>
            </a:r>
            <a:endParaRPr lang="en-US" sz="568" dirty="0"/>
          </a:p>
          <a:p>
            <a:pPr marL="0" indent="0" algn="l">
              <a:lnSpc>
                <a:spcPts val="700"/>
              </a:lnSpc>
              <a:buNone/>
            </a:pPr>
            <a:r>
              <a:rPr lang="en-US" sz="568" dirty="0">
                <a:solidFill>
                  <a:srgbClr val="28A745"/>
                </a:solidFill>
              </a:rPr>
              <a:t>y_pred_rf = </a:t>
            </a:r>
            <a:r>
              <a:rPr lang="en-US" sz="568" dirty="0" err="1">
                <a:solidFill>
                  <a:srgbClr val="28A745"/>
                </a:solidFill>
              </a:rPr>
              <a:t>rf.predict</a:t>
            </a:r>
            <a:r>
              <a:rPr lang="en-US" sz="568" dirty="0">
                <a:solidFill>
                  <a:srgbClr val="28A745"/>
                </a:solidFill>
              </a:rPr>
              <a:t>(</a:t>
            </a:r>
            <a:r>
              <a:rPr lang="en-US" sz="568" dirty="0" err="1">
                <a:solidFill>
                  <a:srgbClr val="28A745"/>
                </a:solidFill>
              </a:rPr>
              <a:t>x_test</a:t>
            </a:r>
            <a:r>
              <a:rPr lang="en-US" sz="568" dirty="0">
                <a:solidFill>
                  <a:srgbClr val="28A745"/>
                </a:solidFill>
              </a:rPr>
              <a:t>)</a:t>
            </a:r>
            <a:endParaRPr lang="en-US" sz="568" dirty="0"/>
          </a:p>
        </p:txBody>
      </p:sp>
      <p:sp>
        <p:nvSpPr>
          <p:cNvPr id="37" name="Text 34"/>
          <p:cNvSpPr/>
          <p:nvPr/>
        </p:nvSpPr>
        <p:spPr>
          <a:xfrm>
            <a:off x="571500" y="3872387"/>
            <a:ext cx="376582"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.predict():</a:t>
            </a:r>
            <a:endParaRPr lang="en-US" sz="534" dirty="0"/>
          </a:p>
        </p:txBody>
      </p:sp>
      <p:sp>
        <p:nvSpPr>
          <p:cNvPr id="38" name="Text 35"/>
          <p:cNvSpPr/>
          <p:nvPr/>
        </p:nvSpPr>
        <p:spPr>
          <a:xfrm>
            <a:off x="948082" y="3872387"/>
            <a:ext cx="1846185"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Uses trained model to predict prices for test data.</a:t>
            </a:r>
            <a:endParaRPr lang="en-US" sz="568" dirty="0"/>
          </a:p>
        </p:txBody>
      </p:sp>
      <p:sp>
        <p:nvSpPr>
          <p:cNvPr id="39" name="Text 36"/>
          <p:cNvSpPr/>
          <p:nvPr/>
        </p:nvSpPr>
        <p:spPr>
          <a:xfrm>
            <a:off x="571500" y="3981664"/>
            <a:ext cx="260831"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X_test:</a:t>
            </a:r>
            <a:endParaRPr lang="en-US" sz="534" dirty="0"/>
          </a:p>
        </p:txBody>
      </p:sp>
      <p:sp>
        <p:nvSpPr>
          <p:cNvPr id="40" name="Text 37"/>
          <p:cNvSpPr/>
          <p:nvPr/>
        </p:nvSpPr>
        <p:spPr>
          <a:xfrm>
            <a:off x="832331" y="3981664"/>
            <a:ext cx="1018738"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Test features (20% of data).</a:t>
            </a:r>
            <a:endParaRPr lang="en-US" sz="568" dirty="0"/>
          </a:p>
        </p:txBody>
      </p:sp>
      <p:sp>
        <p:nvSpPr>
          <p:cNvPr id="41" name="Text 38"/>
          <p:cNvSpPr/>
          <p:nvPr/>
        </p:nvSpPr>
        <p:spPr>
          <a:xfrm>
            <a:off x="571500" y="4090941"/>
            <a:ext cx="377837"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y_pred_rf:</a:t>
            </a:r>
            <a:endParaRPr lang="en-US" sz="534" dirty="0"/>
          </a:p>
        </p:txBody>
      </p:sp>
      <p:sp>
        <p:nvSpPr>
          <p:cNvPr id="42" name="Text 39"/>
          <p:cNvSpPr/>
          <p:nvPr/>
        </p:nvSpPr>
        <p:spPr>
          <a:xfrm>
            <a:off x="949337" y="4090941"/>
            <a:ext cx="1413374"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Predicted prices from Random Forest.</a:t>
            </a:r>
            <a:endParaRPr lang="en-US" sz="568" dirty="0"/>
          </a:p>
        </p:txBody>
      </p:sp>
      <p:sp>
        <p:nvSpPr>
          <p:cNvPr id="43" name="Shape 40"/>
          <p:cNvSpPr/>
          <p:nvPr/>
        </p:nvSpPr>
        <p:spPr>
          <a:xfrm>
            <a:off x="428625" y="4318090"/>
            <a:ext cx="2933709" cy="790485"/>
          </a:xfrm>
          <a:prstGeom prst="rect">
            <a:avLst/>
          </a:prstGeom>
          <a:solidFill>
            <a:srgbClr val="F8F9FA"/>
          </a:solidFill>
          <a:ln/>
        </p:spPr>
        <p:txBody>
          <a:bodyPr/>
          <a:lstStyle/>
          <a:p>
            <a:endParaRPr lang="en-MU"/>
          </a:p>
        </p:txBody>
      </p:sp>
      <p:sp>
        <p:nvSpPr>
          <p:cNvPr id="44" name="Shape 41"/>
          <p:cNvSpPr/>
          <p:nvPr/>
        </p:nvSpPr>
        <p:spPr>
          <a:xfrm>
            <a:off x="428625" y="4318090"/>
            <a:ext cx="28575" cy="684000"/>
          </a:xfrm>
          <a:prstGeom prst="rect">
            <a:avLst/>
          </a:prstGeom>
          <a:solidFill>
            <a:srgbClr val="007BFF"/>
          </a:solidFill>
          <a:ln/>
        </p:spPr>
        <p:txBody>
          <a:bodyPr/>
          <a:lstStyle/>
          <a:p>
            <a:endParaRPr lang="en-MU"/>
          </a:p>
        </p:txBody>
      </p:sp>
      <p:sp>
        <p:nvSpPr>
          <p:cNvPr id="45" name="Shape 42"/>
          <p:cNvSpPr/>
          <p:nvPr/>
        </p:nvSpPr>
        <p:spPr>
          <a:xfrm>
            <a:off x="485775" y="4375240"/>
            <a:ext cx="2819409" cy="514372"/>
          </a:xfrm>
          <a:prstGeom prst="rect">
            <a:avLst/>
          </a:prstGeom>
          <a:solidFill>
            <a:srgbClr val="1A1A1A"/>
          </a:solidFill>
          <a:ln/>
        </p:spPr>
        <p:txBody>
          <a:bodyPr/>
          <a:lstStyle/>
          <a:p>
            <a:endParaRPr lang="en-MU"/>
          </a:p>
        </p:txBody>
      </p:sp>
      <p:sp>
        <p:nvSpPr>
          <p:cNvPr id="46" name="Text 43"/>
          <p:cNvSpPr/>
          <p:nvPr/>
        </p:nvSpPr>
        <p:spPr>
          <a:xfrm>
            <a:off x="485775" y="4375240"/>
            <a:ext cx="2819409" cy="514372"/>
          </a:xfrm>
          <a:prstGeom prst="rect">
            <a:avLst/>
          </a:prstGeom>
          <a:noFill/>
          <a:ln/>
        </p:spPr>
        <p:txBody>
          <a:bodyPr wrap="square" lIns="51054" tIns="34036" rIns="51054" bIns="34036" rtlCol="0" anchor="t">
            <a:spAutoFit/>
          </a:bodyPr>
          <a:lstStyle/>
          <a:p>
            <a:pPr marL="0" indent="0" algn="l">
              <a:lnSpc>
                <a:spcPts val="700"/>
              </a:lnSpc>
              <a:buNone/>
            </a:pPr>
            <a:r>
              <a:rPr lang="en-US" sz="568" dirty="0">
                <a:solidFill>
                  <a:srgbClr val="28A745"/>
                </a:solidFill>
              </a:rPr>
              <a:t>#5 – Calculate Metrics</a:t>
            </a:r>
            <a:endParaRPr lang="en-US" sz="568" dirty="0"/>
          </a:p>
          <a:p>
            <a:pPr marL="0" indent="0" algn="l">
              <a:lnSpc>
                <a:spcPts val="700"/>
              </a:lnSpc>
              <a:buNone/>
            </a:pPr>
            <a:r>
              <a:rPr lang="en-US" sz="568" dirty="0">
                <a:solidFill>
                  <a:srgbClr val="28A745"/>
                </a:solidFill>
              </a:rPr>
              <a:t>rf_r2 = r2_score(y_test, y_pred_rf)</a:t>
            </a:r>
            <a:endParaRPr lang="en-US" sz="568" dirty="0"/>
          </a:p>
          <a:p>
            <a:pPr marL="0" indent="0" algn="l">
              <a:lnSpc>
                <a:spcPts val="700"/>
              </a:lnSpc>
              <a:buNone/>
            </a:pPr>
            <a:r>
              <a:rPr lang="en-US" sz="568" dirty="0">
                <a:solidFill>
                  <a:srgbClr val="28A745"/>
                </a:solidFill>
              </a:rPr>
              <a:t>rf_mae = mean_absolute_error(y_test, </a:t>
            </a:r>
            <a:r>
              <a:rPr lang="en-US" sz="568" dirty="0" err="1">
                <a:solidFill>
                  <a:srgbClr val="28A745"/>
                </a:solidFill>
              </a:rPr>
              <a:t>y_pred_rf</a:t>
            </a:r>
            <a:r>
              <a:rPr lang="en-US" sz="568" dirty="0">
                <a:solidFill>
                  <a:srgbClr val="28A745"/>
                </a:solidFill>
              </a:rPr>
              <a:t>)</a:t>
            </a:r>
          </a:p>
          <a:p>
            <a:pPr marL="0" indent="0" algn="l">
              <a:lnSpc>
                <a:spcPts val="700"/>
              </a:lnSpc>
              <a:buNone/>
            </a:pPr>
            <a:r>
              <a:rPr lang="en-US" sz="568" dirty="0" err="1">
                <a:solidFill>
                  <a:srgbClr val="28A745"/>
                </a:solidFill>
              </a:rPr>
              <a:t>mse_rf</a:t>
            </a:r>
            <a:r>
              <a:rPr lang="en-US" sz="568" dirty="0">
                <a:solidFill>
                  <a:srgbClr val="28A745"/>
                </a:solidFill>
              </a:rPr>
              <a:t> = </a:t>
            </a:r>
            <a:r>
              <a:rPr lang="en-US" sz="568" dirty="0" err="1">
                <a:solidFill>
                  <a:srgbClr val="28A745"/>
                </a:solidFill>
              </a:rPr>
              <a:t>mean_squared_error</a:t>
            </a:r>
            <a:r>
              <a:rPr lang="en-US" sz="568" dirty="0">
                <a:solidFill>
                  <a:srgbClr val="28A745"/>
                </a:solidFill>
              </a:rPr>
              <a:t>(</a:t>
            </a:r>
            <a:r>
              <a:rPr lang="en-US" sz="568" dirty="0" err="1">
                <a:solidFill>
                  <a:srgbClr val="28A745"/>
                </a:solidFill>
              </a:rPr>
              <a:t>y_test</a:t>
            </a:r>
            <a:r>
              <a:rPr lang="en-US" sz="568" dirty="0">
                <a:solidFill>
                  <a:srgbClr val="28A745"/>
                </a:solidFill>
              </a:rPr>
              <a:t>, </a:t>
            </a:r>
            <a:r>
              <a:rPr lang="en-US" sz="568" dirty="0" err="1">
                <a:solidFill>
                  <a:srgbClr val="28A745"/>
                </a:solidFill>
              </a:rPr>
              <a:t>y_pred_rf</a:t>
            </a:r>
            <a:r>
              <a:rPr lang="en-US" sz="568" dirty="0">
                <a:solidFill>
                  <a:srgbClr val="28A745"/>
                </a:solidFill>
              </a:rPr>
              <a:t>)</a:t>
            </a:r>
            <a:endParaRPr lang="en-US" sz="568" dirty="0"/>
          </a:p>
          <a:p>
            <a:pPr marL="0" indent="0" algn="l">
              <a:lnSpc>
                <a:spcPts val="700"/>
              </a:lnSpc>
              <a:buNone/>
            </a:pPr>
            <a:r>
              <a:rPr lang="en-US" sz="568" dirty="0">
                <a:solidFill>
                  <a:srgbClr val="28A745"/>
                </a:solidFill>
              </a:rPr>
              <a:t>rf_rmse = np.sqrt(mean_squared_error(y_test, y_pred_rf))</a:t>
            </a:r>
            <a:endParaRPr lang="en-US" sz="568" dirty="0"/>
          </a:p>
        </p:txBody>
      </p:sp>
      <p:sp>
        <p:nvSpPr>
          <p:cNvPr id="47" name="Text 44"/>
          <p:cNvSpPr/>
          <p:nvPr/>
        </p:nvSpPr>
        <p:spPr>
          <a:xfrm>
            <a:off x="571500" y="4888139"/>
            <a:ext cx="397232" cy="107156"/>
          </a:xfrm>
          <a:prstGeom prst="rect">
            <a:avLst/>
          </a:prstGeom>
          <a:noFill/>
          <a:ln/>
        </p:spPr>
        <p:txBody>
          <a:bodyPr wrap="none" lIns="0" tIns="0" rIns="0" bIns="0" rtlCol="0" anchor="t">
            <a:spAutoFit/>
          </a:bodyPr>
          <a:lstStyle/>
          <a:p>
            <a:pPr marL="0" indent="0" algn="l">
              <a:lnSpc>
                <a:spcPts val="800"/>
              </a:lnSpc>
              <a:buNone/>
            </a:pPr>
            <a:r>
              <a:rPr lang="en-US" sz="534" b="1" dirty="0">
                <a:solidFill>
                  <a:srgbClr val="1A1A1A"/>
                </a:solidFill>
              </a:rPr>
              <a:t>r2_score():</a:t>
            </a:r>
            <a:endParaRPr lang="en-US" sz="534" dirty="0"/>
          </a:p>
        </p:txBody>
      </p:sp>
      <p:sp>
        <p:nvSpPr>
          <p:cNvPr id="48" name="Text 45"/>
          <p:cNvSpPr/>
          <p:nvPr/>
        </p:nvSpPr>
        <p:spPr>
          <a:xfrm>
            <a:off x="968732" y="4888139"/>
            <a:ext cx="1348299" cy="107156"/>
          </a:xfrm>
          <a:prstGeom prst="rect">
            <a:avLst/>
          </a:prstGeom>
          <a:noFill/>
          <a:ln/>
        </p:spPr>
        <p:txBody>
          <a:bodyPr wrap="none" lIns="0" tIns="0" rIns="0" bIns="0" rtlCol="0" anchor="t">
            <a:spAutoFit/>
          </a:bodyPr>
          <a:lstStyle/>
          <a:p>
            <a:pPr marL="0" indent="0" algn="l">
              <a:lnSpc>
                <a:spcPts val="800"/>
              </a:lnSpc>
              <a:buNone/>
            </a:pPr>
            <a:r>
              <a:rPr lang="en-US" sz="568" dirty="0">
                <a:solidFill>
                  <a:srgbClr val="495057"/>
                </a:solidFill>
              </a:rPr>
              <a:t>Calculates R² (0-1 scale; 1 is perfect).</a:t>
            </a:r>
            <a:endParaRPr lang="en-US" sz="568" dirty="0"/>
          </a:p>
        </p:txBody>
      </p:sp>
      <p:sp>
        <p:nvSpPr>
          <p:cNvPr id="54" name="Text 51"/>
          <p:cNvSpPr/>
          <p:nvPr/>
        </p:nvSpPr>
        <p:spPr>
          <a:xfrm>
            <a:off x="3576647" y="1128713"/>
            <a:ext cx="2390784"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Model Parameters</a:t>
            </a:r>
            <a:endParaRPr lang="en-US" sz="683" dirty="0"/>
          </a:p>
        </p:txBody>
      </p:sp>
      <p:sp>
        <p:nvSpPr>
          <p:cNvPr id="55" name="Shape 52"/>
          <p:cNvSpPr/>
          <p:nvPr/>
        </p:nvSpPr>
        <p:spPr>
          <a:xfrm>
            <a:off x="3576647" y="1321594"/>
            <a:ext cx="2390784" cy="289992"/>
          </a:xfrm>
          <a:prstGeom prst="rect">
            <a:avLst/>
          </a:prstGeom>
          <a:solidFill>
            <a:srgbClr val="E6F0FF"/>
          </a:solidFill>
          <a:ln/>
        </p:spPr>
        <p:txBody>
          <a:bodyPr/>
          <a:lstStyle/>
          <a:p>
            <a:endParaRPr lang="en-MU"/>
          </a:p>
        </p:txBody>
      </p:sp>
      <p:sp>
        <p:nvSpPr>
          <p:cNvPr id="56" name="Shape 53"/>
          <p:cNvSpPr/>
          <p:nvPr/>
        </p:nvSpPr>
        <p:spPr>
          <a:xfrm>
            <a:off x="3576647" y="1321594"/>
            <a:ext cx="28575" cy="289992"/>
          </a:xfrm>
          <a:prstGeom prst="rect">
            <a:avLst/>
          </a:prstGeom>
          <a:solidFill>
            <a:srgbClr val="007BFF"/>
          </a:solidFill>
          <a:ln/>
        </p:spPr>
        <p:txBody>
          <a:bodyPr/>
          <a:lstStyle/>
          <a:p>
            <a:endParaRPr lang="en-MU"/>
          </a:p>
        </p:txBody>
      </p:sp>
      <p:sp>
        <p:nvSpPr>
          <p:cNvPr id="57" name="Text 54"/>
          <p:cNvSpPr/>
          <p:nvPr/>
        </p:nvSpPr>
        <p:spPr>
          <a:xfrm>
            <a:off x="3576647" y="1321594"/>
            <a:ext cx="2390784" cy="289992"/>
          </a:xfrm>
          <a:prstGeom prst="rect">
            <a:avLst/>
          </a:prstGeom>
          <a:noFill/>
          <a:ln/>
        </p:spPr>
        <p:txBody>
          <a:bodyPr wrap="square" lIns="51054" tIns="51054" rIns="51054" bIns="51054" rtlCol="0" anchor="t">
            <a:spAutoFit/>
          </a:bodyPr>
          <a:lstStyle/>
          <a:p>
            <a:pPr marL="0" indent="0" algn="l">
              <a:lnSpc>
                <a:spcPts val="800"/>
              </a:lnSpc>
              <a:buNone/>
            </a:pPr>
            <a:r>
              <a:rPr lang="en-US" sz="534" b="1" dirty="0">
                <a:solidFill>
                  <a:srgbClr val="007BFF"/>
                </a:solidFill>
              </a:rPr>
              <a:t>n_estimators=100:</a:t>
            </a:r>
            <a:r>
              <a:rPr lang="en-US" sz="568" dirty="0">
                <a:solidFill>
                  <a:srgbClr val="1A1A1A"/>
                </a:solidFill>
              </a:rPr>
              <a:t> Number of trees in the forest. More trees = better accuracy but slower training.</a:t>
            </a:r>
            <a:endParaRPr lang="en-US" sz="534" dirty="0"/>
          </a:p>
        </p:txBody>
      </p:sp>
      <p:sp>
        <p:nvSpPr>
          <p:cNvPr id="58" name="Shape 55"/>
          <p:cNvSpPr/>
          <p:nvPr/>
        </p:nvSpPr>
        <p:spPr>
          <a:xfrm>
            <a:off x="3576647" y="1654448"/>
            <a:ext cx="2390784" cy="289992"/>
          </a:xfrm>
          <a:prstGeom prst="rect">
            <a:avLst/>
          </a:prstGeom>
          <a:solidFill>
            <a:srgbClr val="E6F0FF"/>
          </a:solidFill>
          <a:ln/>
        </p:spPr>
        <p:txBody>
          <a:bodyPr/>
          <a:lstStyle/>
          <a:p>
            <a:endParaRPr lang="en-MU"/>
          </a:p>
        </p:txBody>
      </p:sp>
      <p:sp>
        <p:nvSpPr>
          <p:cNvPr id="59" name="Shape 56"/>
          <p:cNvSpPr/>
          <p:nvPr/>
        </p:nvSpPr>
        <p:spPr>
          <a:xfrm>
            <a:off x="3576647" y="1654448"/>
            <a:ext cx="28575" cy="289992"/>
          </a:xfrm>
          <a:prstGeom prst="rect">
            <a:avLst/>
          </a:prstGeom>
          <a:solidFill>
            <a:srgbClr val="007BFF"/>
          </a:solidFill>
          <a:ln/>
        </p:spPr>
        <p:txBody>
          <a:bodyPr/>
          <a:lstStyle/>
          <a:p>
            <a:endParaRPr lang="en-MU"/>
          </a:p>
        </p:txBody>
      </p:sp>
      <p:sp>
        <p:nvSpPr>
          <p:cNvPr id="60" name="Text 57"/>
          <p:cNvSpPr/>
          <p:nvPr/>
        </p:nvSpPr>
        <p:spPr>
          <a:xfrm>
            <a:off x="3576647" y="1654448"/>
            <a:ext cx="2390784" cy="289992"/>
          </a:xfrm>
          <a:prstGeom prst="rect">
            <a:avLst/>
          </a:prstGeom>
          <a:noFill/>
          <a:ln/>
        </p:spPr>
        <p:txBody>
          <a:bodyPr wrap="square" lIns="51054" tIns="51054" rIns="51054" bIns="51054" rtlCol="0" anchor="t">
            <a:spAutoFit/>
          </a:bodyPr>
          <a:lstStyle/>
          <a:p>
            <a:pPr marL="0" indent="0" algn="l">
              <a:lnSpc>
                <a:spcPts val="800"/>
              </a:lnSpc>
              <a:buNone/>
            </a:pPr>
            <a:r>
              <a:rPr lang="en-US" sz="534" b="1" dirty="0">
                <a:solidFill>
                  <a:srgbClr val="007BFF"/>
                </a:solidFill>
              </a:rPr>
              <a:t>random_state=42:</a:t>
            </a:r>
            <a:r>
              <a:rPr lang="en-US" sz="568" dirty="0">
                <a:solidFill>
                  <a:srgbClr val="1A1A1A"/>
                </a:solidFill>
              </a:rPr>
              <a:t> Seed for random number generator. Ensures consistent results across runs.</a:t>
            </a:r>
            <a:endParaRPr lang="en-US" sz="534" dirty="0"/>
          </a:p>
        </p:txBody>
      </p:sp>
      <p:sp>
        <p:nvSpPr>
          <p:cNvPr id="83" name="Shape 80"/>
          <p:cNvSpPr/>
          <p:nvPr/>
        </p:nvSpPr>
        <p:spPr>
          <a:xfrm>
            <a:off x="6181744" y="1057275"/>
            <a:ext cx="2533659" cy="2371725"/>
          </a:xfrm>
          <a:prstGeom prst="rect">
            <a:avLst/>
          </a:prstGeom>
          <a:solidFill>
            <a:srgbClr val="F8F9FA"/>
          </a:solidFill>
          <a:ln w="9144">
            <a:solidFill>
              <a:srgbClr val="E0E0E0"/>
            </a:solidFill>
            <a:prstDash val="solid"/>
          </a:ln>
        </p:spPr>
        <p:txBody>
          <a:bodyPr/>
          <a:lstStyle/>
          <a:p>
            <a:endParaRPr lang="en-MU"/>
          </a:p>
        </p:txBody>
      </p:sp>
      <p:sp>
        <p:nvSpPr>
          <p:cNvPr id="84" name="Text 81"/>
          <p:cNvSpPr/>
          <p:nvPr/>
        </p:nvSpPr>
        <p:spPr>
          <a:xfrm>
            <a:off x="6253181" y="1128713"/>
            <a:ext cx="2390784"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Performance Metrics</a:t>
            </a:r>
            <a:endParaRPr lang="en-US" sz="683" dirty="0"/>
          </a:p>
        </p:txBody>
      </p:sp>
      <p:sp>
        <p:nvSpPr>
          <p:cNvPr id="85" name="Shape 82"/>
          <p:cNvSpPr/>
          <p:nvPr/>
        </p:nvSpPr>
        <p:spPr>
          <a:xfrm>
            <a:off x="6253181" y="1321594"/>
            <a:ext cx="2390784" cy="635794"/>
          </a:xfrm>
          <a:prstGeom prst="rect">
            <a:avLst/>
          </a:prstGeom>
          <a:solidFill>
            <a:srgbClr val="E6F0FF"/>
          </a:solidFill>
          <a:ln/>
        </p:spPr>
        <p:txBody>
          <a:bodyPr/>
          <a:lstStyle/>
          <a:p>
            <a:endParaRPr lang="en-MU"/>
          </a:p>
        </p:txBody>
      </p:sp>
      <p:sp>
        <p:nvSpPr>
          <p:cNvPr id="86" name="Shape 83"/>
          <p:cNvSpPr/>
          <p:nvPr/>
        </p:nvSpPr>
        <p:spPr>
          <a:xfrm>
            <a:off x="6253181" y="1321594"/>
            <a:ext cx="28575" cy="635794"/>
          </a:xfrm>
          <a:prstGeom prst="rect">
            <a:avLst/>
          </a:prstGeom>
          <a:solidFill>
            <a:srgbClr val="007BFF"/>
          </a:solidFill>
          <a:ln/>
        </p:spPr>
        <p:txBody>
          <a:bodyPr/>
          <a:lstStyle/>
          <a:p>
            <a:endParaRPr lang="en-MU"/>
          </a:p>
        </p:txBody>
      </p:sp>
      <p:sp>
        <p:nvSpPr>
          <p:cNvPr id="87" name="Text 84"/>
          <p:cNvSpPr/>
          <p:nvPr/>
        </p:nvSpPr>
        <p:spPr>
          <a:xfrm>
            <a:off x="6310331" y="1378744"/>
            <a:ext cx="2276484" cy="107156"/>
          </a:xfrm>
          <a:prstGeom prst="rect">
            <a:avLst/>
          </a:prstGeom>
          <a:noFill/>
          <a:ln/>
        </p:spPr>
        <p:txBody>
          <a:bodyPr wrap="none" lIns="0" tIns="0" rIns="0" bIns="0" rtlCol="0" anchor="t">
            <a:spAutoFit/>
          </a:bodyPr>
          <a:lstStyle/>
          <a:p>
            <a:pPr marL="0" indent="0" algn="ctr">
              <a:lnSpc>
                <a:spcPts val="700"/>
              </a:lnSpc>
              <a:buNone/>
            </a:pPr>
            <a:r>
              <a:rPr lang="en-US" sz="568" dirty="0">
                <a:solidFill>
                  <a:srgbClr val="495057"/>
                </a:solidFill>
              </a:rPr>
              <a:t>R² Score (Coefficient of Determination)</a:t>
            </a:r>
            <a:endParaRPr lang="en-US" sz="568" dirty="0"/>
          </a:p>
        </p:txBody>
      </p:sp>
      <p:sp>
        <p:nvSpPr>
          <p:cNvPr id="88" name="Text 85"/>
          <p:cNvSpPr/>
          <p:nvPr/>
        </p:nvSpPr>
        <p:spPr>
          <a:xfrm>
            <a:off x="6310331" y="1514475"/>
            <a:ext cx="2276484"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7BFF"/>
                </a:solidFill>
              </a:rPr>
              <a:t>0.546</a:t>
            </a:r>
            <a:endParaRPr lang="en-US" sz="885" dirty="0"/>
          </a:p>
        </p:txBody>
      </p:sp>
      <p:sp>
        <p:nvSpPr>
          <p:cNvPr id="89" name="Text 86"/>
          <p:cNvSpPr/>
          <p:nvPr/>
        </p:nvSpPr>
        <p:spPr>
          <a:xfrm>
            <a:off x="6310331" y="1703784"/>
            <a:ext cx="2276484" cy="196453"/>
          </a:xfrm>
          <a:prstGeom prst="rect">
            <a:avLst/>
          </a:prstGeom>
          <a:noFill/>
          <a:ln/>
        </p:spPr>
        <p:txBody>
          <a:bodyPr wrap="square" lIns="0" tIns="0" rIns="0" bIns="0" rtlCol="0" anchor="t">
            <a:spAutoFit/>
          </a:bodyPr>
          <a:lstStyle/>
          <a:p>
            <a:pPr marL="0" indent="0" algn="ctr">
              <a:lnSpc>
                <a:spcPts val="700"/>
              </a:lnSpc>
              <a:buNone/>
            </a:pPr>
            <a:r>
              <a:rPr lang="en-US" sz="516" dirty="0">
                <a:solidFill>
                  <a:srgbClr val="495057"/>
                </a:solidFill>
              </a:rPr>
              <a:t>Model explains 54.6% of price variance. Good fit for real estate data.</a:t>
            </a:r>
            <a:endParaRPr lang="en-US" sz="516" dirty="0"/>
          </a:p>
        </p:txBody>
      </p:sp>
      <p:sp>
        <p:nvSpPr>
          <p:cNvPr id="90" name="Shape 87"/>
          <p:cNvSpPr/>
          <p:nvPr/>
        </p:nvSpPr>
        <p:spPr>
          <a:xfrm>
            <a:off x="6253181" y="2014538"/>
            <a:ext cx="2390784" cy="635794"/>
          </a:xfrm>
          <a:prstGeom prst="rect">
            <a:avLst/>
          </a:prstGeom>
          <a:solidFill>
            <a:srgbClr val="E6F0FF"/>
          </a:solidFill>
          <a:ln/>
        </p:spPr>
        <p:txBody>
          <a:bodyPr/>
          <a:lstStyle/>
          <a:p>
            <a:endParaRPr lang="en-MU"/>
          </a:p>
        </p:txBody>
      </p:sp>
      <p:sp>
        <p:nvSpPr>
          <p:cNvPr id="91" name="Shape 88"/>
          <p:cNvSpPr/>
          <p:nvPr/>
        </p:nvSpPr>
        <p:spPr>
          <a:xfrm>
            <a:off x="6253181" y="2014538"/>
            <a:ext cx="28575" cy="635794"/>
          </a:xfrm>
          <a:prstGeom prst="rect">
            <a:avLst/>
          </a:prstGeom>
          <a:solidFill>
            <a:srgbClr val="007BFF"/>
          </a:solidFill>
          <a:ln/>
        </p:spPr>
        <p:txBody>
          <a:bodyPr/>
          <a:lstStyle/>
          <a:p>
            <a:endParaRPr lang="en-MU"/>
          </a:p>
        </p:txBody>
      </p:sp>
      <p:sp>
        <p:nvSpPr>
          <p:cNvPr id="92" name="Text 89"/>
          <p:cNvSpPr/>
          <p:nvPr/>
        </p:nvSpPr>
        <p:spPr>
          <a:xfrm>
            <a:off x="6310331" y="2071688"/>
            <a:ext cx="2276484" cy="107156"/>
          </a:xfrm>
          <a:prstGeom prst="rect">
            <a:avLst/>
          </a:prstGeom>
          <a:noFill/>
          <a:ln/>
        </p:spPr>
        <p:txBody>
          <a:bodyPr wrap="none" lIns="0" tIns="0" rIns="0" bIns="0" rtlCol="0" anchor="t">
            <a:spAutoFit/>
          </a:bodyPr>
          <a:lstStyle/>
          <a:p>
            <a:pPr marL="0" indent="0" algn="ctr">
              <a:lnSpc>
                <a:spcPts val="700"/>
              </a:lnSpc>
              <a:buNone/>
            </a:pPr>
            <a:r>
              <a:rPr lang="en-US" sz="568" dirty="0">
                <a:solidFill>
                  <a:srgbClr val="495057"/>
                </a:solidFill>
              </a:rPr>
              <a:t>Mean Absolute Error (MAE)</a:t>
            </a:r>
            <a:endParaRPr lang="en-US" sz="568" dirty="0"/>
          </a:p>
        </p:txBody>
      </p:sp>
      <p:sp>
        <p:nvSpPr>
          <p:cNvPr id="93" name="Text 90"/>
          <p:cNvSpPr/>
          <p:nvPr/>
        </p:nvSpPr>
        <p:spPr>
          <a:xfrm>
            <a:off x="6310331" y="2207419"/>
            <a:ext cx="2276484"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7BFF"/>
                </a:solidFill>
              </a:rPr>
              <a:t>₨963,923</a:t>
            </a:r>
            <a:endParaRPr lang="en-US" sz="885" dirty="0"/>
          </a:p>
        </p:txBody>
      </p:sp>
      <p:sp>
        <p:nvSpPr>
          <p:cNvPr id="94" name="Text 91"/>
          <p:cNvSpPr/>
          <p:nvPr/>
        </p:nvSpPr>
        <p:spPr>
          <a:xfrm>
            <a:off x="6310331" y="2396728"/>
            <a:ext cx="2276484" cy="196453"/>
          </a:xfrm>
          <a:prstGeom prst="rect">
            <a:avLst/>
          </a:prstGeom>
          <a:noFill/>
          <a:ln/>
        </p:spPr>
        <p:txBody>
          <a:bodyPr wrap="square" lIns="0" tIns="0" rIns="0" bIns="0" rtlCol="0" anchor="t">
            <a:spAutoFit/>
          </a:bodyPr>
          <a:lstStyle/>
          <a:p>
            <a:pPr marL="0" indent="0" algn="ctr">
              <a:lnSpc>
                <a:spcPts val="700"/>
              </a:lnSpc>
              <a:buNone/>
            </a:pPr>
            <a:r>
              <a:rPr lang="en-US" sz="516" dirty="0">
                <a:solidFill>
                  <a:srgbClr val="495057"/>
                </a:solidFill>
              </a:rPr>
              <a:t>Average prediction error: ~964K rupees. Acceptable for house prices.</a:t>
            </a:r>
            <a:endParaRPr lang="en-US" sz="516" dirty="0"/>
          </a:p>
        </p:txBody>
      </p:sp>
      <p:sp>
        <p:nvSpPr>
          <p:cNvPr id="95" name="Shape 92"/>
          <p:cNvSpPr/>
          <p:nvPr/>
        </p:nvSpPr>
        <p:spPr>
          <a:xfrm>
            <a:off x="6253181" y="2707481"/>
            <a:ext cx="2390784" cy="635794"/>
          </a:xfrm>
          <a:prstGeom prst="rect">
            <a:avLst/>
          </a:prstGeom>
          <a:solidFill>
            <a:srgbClr val="E6F0FF"/>
          </a:solidFill>
          <a:ln/>
        </p:spPr>
        <p:txBody>
          <a:bodyPr/>
          <a:lstStyle/>
          <a:p>
            <a:endParaRPr lang="en-MU"/>
          </a:p>
        </p:txBody>
      </p:sp>
      <p:sp>
        <p:nvSpPr>
          <p:cNvPr id="96" name="Shape 93"/>
          <p:cNvSpPr/>
          <p:nvPr/>
        </p:nvSpPr>
        <p:spPr>
          <a:xfrm>
            <a:off x="6253181" y="2707481"/>
            <a:ext cx="28575" cy="635794"/>
          </a:xfrm>
          <a:prstGeom prst="rect">
            <a:avLst/>
          </a:prstGeom>
          <a:solidFill>
            <a:srgbClr val="007BFF"/>
          </a:solidFill>
          <a:ln/>
        </p:spPr>
        <p:txBody>
          <a:bodyPr/>
          <a:lstStyle/>
          <a:p>
            <a:endParaRPr lang="en-MU"/>
          </a:p>
        </p:txBody>
      </p:sp>
      <p:sp>
        <p:nvSpPr>
          <p:cNvPr id="97" name="Text 94"/>
          <p:cNvSpPr/>
          <p:nvPr/>
        </p:nvSpPr>
        <p:spPr>
          <a:xfrm>
            <a:off x="6310331" y="2764631"/>
            <a:ext cx="2276484" cy="107156"/>
          </a:xfrm>
          <a:prstGeom prst="rect">
            <a:avLst/>
          </a:prstGeom>
          <a:noFill/>
          <a:ln/>
        </p:spPr>
        <p:txBody>
          <a:bodyPr wrap="none" lIns="0" tIns="0" rIns="0" bIns="0" rtlCol="0" anchor="t">
            <a:spAutoFit/>
          </a:bodyPr>
          <a:lstStyle/>
          <a:p>
            <a:pPr marL="0" indent="0" algn="ctr">
              <a:lnSpc>
                <a:spcPts val="700"/>
              </a:lnSpc>
              <a:buNone/>
            </a:pPr>
            <a:r>
              <a:rPr lang="en-US" sz="568" dirty="0">
                <a:solidFill>
                  <a:srgbClr val="495057"/>
                </a:solidFill>
              </a:rPr>
              <a:t>Root Mean Squared Error (RMSE)</a:t>
            </a:r>
            <a:endParaRPr lang="en-US" sz="568" dirty="0"/>
          </a:p>
        </p:txBody>
      </p:sp>
      <p:sp>
        <p:nvSpPr>
          <p:cNvPr id="98" name="Text 95"/>
          <p:cNvSpPr/>
          <p:nvPr/>
        </p:nvSpPr>
        <p:spPr>
          <a:xfrm>
            <a:off x="6310331" y="2900363"/>
            <a:ext cx="2276484" cy="175022"/>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07BFF"/>
                </a:solidFill>
              </a:rPr>
              <a:t>₨1,247,156</a:t>
            </a:r>
            <a:endParaRPr lang="en-US" sz="885" dirty="0"/>
          </a:p>
        </p:txBody>
      </p:sp>
      <p:sp>
        <p:nvSpPr>
          <p:cNvPr id="99" name="Text 96"/>
          <p:cNvSpPr/>
          <p:nvPr/>
        </p:nvSpPr>
        <p:spPr>
          <a:xfrm>
            <a:off x="6310331" y="3089672"/>
            <a:ext cx="2276484" cy="196453"/>
          </a:xfrm>
          <a:prstGeom prst="rect">
            <a:avLst/>
          </a:prstGeom>
          <a:noFill/>
          <a:ln/>
        </p:spPr>
        <p:txBody>
          <a:bodyPr wrap="square" lIns="0" tIns="0" rIns="0" bIns="0" rtlCol="0" anchor="t">
            <a:spAutoFit/>
          </a:bodyPr>
          <a:lstStyle/>
          <a:p>
            <a:pPr marL="0" indent="0" algn="ctr">
              <a:lnSpc>
                <a:spcPts val="700"/>
              </a:lnSpc>
              <a:buNone/>
            </a:pPr>
            <a:r>
              <a:rPr lang="en-US" sz="516" dirty="0">
                <a:solidFill>
                  <a:srgbClr val="495057"/>
                </a:solidFill>
              </a:rPr>
              <a:t>Penalizes large errors more. Higher than MAE due to outlier predictions.</a:t>
            </a:r>
            <a:endParaRPr lang="en-US" sz="516" dirty="0"/>
          </a:p>
        </p:txBody>
      </p:sp>
      <p:sp>
        <p:nvSpPr>
          <p:cNvPr id="100" name="Shape 97"/>
          <p:cNvSpPr/>
          <p:nvPr/>
        </p:nvSpPr>
        <p:spPr>
          <a:xfrm>
            <a:off x="6181744" y="3486150"/>
            <a:ext cx="2533659" cy="1012906"/>
          </a:xfrm>
          <a:prstGeom prst="rect">
            <a:avLst/>
          </a:prstGeom>
          <a:solidFill>
            <a:srgbClr val="FFF3CD"/>
          </a:solidFill>
          <a:ln/>
        </p:spPr>
        <p:txBody>
          <a:bodyPr/>
          <a:lstStyle/>
          <a:p>
            <a:endParaRPr lang="en-MU"/>
          </a:p>
        </p:txBody>
      </p:sp>
      <p:sp>
        <p:nvSpPr>
          <p:cNvPr id="101" name="Shape 98"/>
          <p:cNvSpPr/>
          <p:nvPr/>
        </p:nvSpPr>
        <p:spPr>
          <a:xfrm>
            <a:off x="6181744" y="3486150"/>
            <a:ext cx="28575" cy="1012906"/>
          </a:xfrm>
          <a:prstGeom prst="rect">
            <a:avLst/>
          </a:prstGeom>
          <a:solidFill>
            <a:srgbClr val="FFA500"/>
          </a:solidFill>
          <a:ln/>
        </p:spPr>
        <p:txBody>
          <a:bodyPr/>
          <a:lstStyle/>
          <a:p>
            <a:endParaRPr lang="en-MU"/>
          </a:p>
        </p:txBody>
      </p:sp>
      <p:sp>
        <p:nvSpPr>
          <p:cNvPr id="102" name="Text 99"/>
          <p:cNvSpPr/>
          <p:nvPr/>
        </p:nvSpPr>
        <p:spPr>
          <a:xfrm>
            <a:off x="6253181" y="3557588"/>
            <a:ext cx="1018654" cy="107156"/>
          </a:xfrm>
          <a:prstGeom prst="rect">
            <a:avLst/>
          </a:prstGeom>
          <a:noFill/>
          <a:ln/>
        </p:spPr>
        <p:txBody>
          <a:bodyPr wrap="none" lIns="0" tIns="0" rIns="0" bIns="0" rtlCol="0" anchor="t">
            <a:spAutoFit/>
          </a:bodyPr>
          <a:lstStyle/>
          <a:p>
            <a:pPr marL="0" indent="0" algn="l">
              <a:lnSpc>
                <a:spcPts val="900"/>
              </a:lnSpc>
              <a:buNone/>
            </a:pPr>
            <a:r>
              <a:rPr lang="en-US" sz="534" b="1" dirty="0">
                <a:solidFill>
                  <a:srgbClr val="FFA500"/>
                </a:solidFill>
              </a:rPr>
              <a:t>Why Random Forest Wins:</a:t>
            </a:r>
            <a:endParaRPr lang="en-US" sz="534" dirty="0"/>
          </a:p>
        </p:txBody>
      </p:sp>
      <p:sp>
        <p:nvSpPr>
          <p:cNvPr id="103" name="Text 100"/>
          <p:cNvSpPr/>
          <p:nvPr/>
        </p:nvSpPr>
        <p:spPr>
          <a:xfrm>
            <a:off x="6353194" y="3696165"/>
            <a:ext cx="464871" cy="104644"/>
          </a:xfrm>
          <a:prstGeom prst="rect">
            <a:avLst/>
          </a:prstGeom>
          <a:noFill/>
          <a:ln/>
        </p:spPr>
        <p:txBody>
          <a:bodyPr wrap="none" lIns="0" tIns="0" rIns="0" bIns="0" rtlCol="0" anchor="t">
            <a:spAutoFit/>
          </a:bodyPr>
          <a:lstStyle/>
          <a:p>
            <a:pPr marL="0" indent="0" algn="l">
              <a:lnSpc>
                <a:spcPts val="900"/>
              </a:lnSpc>
              <a:buNone/>
            </a:pPr>
            <a:r>
              <a:rPr lang="en-US" sz="534" b="1" dirty="0">
                <a:solidFill>
                  <a:srgbClr val="FFA500"/>
                </a:solidFill>
              </a:rPr>
              <a:t>Highest R² Score</a:t>
            </a:r>
            <a:endParaRPr lang="en-US" sz="534" dirty="0"/>
          </a:p>
        </p:txBody>
      </p:sp>
      <p:sp>
        <p:nvSpPr>
          <p:cNvPr id="105" name="Text 102"/>
          <p:cNvSpPr/>
          <p:nvPr/>
        </p:nvSpPr>
        <p:spPr>
          <a:xfrm>
            <a:off x="6353194" y="3820455"/>
            <a:ext cx="354264" cy="104644"/>
          </a:xfrm>
          <a:prstGeom prst="rect">
            <a:avLst/>
          </a:prstGeom>
          <a:noFill/>
          <a:ln/>
        </p:spPr>
        <p:txBody>
          <a:bodyPr wrap="none" lIns="0" tIns="0" rIns="0" bIns="0" rtlCol="0" anchor="t">
            <a:spAutoFit/>
          </a:bodyPr>
          <a:lstStyle/>
          <a:p>
            <a:pPr marL="0" indent="0" algn="l">
              <a:lnSpc>
                <a:spcPts val="900"/>
              </a:lnSpc>
              <a:buNone/>
            </a:pPr>
            <a:r>
              <a:rPr lang="en-US" sz="534" b="1" dirty="0">
                <a:solidFill>
                  <a:srgbClr val="FFA500"/>
                </a:solidFill>
              </a:rPr>
              <a:t>Lowest MAE</a:t>
            </a:r>
            <a:endParaRPr lang="en-US" sz="534" dirty="0"/>
          </a:p>
        </p:txBody>
      </p:sp>
      <p:sp>
        <p:nvSpPr>
          <p:cNvPr id="107" name="Text 104"/>
          <p:cNvSpPr/>
          <p:nvPr/>
        </p:nvSpPr>
        <p:spPr>
          <a:xfrm>
            <a:off x="6353194" y="3944745"/>
            <a:ext cx="473608" cy="107156"/>
          </a:xfrm>
          <a:prstGeom prst="rect">
            <a:avLst/>
          </a:prstGeom>
          <a:noFill/>
          <a:ln/>
        </p:spPr>
        <p:txBody>
          <a:bodyPr wrap="none" lIns="0" tIns="0" rIns="0" bIns="0" rtlCol="0" anchor="t">
            <a:spAutoFit/>
          </a:bodyPr>
          <a:lstStyle/>
          <a:p>
            <a:pPr marL="0" indent="0" algn="l">
              <a:lnSpc>
                <a:spcPts val="900"/>
              </a:lnSpc>
              <a:buNone/>
            </a:pPr>
            <a:r>
              <a:rPr lang="en-US" sz="534" b="1" dirty="0">
                <a:solidFill>
                  <a:srgbClr val="FFA500"/>
                </a:solidFill>
              </a:rPr>
              <a:t>Robustness:</a:t>
            </a:r>
            <a:endParaRPr lang="en-US" sz="534" dirty="0"/>
          </a:p>
        </p:txBody>
      </p:sp>
      <p:sp>
        <p:nvSpPr>
          <p:cNvPr id="108" name="Text 105"/>
          <p:cNvSpPr/>
          <p:nvPr/>
        </p:nvSpPr>
        <p:spPr>
          <a:xfrm>
            <a:off x="6826802" y="3944745"/>
            <a:ext cx="1660587" cy="107156"/>
          </a:xfrm>
          <a:prstGeom prst="rect">
            <a:avLst/>
          </a:prstGeom>
          <a:noFill/>
          <a:ln/>
        </p:spPr>
        <p:txBody>
          <a:bodyPr wrap="none" lIns="0" tIns="0" rIns="0" bIns="0" rtlCol="0" anchor="t">
            <a:spAutoFit/>
          </a:bodyPr>
          <a:lstStyle/>
          <a:p>
            <a:pPr marL="0" indent="0" algn="l">
              <a:lnSpc>
                <a:spcPts val="900"/>
              </a:lnSpc>
              <a:buNone/>
            </a:pPr>
            <a:r>
              <a:rPr lang="en-US" sz="568" dirty="0">
                <a:solidFill>
                  <a:srgbClr val="1A1A1A"/>
                </a:solidFill>
              </a:rPr>
              <a:t>Ensemble averaging reduces overfitting risk.</a:t>
            </a:r>
            <a:endParaRPr lang="en-US" sz="568" dirty="0"/>
          </a:p>
        </p:txBody>
      </p:sp>
      <p:sp>
        <p:nvSpPr>
          <p:cNvPr id="109" name="Text 106"/>
          <p:cNvSpPr/>
          <p:nvPr/>
        </p:nvSpPr>
        <p:spPr>
          <a:xfrm>
            <a:off x="6353194" y="4069035"/>
            <a:ext cx="441015" cy="107156"/>
          </a:xfrm>
          <a:prstGeom prst="rect">
            <a:avLst/>
          </a:prstGeom>
          <a:noFill/>
          <a:ln/>
        </p:spPr>
        <p:txBody>
          <a:bodyPr wrap="none" lIns="0" tIns="0" rIns="0" bIns="0" rtlCol="0" anchor="t">
            <a:spAutoFit/>
          </a:bodyPr>
          <a:lstStyle/>
          <a:p>
            <a:pPr marL="0" indent="0" algn="l">
              <a:lnSpc>
                <a:spcPts val="900"/>
              </a:lnSpc>
              <a:buNone/>
            </a:pPr>
            <a:r>
              <a:rPr lang="en-US" sz="534" b="1" dirty="0">
                <a:solidFill>
                  <a:srgbClr val="FFA500"/>
                </a:solidFill>
              </a:rPr>
              <a:t>Non-linear:</a:t>
            </a:r>
            <a:endParaRPr lang="en-US" sz="534" dirty="0"/>
          </a:p>
        </p:txBody>
      </p:sp>
      <p:sp>
        <p:nvSpPr>
          <p:cNvPr id="110" name="Text 107"/>
          <p:cNvSpPr/>
          <p:nvPr/>
        </p:nvSpPr>
        <p:spPr>
          <a:xfrm>
            <a:off x="6353193" y="4165922"/>
            <a:ext cx="2288623" cy="217159"/>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1A1A1A"/>
                </a:solidFill>
              </a:rPr>
              <a:t>Captures complex relationships between features and price.</a:t>
            </a:r>
            <a:endParaRPr lang="en-US" sz="568" dirty="0"/>
          </a:p>
        </p:txBody>
      </p:sp>
      <p:sp>
        <p:nvSpPr>
          <p:cNvPr id="111" name="Text 108"/>
          <p:cNvSpPr/>
          <p:nvPr/>
        </p:nvSpPr>
        <p:spPr>
          <a:xfrm>
            <a:off x="6353194" y="4303328"/>
            <a:ext cx="807997" cy="107156"/>
          </a:xfrm>
          <a:prstGeom prst="rect">
            <a:avLst/>
          </a:prstGeom>
          <a:noFill/>
          <a:ln/>
        </p:spPr>
        <p:txBody>
          <a:bodyPr wrap="none" lIns="0" tIns="0" rIns="0" bIns="0" rtlCol="0" anchor="t">
            <a:spAutoFit/>
          </a:bodyPr>
          <a:lstStyle/>
          <a:p>
            <a:pPr marL="0" indent="0" algn="l">
              <a:lnSpc>
                <a:spcPts val="900"/>
              </a:lnSpc>
              <a:buNone/>
            </a:pPr>
            <a:r>
              <a:rPr lang="en-US" sz="534" b="1" dirty="0">
                <a:solidFill>
                  <a:srgbClr val="FFA500"/>
                </a:solidFill>
              </a:rPr>
              <a:t>Feature Importance:</a:t>
            </a:r>
            <a:endParaRPr lang="en-US" sz="534" dirty="0"/>
          </a:p>
        </p:txBody>
      </p:sp>
      <p:sp>
        <p:nvSpPr>
          <p:cNvPr id="112" name="Text 109"/>
          <p:cNvSpPr/>
          <p:nvPr/>
        </p:nvSpPr>
        <p:spPr>
          <a:xfrm>
            <a:off x="7161191" y="4303328"/>
            <a:ext cx="1411644" cy="107156"/>
          </a:xfrm>
          <a:prstGeom prst="rect">
            <a:avLst/>
          </a:prstGeom>
          <a:noFill/>
          <a:ln/>
        </p:spPr>
        <p:txBody>
          <a:bodyPr wrap="none" lIns="0" tIns="0" rIns="0" bIns="0" rtlCol="0" anchor="t">
            <a:spAutoFit/>
          </a:bodyPr>
          <a:lstStyle/>
          <a:p>
            <a:pPr marL="0" indent="0" algn="l">
              <a:lnSpc>
                <a:spcPts val="900"/>
              </a:lnSpc>
              <a:buNone/>
            </a:pPr>
            <a:r>
              <a:rPr lang="en-US" sz="568" dirty="0">
                <a:solidFill>
                  <a:srgbClr val="1A1A1A"/>
                </a:solidFill>
              </a:rPr>
              <a:t>Can rank which features matter most.</a:t>
            </a:r>
            <a:endParaRPr lang="en-US" sz="568" dirty="0"/>
          </a:p>
        </p:txBody>
      </p:sp>
      <p:sp>
        <p:nvSpPr>
          <p:cNvPr id="113" name="Shape 110"/>
          <p:cNvSpPr/>
          <p:nvPr/>
        </p:nvSpPr>
        <p:spPr>
          <a:xfrm>
            <a:off x="6181744" y="4613356"/>
            <a:ext cx="2533659" cy="420700"/>
          </a:xfrm>
          <a:prstGeom prst="rect">
            <a:avLst/>
          </a:prstGeom>
          <a:solidFill>
            <a:srgbClr val="E8F5E9"/>
          </a:solidFill>
          <a:ln/>
        </p:spPr>
        <p:txBody>
          <a:bodyPr/>
          <a:lstStyle/>
          <a:p>
            <a:endParaRPr lang="en-MU"/>
          </a:p>
        </p:txBody>
      </p:sp>
      <p:sp>
        <p:nvSpPr>
          <p:cNvPr id="114" name="Shape 111"/>
          <p:cNvSpPr/>
          <p:nvPr/>
        </p:nvSpPr>
        <p:spPr>
          <a:xfrm>
            <a:off x="6181744" y="4613356"/>
            <a:ext cx="28575" cy="420700"/>
          </a:xfrm>
          <a:prstGeom prst="rect">
            <a:avLst/>
          </a:prstGeom>
          <a:solidFill>
            <a:srgbClr val="28A745"/>
          </a:solidFill>
          <a:ln/>
        </p:spPr>
        <p:txBody>
          <a:bodyPr/>
          <a:lstStyle/>
          <a:p>
            <a:endParaRPr lang="en-MU"/>
          </a:p>
        </p:txBody>
      </p:sp>
      <p:sp>
        <p:nvSpPr>
          <p:cNvPr id="115" name="Text 112"/>
          <p:cNvSpPr/>
          <p:nvPr/>
        </p:nvSpPr>
        <p:spPr>
          <a:xfrm>
            <a:off x="6181744" y="4613356"/>
            <a:ext cx="2533659" cy="233654"/>
          </a:xfrm>
          <a:prstGeom prst="rect">
            <a:avLst/>
          </a:prstGeom>
          <a:noFill/>
          <a:ln/>
        </p:spPr>
        <p:txBody>
          <a:bodyPr wrap="square" lIns="68072" tIns="68072" rIns="68072" bIns="68072" rtlCol="0" anchor="t">
            <a:spAutoFit/>
          </a:bodyPr>
          <a:lstStyle/>
          <a:p>
            <a:pPr marL="0" indent="0" algn="l">
              <a:lnSpc>
                <a:spcPts val="800"/>
              </a:lnSpc>
              <a:buNone/>
            </a:pPr>
            <a:r>
              <a:rPr lang="en-US" sz="534" b="1" dirty="0">
                <a:solidFill>
                  <a:srgbClr val="28A745"/>
                </a:solidFill>
              </a:rPr>
              <a:t>Winner:</a:t>
            </a:r>
            <a:r>
              <a:rPr lang="en-US" sz="568" dirty="0">
                <a:solidFill>
                  <a:srgbClr val="1A1A1A"/>
                </a:solidFill>
              </a:rPr>
              <a:t> Random Forest achieves the best balance of accuracy.</a:t>
            </a:r>
            <a:endParaRPr lang="en-US" sz="53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23217" y="29527"/>
            <a:ext cx="9144000" cy="950119"/>
          </a:xfrm>
          <a:prstGeom prst="rect">
            <a:avLst/>
          </a:prstGeom>
          <a:solidFill>
            <a:srgbClr val="000000">
              <a:alpha val="0"/>
            </a:srgbClr>
          </a:solidFill>
          <a:ln/>
        </p:spPr>
        <p:txBody>
          <a:bodyPr/>
          <a:lstStyle/>
          <a:p>
            <a:endParaRPr lang="en-MU"/>
          </a:p>
        </p:txBody>
      </p:sp>
      <p:sp>
        <p:nvSpPr>
          <p:cNvPr id="4" name="Shape 1"/>
          <p:cNvSpPr/>
          <p:nvPr/>
        </p:nvSpPr>
        <p:spPr>
          <a:xfrm>
            <a:off x="0" y="935831"/>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1A"/>
                </a:solidFill>
              </a:rPr>
              <a:t>Random Forest: Actual vs. Predicted</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7BFF"/>
                </a:solidFill>
              </a:rPr>
              <a:t>Interactive scatter plot visualization showing model predictions against actual prices</a:t>
            </a:r>
            <a:endParaRPr lang="en-US" sz="987" dirty="0"/>
          </a:p>
        </p:txBody>
      </p:sp>
      <p:sp>
        <p:nvSpPr>
          <p:cNvPr id="7" name="Shape 4"/>
          <p:cNvSpPr/>
          <p:nvPr/>
        </p:nvSpPr>
        <p:spPr>
          <a:xfrm>
            <a:off x="428625" y="1021556"/>
            <a:ext cx="3834408" cy="575742"/>
          </a:xfrm>
          <a:prstGeom prst="rect">
            <a:avLst/>
          </a:prstGeom>
          <a:solidFill>
            <a:srgbClr val="F8F9FA"/>
          </a:solidFill>
          <a:ln/>
        </p:spPr>
        <p:txBody>
          <a:bodyPr/>
          <a:lstStyle/>
          <a:p>
            <a:endParaRPr lang="en-MU"/>
          </a:p>
        </p:txBody>
      </p:sp>
      <p:sp>
        <p:nvSpPr>
          <p:cNvPr id="8" name="Shape 5"/>
          <p:cNvSpPr/>
          <p:nvPr/>
        </p:nvSpPr>
        <p:spPr>
          <a:xfrm>
            <a:off x="428625" y="1021556"/>
            <a:ext cx="28575" cy="575742"/>
          </a:xfrm>
          <a:prstGeom prst="rect">
            <a:avLst/>
          </a:prstGeom>
          <a:solidFill>
            <a:srgbClr val="007BFF"/>
          </a:solidFill>
          <a:ln/>
        </p:spPr>
        <p:txBody>
          <a:bodyPr/>
          <a:lstStyle/>
          <a:p>
            <a:endParaRPr lang="en-MU"/>
          </a:p>
        </p:txBody>
      </p:sp>
      <p:sp>
        <p:nvSpPr>
          <p:cNvPr id="9" name="Shape 6"/>
          <p:cNvSpPr/>
          <p:nvPr/>
        </p:nvSpPr>
        <p:spPr>
          <a:xfrm>
            <a:off x="471488" y="1064419"/>
            <a:ext cx="3748683" cy="262868"/>
          </a:xfrm>
          <a:prstGeom prst="rect">
            <a:avLst/>
          </a:prstGeom>
          <a:solidFill>
            <a:srgbClr val="1A1A1A"/>
          </a:solidFill>
          <a:ln/>
        </p:spPr>
        <p:txBody>
          <a:bodyPr/>
          <a:lstStyle/>
          <a:p>
            <a:endParaRPr lang="en-MU"/>
          </a:p>
        </p:txBody>
      </p:sp>
      <p:sp>
        <p:nvSpPr>
          <p:cNvPr id="10" name="Text 7"/>
          <p:cNvSpPr/>
          <p:nvPr/>
        </p:nvSpPr>
        <p:spPr>
          <a:xfrm>
            <a:off x="471488" y="1064419"/>
            <a:ext cx="3748683" cy="269304"/>
          </a:xfrm>
          <a:prstGeom prst="rect">
            <a:avLst/>
          </a:prstGeom>
          <a:noFill/>
          <a:ln/>
        </p:spPr>
        <p:txBody>
          <a:bodyPr wrap="square" lIns="68072" tIns="34036" rIns="68072" bIns="34036" rtlCol="0" anchor="t">
            <a:spAutoFit/>
          </a:bodyPr>
          <a:lstStyle/>
          <a:p>
            <a:pPr marL="0" indent="0" algn="l">
              <a:lnSpc>
                <a:spcPts val="800"/>
              </a:lnSpc>
              <a:buNone/>
            </a:pPr>
            <a:r>
              <a:rPr lang="en-US" sz="621" dirty="0">
                <a:solidFill>
                  <a:srgbClr val="28A745"/>
                </a:solidFill>
              </a:rPr>
              <a:t>#1 – Create Figure</a:t>
            </a:r>
            <a:endParaRPr lang="en-US" sz="621" dirty="0"/>
          </a:p>
          <a:p>
            <a:pPr marL="0" indent="0" algn="l">
              <a:lnSpc>
                <a:spcPts val="800"/>
              </a:lnSpc>
              <a:buNone/>
            </a:pPr>
            <a:r>
              <a:rPr lang="en-US" sz="621" dirty="0">
                <a:solidFill>
                  <a:srgbClr val="28A745"/>
                </a:solidFill>
              </a:rPr>
              <a:t>plt.figure(</a:t>
            </a:r>
            <a:r>
              <a:rPr lang="en-US" sz="621" dirty="0" err="1">
                <a:solidFill>
                  <a:srgbClr val="28A745"/>
                </a:solidFill>
              </a:rPr>
              <a:t>figsize</a:t>
            </a:r>
            <a:r>
              <a:rPr lang="en-US" sz="621" dirty="0">
                <a:solidFill>
                  <a:srgbClr val="28A745"/>
                </a:solidFill>
              </a:rPr>
              <a:t>=(8,6))</a:t>
            </a:r>
            <a:endParaRPr lang="en-US" sz="621" dirty="0"/>
          </a:p>
        </p:txBody>
      </p:sp>
      <p:sp>
        <p:nvSpPr>
          <p:cNvPr id="11" name="Text 8"/>
          <p:cNvSpPr/>
          <p:nvPr/>
        </p:nvSpPr>
        <p:spPr>
          <a:xfrm>
            <a:off x="571500" y="1341574"/>
            <a:ext cx="48239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plt.figure():</a:t>
            </a:r>
            <a:endParaRPr lang="en-US" sz="584" dirty="0"/>
          </a:p>
        </p:txBody>
      </p:sp>
      <p:sp>
        <p:nvSpPr>
          <p:cNvPr id="12" name="Text 9"/>
          <p:cNvSpPr/>
          <p:nvPr/>
        </p:nvSpPr>
        <p:spPr>
          <a:xfrm>
            <a:off x="1053898" y="1341574"/>
            <a:ext cx="1558593"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Creates a new plotting canvas (figure).</a:t>
            </a:r>
            <a:endParaRPr lang="en-US" sz="621" dirty="0"/>
          </a:p>
        </p:txBody>
      </p:sp>
      <p:sp>
        <p:nvSpPr>
          <p:cNvPr id="13" name="Text 10"/>
          <p:cNvSpPr/>
          <p:nvPr/>
        </p:nvSpPr>
        <p:spPr>
          <a:xfrm>
            <a:off x="571500" y="1444433"/>
            <a:ext cx="395942" cy="96758"/>
          </a:xfrm>
          <a:prstGeom prst="rect">
            <a:avLst/>
          </a:prstGeom>
          <a:noFill/>
          <a:ln/>
        </p:spPr>
        <p:txBody>
          <a:bodyPr wrap="none" lIns="0" tIns="0" rIns="0" bIns="0" rtlCol="0" anchor="t">
            <a:spAutoFit/>
          </a:bodyPr>
          <a:lstStyle/>
          <a:p>
            <a:pPr marL="0" indent="0" algn="l">
              <a:lnSpc>
                <a:spcPts val="800"/>
              </a:lnSpc>
              <a:buNone/>
            </a:pPr>
            <a:r>
              <a:rPr lang="en-US" sz="584" b="1" dirty="0" err="1">
                <a:solidFill>
                  <a:srgbClr val="1A1A1A"/>
                </a:solidFill>
              </a:rPr>
              <a:t>figsize</a:t>
            </a:r>
            <a:r>
              <a:rPr lang="en-US" sz="584" b="1" dirty="0">
                <a:solidFill>
                  <a:srgbClr val="1A1A1A"/>
                </a:solidFill>
              </a:rPr>
              <a:t>=(8,6):</a:t>
            </a:r>
            <a:endParaRPr lang="en-US" sz="584" dirty="0"/>
          </a:p>
        </p:txBody>
      </p:sp>
      <p:sp>
        <p:nvSpPr>
          <p:cNvPr id="14" name="Text 11"/>
          <p:cNvSpPr/>
          <p:nvPr/>
        </p:nvSpPr>
        <p:spPr>
          <a:xfrm>
            <a:off x="1149474" y="1444433"/>
            <a:ext cx="1780937" cy="9797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Sets figure dimensions to 8 inches wide by 6 inches tall.</a:t>
            </a:r>
            <a:endParaRPr lang="en-US" sz="621" dirty="0"/>
          </a:p>
        </p:txBody>
      </p:sp>
      <p:sp>
        <p:nvSpPr>
          <p:cNvPr id="15" name="Shape 12"/>
          <p:cNvSpPr/>
          <p:nvPr/>
        </p:nvSpPr>
        <p:spPr>
          <a:xfrm>
            <a:off x="428625" y="1625873"/>
            <a:ext cx="3834408" cy="884318"/>
          </a:xfrm>
          <a:prstGeom prst="rect">
            <a:avLst/>
          </a:prstGeom>
          <a:solidFill>
            <a:srgbClr val="F8F9FA"/>
          </a:solidFill>
          <a:ln/>
        </p:spPr>
        <p:txBody>
          <a:bodyPr/>
          <a:lstStyle/>
          <a:p>
            <a:endParaRPr lang="en-MU"/>
          </a:p>
        </p:txBody>
      </p:sp>
      <p:sp>
        <p:nvSpPr>
          <p:cNvPr id="16" name="Shape 13"/>
          <p:cNvSpPr/>
          <p:nvPr/>
        </p:nvSpPr>
        <p:spPr>
          <a:xfrm>
            <a:off x="428625" y="1625873"/>
            <a:ext cx="28575" cy="884318"/>
          </a:xfrm>
          <a:prstGeom prst="rect">
            <a:avLst/>
          </a:prstGeom>
          <a:solidFill>
            <a:srgbClr val="007BFF"/>
          </a:solidFill>
          <a:ln/>
        </p:spPr>
        <p:txBody>
          <a:bodyPr/>
          <a:lstStyle/>
          <a:p>
            <a:endParaRPr lang="en-MU"/>
          </a:p>
        </p:txBody>
      </p:sp>
      <p:sp>
        <p:nvSpPr>
          <p:cNvPr id="17" name="Shape 14"/>
          <p:cNvSpPr/>
          <p:nvPr/>
        </p:nvSpPr>
        <p:spPr>
          <a:xfrm>
            <a:off x="471488" y="1668735"/>
            <a:ext cx="3748683" cy="262868"/>
          </a:xfrm>
          <a:prstGeom prst="rect">
            <a:avLst/>
          </a:prstGeom>
          <a:solidFill>
            <a:srgbClr val="1A1A1A"/>
          </a:solidFill>
          <a:ln/>
        </p:spPr>
        <p:txBody>
          <a:bodyPr/>
          <a:lstStyle/>
          <a:p>
            <a:endParaRPr lang="en-MU"/>
          </a:p>
        </p:txBody>
      </p:sp>
      <p:sp>
        <p:nvSpPr>
          <p:cNvPr id="18" name="Text 15"/>
          <p:cNvSpPr/>
          <p:nvPr/>
        </p:nvSpPr>
        <p:spPr>
          <a:xfrm>
            <a:off x="471488" y="1668735"/>
            <a:ext cx="3748683" cy="269304"/>
          </a:xfrm>
          <a:prstGeom prst="rect">
            <a:avLst/>
          </a:prstGeom>
          <a:noFill/>
          <a:ln/>
        </p:spPr>
        <p:txBody>
          <a:bodyPr wrap="square" lIns="68072" tIns="34036" rIns="68072" bIns="34036" rtlCol="0" anchor="t">
            <a:spAutoFit/>
          </a:bodyPr>
          <a:lstStyle/>
          <a:p>
            <a:pPr marL="0" indent="0" algn="l">
              <a:lnSpc>
                <a:spcPts val="800"/>
              </a:lnSpc>
              <a:buNone/>
            </a:pPr>
            <a:r>
              <a:rPr lang="en-US" sz="621" dirty="0">
                <a:solidFill>
                  <a:srgbClr val="28A745"/>
                </a:solidFill>
              </a:rPr>
              <a:t>#– Create Scatter Plot</a:t>
            </a:r>
            <a:endParaRPr lang="en-US" sz="621" dirty="0"/>
          </a:p>
          <a:p>
            <a:pPr marL="0" indent="0" algn="l">
              <a:lnSpc>
                <a:spcPts val="800"/>
              </a:lnSpc>
              <a:buNone/>
            </a:pPr>
            <a:r>
              <a:rPr lang="en-US" sz="621" dirty="0" err="1">
                <a:solidFill>
                  <a:srgbClr val="28A745"/>
                </a:solidFill>
              </a:rPr>
              <a:t>plt.scatterplot</a:t>
            </a:r>
            <a:r>
              <a:rPr lang="en-US" sz="621" dirty="0">
                <a:solidFill>
                  <a:srgbClr val="28A745"/>
                </a:solidFill>
              </a:rPr>
              <a:t>(x=</a:t>
            </a:r>
            <a:r>
              <a:rPr lang="en-US" sz="621" dirty="0" err="1">
                <a:solidFill>
                  <a:srgbClr val="28A745"/>
                </a:solidFill>
              </a:rPr>
              <a:t>y_test</a:t>
            </a:r>
            <a:r>
              <a:rPr lang="en-US" sz="621" dirty="0">
                <a:solidFill>
                  <a:srgbClr val="28A745"/>
                </a:solidFill>
              </a:rPr>
              <a:t>, y=</a:t>
            </a:r>
            <a:r>
              <a:rPr lang="en-US" sz="621" dirty="0" err="1">
                <a:solidFill>
                  <a:srgbClr val="28A745"/>
                </a:solidFill>
              </a:rPr>
              <a:t>y_pred_rf</a:t>
            </a:r>
            <a:r>
              <a:rPr lang="en-US" sz="621" dirty="0">
                <a:solidFill>
                  <a:srgbClr val="28A745"/>
                </a:solidFill>
              </a:rPr>
              <a:t>)</a:t>
            </a:r>
            <a:endParaRPr lang="en-US" sz="621" dirty="0"/>
          </a:p>
        </p:txBody>
      </p:sp>
      <p:sp>
        <p:nvSpPr>
          <p:cNvPr id="19" name="Text 16"/>
          <p:cNvSpPr/>
          <p:nvPr/>
        </p:nvSpPr>
        <p:spPr>
          <a:xfrm>
            <a:off x="571500" y="1945891"/>
            <a:ext cx="527047"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plt.scatter():</a:t>
            </a:r>
            <a:endParaRPr lang="en-US" sz="584" dirty="0"/>
          </a:p>
        </p:txBody>
      </p:sp>
      <p:sp>
        <p:nvSpPr>
          <p:cNvPr id="20" name="Text 17"/>
          <p:cNvSpPr/>
          <p:nvPr/>
        </p:nvSpPr>
        <p:spPr>
          <a:xfrm>
            <a:off x="1098547" y="1945891"/>
            <a:ext cx="1935761"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Creates a scatter plot (dots for each data point).</a:t>
            </a:r>
            <a:endParaRPr lang="en-US" sz="621" dirty="0"/>
          </a:p>
        </p:txBody>
      </p:sp>
      <p:sp>
        <p:nvSpPr>
          <p:cNvPr id="21" name="Text 18"/>
          <p:cNvSpPr/>
          <p:nvPr/>
        </p:nvSpPr>
        <p:spPr>
          <a:xfrm>
            <a:off x="571500" y="2048749"/>
            <a:ext cx="276123"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y_test:</a:t>
            </a:r>
            <a:endParaRPr lang="en-US" sz="584" dirty="0"/>
          </a:p>
        </p:txBody>
      </p:sp>
      <p:sp>
        <p:nvSpPr>
          <p:cNvPr id="22" name="Text 19"/>
          <p:cNvSpPr/>
          <p:nvPr/>
        </p:nvSpPr>
        <p:spPr>
          <a:xfrm>
            <a:off x="847623" y="2048749"/>
            <a:ext cx="1131252"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Actual house prices (x-axis).</a:t>
            </a:r>
            <a:endParaRPr lang="en-US" sz="621" dirty="0"/>
          </a:p>
        </p:txBody>
      </p:sp>
      <p:sp>
        <p:nvSpPr>
          <p:cNvPr id="23" name="Text 20"/>
          <p:cNvSpPr/>
          <p:nvPr/>
        </p:nvSpPr>
        <p:spPr>
          <a:xfrm>
            <a:off x="571500" y="2151608"/>
            <a:ext cx="412189"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y_pred_rf:</a:t>
            </a:r>
            <a:endParaRPr lang="en-US" sz="584" dirty="0"/>
          </a:p>
        </p:txBody>
      </p:sp>
      <p:sp>
        <p:nvSpPr>
          <p:cNvPr id="24" name="Text 21"/>
          <p:cNvSpPr/>
          <p:nvPr/>
        </p:nvSpPr>
        <p:spPr>
          <a:xfrm>
            <a:off x="983689" y="2151608"/>
            <a:ext cx="1261458"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Predicted house prices (y-axis).</a:t>
            </a:r>
            <a:endParaRPr lang="en-US" sz="621" dirty="0"/>
          </a:p>
        </p:txBody>
      </p:sp>
      <p:sp>
        <p:nvSpPr>
          <p:cNvPr id="29" name="Shape 26"/>
          <p:cNvSpPr/>
          <p:nvPr/>
        </p:nvSpPr>
        <p:spPr>
          <a:xfrm>
            <a:off x="428625" y="2538766"/>
            <a:ext cx="3834408" cy="1295753"/>
          </a:xfrm>
          <a:prstGeom prst="rect">
            <a:avLst/>
          </a:prstGeom>
          <a:solidFill>
            <a:srgbClr val="F8F9FA"/>
          </a:solidFill>
          <a:ln/>
        </p:spPr>
        <p:txBody>
          <a:bodyPr/>
          <a:lstStyle/>
          <a:p>
            <a:endParaRPr lang="en-MU"/>
          </a:p>
        </p:txBody>
      </p:sp>
      <p:sp>
        <p:nvSpPr>
          <p:cNvPr id="30" name="Shape 27"/>
          <p:cNvSpPr/>
          <p:nvPr/>
        </p:nvSpPr>
        <p:spPr>
          <a:xfrm>
            <a:off x="428625" y="2538766"/>
            <a:ext cx="28575" cy="1295753"/>
          </a:xfrm>
          <a:prstGeom prst="rect">
            <a:avLst/>
          </a:prstGeom>
          <a:solidFill>
            <a:srgbClr val="007BFF"/>
          </a:solidFill>
          <a:ln/>
        </p:spPr>
        <p:txBody>
          <a:bodyPr/>
          <a:lstStyle/>
          <a:p>
            <a:endParaRPr lang="en-MU"/>
          </a:p>
        </p:txBody>
      </p:sp>
      <p:sp>
        <p:nvSpPr>
          <p:cNvPr id="47" name="Shape 44"/>
          <p:cNvSpPr/>
          <p:nvPr/>
        </p:nvSpPr>
        <p:spPr>
          <a:xfrm>
            <a:off x="485775" y="2613049"/>
            <a:ext cx="3748683" cy="674303"/>
          </a:xfrm>
          <a:prstGeom prst="rect">
            <a:avLst/>
          </a:prstGeom>
          <a:solidFill>
            <a:srgbClr val="1A1A1A"/>
          </a:solidFill>
          <a:ln/>
        </p:spPr>
        <p:txBody>
          <a:bodyPr/>
          <a:lstStyle/>
          <a:p>
            <a:pPr>
              <a:lnSpc>
                <a:spcPts val="800"/>
              </a:lnSpc>
            </a:pPr>
            <a:r>
              <a:rPr lang="en-US" sz="570" dirty="0">
                <a:solidFill>
                  <a:srgbClr val="28A745"/>
                </a:solidFill>
              </a:rPr>
              <a:t>#Add Labels and Title</a:t>
            </a:r>
            <a:endParaRPr lang="en-US" sz="570" dirty="0"/>
          </a:p>
          <a:p>
            <a:pPr>
              <a:lnSpc>
                <a:spcPts val="800"/>
              </a:lnSpc>
            </a:pPr>
            <a:r>
              <a:rPr lang="en-US" sz="570" dirty="0" err="1">
                <a:solidFill>
                  <a:srgbClr val="28A745"/>
                </a:solidFill>
              </a:rPr>
              <a:t>plt.xlabel</a:t>
            </a:r>
            <a:r>
              <a:rPr lang="en-US" sz="570" dirty="0">
                <a:solidFill>
                  <a:srgbClr val="28A745"/>
                </a:solidFill>
              </a:rPr>
              <a:t>('Actual Price')</a:t>
            </a:r>
            <a:endParaRPr lang="en-US" sz="570" dirty="0"/>
          </a:p>
          <a:p>
            <a:pPr>
              <a:lnSpc>
                <a:spcPts val="800"/>
              </a:lnSpc>
            </a:pPr>
            <a:r>
              <a:rPr lang="en-US" sz="570" dirty="0" err="1">
                <a:solidFill>
                  <a:srgbClr val="28A745"/>
                </a:solidFill>
              </a:rPr>
              <a:t>plt.ylabel</a:t>
            </a:r>
            <a:r>
              <a:rPr lang="en-US" sz="570" dirty="0">
                <a:solidFill>
                  <a:srgbClr val="28A745"/>
                </a:solidFill>
              </a:rPr>
              <a:t>('Predicted Price')</a:t>
            </a:r>
            <a:endParaRPr lang="en-US" sz="570" dirty="0"/>
          </a:p>
          <a:p>
            <a:pPr>
              <a:lnSpc>
                <a:spcPts val="800"/>
              </a:lnSpc>
            </a:pPr>
            <a:r>
              <a:rPr lang="en-US" sz="570" dirty="0" err="1">
                <a:solidFill>
                  <a:srgbClr val="28A745"/>
                </a:solidFill>
              </a:rPr>
              <a:t>plt.title</a:t>
            </a:r>
            <a:r>
              <a:rPr lang="en-US" sz="570" dirty="0">
                <a:solidFill>
                  <a:srgbClr val="28A745"/>
                </a:solidFill>
              </a:rPr>
              <a:t>('Random Forest: Actual vs Predicted Prices')</a:t>
            </a:r>
            <a:endParaRPr lang="en-US" sz="570" dirty="0"/>
          </a:p>
          <a:p>
            <a:pPr>
              <a:lnSpc>
                <a:spcPts val="800"/>
              </a:lnSpc>
            </a:pPr>
            <a:r>
              <a:rPr lang="en-US" sz="570" dirty="0" err="1">
                <a:solidFill>
                  <a:srgbClr val="28A745"/>
                </a:solidFill>
              </a:rPr>
              <a:t>plt.plot</a:t>
            </a:r>
            <a:r>
              <a:rPr lang="en-US" sz="570" dirty="0">
                <a:solidFill>
                  <a:srgbClr val="28A745"/>
                </a:solidFill>
              </a:rPr>
              <a:t>([</a:t>
            </a:r>
            <a:r>
              <a:rPr lang="en-US" sz="570" dirty="0" err="1">
                <a:solidFill>
                  <a:srgbClr val="28A745"/>
                </a:solidFill>
              </a:rPr>
              <a:t>y_test.min</a:t>
            </a:r>
            <a:r>
              <a:rPr lang="en-US" sz="570" dirty="0">
                <a:solidFill>
                  <a:srgbClr val="28A745"/>
                </a:solidFill>
              </a:rPr>
              <a:t>(), </a:t>
            </a:r>
            <a:r>
              <a:rPr lang="en-US" sz="570" dirty="0" err="1">
                <a:solidFill>
                  <a:srgbClr val="28A745"/>
                </a:solidFill>
              </a:rPr>
              <a:t>y_test.max</a:t>
            </a:r>
            <a:r>
              <a:rPr lang="en-US" sz="570" dirty="0">
                <a:solidFill>
                  <a:srgbClr val="28A745"/>
                </a:solidFill>
              </a:rPr>
              <a:t>()], [</a:t>
            </a:r>
            <a:r>
              <a:rPr lang="en-US" sz="570" dirty="0" err="1">
                <a:solidFill>
                  <a:srgbClr val="28A745"/>
                </a:solidFill>
              </a:rPr>
              <a:t>y_test.min</a:t>
            </a:r>
            <a:r>
              <a:rPr lang="en-US" sz="570" dirty="0">
                <a:solidFill>
                  <a:srgbClr val="28A745"/>
                </a:solidFill>
              </a:rPr>
              <a:t>(), </a:t>
            </a:r>
            <a:r>
              <a:rPr lang="en-US" sz="570" dirty="0" err="1">
                <a:solidFill>
                  <a:srgbClr val="28A745"/>
                </a:solidFill>
              </a:rPr>
              <a:t>y_test.max</a:t>
            </a:r>
            <a:r>
              <a:rPr lang="en-US" sz="570" dirty="0">
                <a:solidFill>
                  <a:srgbClr val="28A745"/>
                </a:solidFill>
              </a:rPr>
              <a:t>()], ‘r—’)</a:t>
            </a:r>
            <a:endParaRPr lang="en-US" sz="570" dirty="0"/>
          </a:p>
          <a:p>
            <a:pPr>
              <a:lnSpc>
                <a:spcPts val="800"/>
              </a:lnSpc>
            </a:pPr>
            <a:r>
              <a:rPr lang="en-US" sz="570" dirty="0" err="1">
                <a:solidFill>
                  <a:srgbClr val="28A745"/>
                </a:solidFill>
              </a:rPr>
              <a:t>plt.show</a:t>
            </a:r>
            <a:r>
              <a:rPr lang="en-US" sz="570" dirty="0">
                <a:solidFill>
                  <a:srgbClr val="28A745"/>
                </a:solidFill>
              </a:rPr>
              <a:t>()</a:t>
            </a:r>
            <a:endParaRPr lang="en-US" sz="570" dirty="0"/>
          </a:p>
        </p:txBody>
      </p:sp>
      <p:sp>
        <p:nvSpPr>
          <p:cNvPr id="50" name="Text 47"/>
          <p:cNvSpPr/>
          <p:nvPr/>
        </p:nvSpPr>
        <p:spPr>
          <a:xfrm>
            <a:off x="1289726" y="3357610"/>
            <a:ext cx="954723"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Labels for x and y axes.</a:t>
            </a:r>
            <a:endParaRPr lang="en-US" sz="621" dirty="0"/>
          </a:p>
        </p:txBody>
      </p:sp>
      <p:sp>
        <p:nvSpPr>
          <p:cNvPr id="52" name="Text 49"/>
          <p:cNvSpPr/>
          <p:nvPr/>
        </p:nvSpPr>
        <p:spPr>
          <a:xfrm>
            <a:off x="915349" y="3460469"/>
            <a:ext cx="952853"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Title of the scatter plot.</a:t>
            </a:r>
            <a:endParaRPr lang="en-US" sz="621" dirty="0"/>
          </a:p>
        </p:txBody>
      </p:sp>
      <p:sp>
        <p:nvSpPr>
          <p:cNvPr id="57" name="Shape 54"/>
          <p:cNvSpPr/>
          <p:nvPr/>
        </p:nvSpPr>
        <p:spPr>
          <a:xfrm>
            <a:off x="4477345" y="1021556"/>
            <a:ext cx="4238030" cy="3643313"/>
          </a:xfrm>
          <a:prstGeom prst="rect">
            <a:avLst/>
          </a:prstGeom>
          <a:solidFill>
            <a:srgbClr val="F8F9FA"/>
          </a:solidFill>
          <a:ln w="9144">
            <a:solidFill>
              <a:srgbClr val="E0E0E0"/>
            </a:solidFill>
            <a:prstDash val="solid"/>
          </a:ln>
        </p:spPr>
        <p:txBody>
          <a:bodyPr/>
          <a:lstStyle/>
          <a:p>
            <a:endParaRPr lang="en-MU"/>
          </a:p>
        </p:txBody>
      </p:sp>
      <p:sp>
        <p:nvSpPr>
          <p:cNvPr id="58" name="Text 55"/>
          <p:cNvSpPr/>
          <p:nvPr/>
        </p:nvSpPr>
        <p:spPr>
          <a:xfrm>
            <a:off x="4548783" y="1092994"/>
            <a:ext cx="4095155"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Actual vs. Predicted House Prices (Random Forest)</a:t>
            </a:r>
            <a:endParaRPr lang="en-US" sz="683" dirty="0"/>
          </a:p>
        </p:txBody>
      </p:sp>
      <p:sp>
        <p:nvSpPr>
          <p:cNvPr id="60" name="Shape 56"/>
          <p:cNvSpPr/>
          <p:nvPr/>
        </p:nvSpPr>
        <p:spPr>
          <a:xfrm>
            <a:off x="4477345" y="4707731"/>
            <a:ext cx="4238030" cy="448577"/>
          </a:xfrm>
          <a:prstGeom prst="rect">
            <a:avLst/>
          </a:prstGeom>
          <a:solidFill>
            <a:srgbClr val="E6F0FF"/>
          </a:solidFill>
          <a:ln/>
        </p:spPr>
        <p:txBody>
          <a:bodyPr/>
          <a:lstStyle/>
          <a:p>
            <a:endParaRPr lang="en-MU"/>
          </a:p>
        </p:txBody>
      </p:sp>
      <p:sp>
        <p:nvSpPr>
          <p:cNvPr id="61" name="Shape 57"/>
          <p:cNvSpPr/>
          <p:nvPr/>
        </p:nvSpPr>
        <p:spPr>
          <a:xfrm>
            <a:off x="4477345" y="4707731"/>
            <a:ext cx="28575" cy="448577"/>
          </a:xfrm>
          <a:prstGeom prst="rect">
            <a:avLst/>
          </a:prstGeom>
          <a:solidFill>
            <a:srgbClr val="007BFF"/>
          </a:solidFill>
          <a:ln/>
        </p:spPr>
        <p:txBody>
          <a:bodyPr/>
          <a:lstStyle/>
          <a:p>
            <a:endParaRPr lang="en-MU"/>
          </a:p>
        </p:txBody>
      </p:sp>
      <p:sp>
        <p:nvSpPr>
          <p:cNvPr id="62" name="Text 58"/>
          <p:cNvSpPr/>
          <p:nvPr/>
        </p:nvSpPr>
        <p:spPr>
          <a:xfrm>
            <a:off x="4477345" y="4707731"/>
            <a:ext cx="4238030" cy="475900"/>
          </a:xfrm>
          <a:prstGeom prst="rect">
            <a:avLst/>
          </a:prstGeom>
          <a:noFill/>
          <a:ln/>
        </p:spPr>
        <p:txBody>
          <a:bodyPr wrap="square" lIns="68072" tIns="68072" rIns="68072" bIns="68072" rtlCol="0" anchor="t">
            <a:spAutoFit/>
          </a:bodyPr>
          <a:lstStyle/>
          <a:p>
            <a:pPr marL="0" indent="0" algn="l">
              <a:lnSpc>
                <a:spcPts val="900"/>
              </a:lnSpc>
              <a:buNone/>
            </a:pPr>
            <a:r>
              <a:rPr lang="en-US" sz="584" b="1" dirty="0">
                <a:solidFill>
                  <a:srgbClr val="007BFF"/>
                </a:solidFill>
              </a:rPr>
              <a:t>How to Interpret:</a:t>
            </a:r>
            <a:r>
              <a:rPr lang="en-US" sz="621" dirty="0">
                <a:solidFill>
                  <a:srgbClr val="495057"/>
                </a:solidFill>
              </a:rPr>
              <a:t> Each blue dot represents one house. X-axis = actual price, Y-axis = predicted price. The red dashed diagonal line represents perfect predictions (actual = predicted). Points close to the line = accurate predictions. Points far from the line = prediction errors.</a:t>
            </a:r>
            <a:endParaRPr lang="en-US" sz="584" dirty="0"/>
          </a:p>
        </p:txBody>
      </p:sp>
      <p:pic>
        <p:nvPicPr>
          <p:cNvPr id="66" name="Picture 65">
            <a:extLst>
              <a:ext uri="{FF2B5EF4-FFF2-40B4-BE49-F238E27FC236}">
                <a16:creationId xmlns:a16="http://schemas.microsoft.com/office/drawing/2014/main" id="{13D815A8-750E-867B-3253-44C7BB947ED1}"/>
              </a:ext>
            </a:extLst>
          </p:cNvPr>
          <p:cNvPicPr>
            <a:picLocks noChangeAspect="1"/>
          </p:cNvPicPr>
          <p:nvPr/>
        </p:nvPicPr>
        <p:blipFill>
          <a:blip r:embed="rId3"/>
          <a:stretch>
            <a:fillRect/>
          </a:stretch>
        </p:blipFill>
        <p:spPr>
          <a:xfrm>
            <a:off x="4604573" y="1399617"/>
            <a:ext cx="3967927" cy="3141036"/>
          </a:xfrm>
          <a:prstGeom prst="rect">
            <a:avLst/>
          </a:prstGeom>
        </p:spPr>
      </p:pic>
      <p:sp>
        <p:nvSpPr>
          <p:cNvPr id="67" name="Text 46">
            <a:extLst>
              <a:ext uri="{FF2B5EF4-FFF2-40B4-BE49-F238E27FC236}">
                <a16:creationId xmlns:a16="http://schemas.microsoft.com/office/drawing/2014/main" id="{9C1677F4-B861-F70B-B82C-733254FD5DC8}"/>
              </a:ext>
            </a:extLst>
          </p:cNvPr>
          <p:cNvSpPr/>
          <p:nvPr/>
        </p:nvSpPr>
        <p:spPr>
          <a:xfrm>
            <a:off x="571500" y="3370837"/>
            <a:ext cx="71822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plt.xlabel/ylabel:</a:t>
            </a:r>
            <a:endParaRPr lang="en-US" sz="584" dirty="0"/>
          </a:p>
        </p:txBody>
      </p:sp>
      <p:sp>
        <p:nvSpPr>
          <p:cNvPr id="68" name="Text 48">
            <a:extLst>
              <a:ext uri="{FF2B5EF4-FFF2-40B4-BE49-F238E27FC236}">
                <a16:creationId xmlns:a16="http://schemas.microsoft.com/office/drawing/2014/main" id="{1FA6225E-B03A-F1EE-C148-D09888134D26}"/>
              </a:ext>
            </a:extLst>
          </p:cNvPr>
          <p:cNvSpPr/>
          <p:nvPr/>
        </p:nvSpPr>
        <p:spPr>
          <a:xfrm>
            <a:off x="571500" y="3473696"/>
            <a:ext cx="343849"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plt.title:</a:t>
            </a:r>
            <a:endParaRPr lang="en-US" sz="584" dirty="0"/>
          </a:p>
        </p:txBody>
      </p:sp>
      <p:sp>
        <p:nvSpPr>
          <p:cNvPr id="69" name="Text 50">
            <a:extLst>
              <a:ext uri="{FF2B5EF4-FFF2-40B4-BE49-F238E27FC236}">
                <a16:creationId xmlns:a16="http://schemas.microsoft.com/office/drawing/2014/main" id="{3D57F51E-C5BF-949E-6743-7DD5AECA6080}"/>
              </a:ext>
            </a:extLst>
          </p:cNvPr>
          <p:cNvSpPr/>
          <p:nvPr/>
        </p:nvSpPr>
        <p:spPr>
          <a:xfrm>
            <a:off x="571500" y="3576555"/>
            <a:ext cx="294953" cy="96758"/>
          </a:xfrm>
          <a:prstGeom prst="rect">
            <a:avLst/>
          </a:prstGeom>
          <a:noFill/>
          <a:ln/>
        </p:spPr>
        <p:txBody>
          <a:bodyPr wrap="none" lIns="0" tIns="0" rIns="0" bIns="0" rtlCol="0" anchor="t">
            <a:spAutoFit/>
          </a:bodyPr>
          <a:lstStyle/>
          <a:p>
            <a:pPr marL="0" indent="0" algn="l">
              <a:lnSpc>
                <a:spcPts val="800"/>
              </a:lnSpc>
              <a:buNone/>
            </a:pPr>
            <a:r>
              <a:rPr lang="en-US" sz="584" b="1" dirty="0" err="1">
                <a:solidFill>
                  <a:srgbClr val="1A1A1A"/>
                </a:solidFill>
              </a:rPr>
              <a:t>plt.plot</a:t>
            </a:r>
            <a:r>
              <a:rPr lang="en-US" sz="584" b="1" dirty="0">
                <a:solidFill>
                  <a:srgbClr val="1A1A1A"/>
                </a:solidFill>
              </a:rPr>
              <a:t>():</a:t>
            </a:r>
            <a:endParaRPr lang="en-US" sz="584" dirty="0"/>
          </a:p>
        </p:txBody>
      </p:sp>
      <p:sp>
        <p:nvSpPr>
          <p:cNvPr id="70" name="Text 51">
            <a:extLst>
              <a:ext uri="{FF2B5EF4-FFF2-40B4-BE49-F238E27FC236}">
                <a16:creationId xmlns:a16="http://schemas.microsoft.com/office/drawing/2014/main" id="{98AA976F-91C1-0252-4F6F-346F1598B26C}"/>
              </a:ext>
            </a:extLst>
          </p:cNvPr>
          <p:cNvSpPr/>
          <p:nvPr/>
        </p:nvSpPr>
        <p:spPr>
          <a:xfrm>
            <a:off x="969708" y="3576555"/>
            <a:ext cx="1378381"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Adds grid lines for easier reading.</a:t>
            </a:r>
            <a:endParaRPr lang="en-US" sz="621" dirty="0"/>
          </a:p>
        </p:txBody>
      </p:sp>
      <p:sp>
        <p:nvSpPr>
          <p:cNvPr id="71" name="Text 52">
            <a:extLst>
              <a:ext uri="{FF2B5EF4-FFF2-40B4-BE49-F238E27FC236}">
                <a16:creationId xmlns:a16="http://schemas.microsoft.com/office/drawing/2014/main" id="{46C911C8-944D-A5F2-717C-F45CA0FE0F4E}"/>
              </a:ext>
            </a:extLst>
          </p:cNvPr>
          <p:cNvSpPr/>
          <p:nvPr/>
        </p:nvSpPr>
        <p:spPr>
          <a:xfrm>
            <a:off x="571500" y="3679414"/>
            <a:ext cx="44827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1A1A1A"/>
                </a:solidFill>
              </a:rPr>
              <a:t>plt.show():</a:t>
            </a:r>
            <a:endParaRPr lang="en-US" sz="584" dirty="0"/>
          </a:p>
        </p:txBody>
      </p:sp>
      <p:sp>
        <p:nvSpPr>
          <p:cNvPr id="72" name="Text 53">
            <a:extLst>
              <a:ext uri="{FF2B5EF4-FFF2-40B4-BE49-F238E27FC236}">
                <a16:creationId xmlns:a16="http://schemas.microsoft.com/office/drawing/2014/main" id="{F241E5A0-C6B2-F52B-B248-247CA00E90E8}"/>
              </a:ext>
            </a:extLst>
          </p:cNvPr>
          <p:cNvSpPr/>
          <p:nvPr/>
        </p:nvSpPr>
        <p:spPr>
          <a:xfrm>
            <a:off x="1019770" y="3679414"/>
            <a:ext cx="1128238" cy="116086"/>
          </a:xfrm>
          <a:prstGeom prst="rect">
            <a:avLst/>
          </a:prstGeom>
          <a:noFill/>
          <a:ln/>
        </p:spPr>
        <p:txBody>
          <a:bodyPr wrap="none" lIns="0" tIns="0" rIns="0" bIns="0" rtlCol="0" anchor="t">
            <a:spAutoFit/>
          </a:bodyPr>
          <a:lstStyle/>
          <a:p>
            <a:pPr marL="0" indent="0" algn="l">
              <a:lnSpc>
                <a:spcPts val="800"/>
              </a:lnSpc>
              <a:buNone/>
            </a:pPr>
            <a:r>
              <a:rPr lang="en-US" sz="621" dirty="0">
                <a:solidFill>
                  <a:srgbClr val="495057"/>
                </a:solidFill>
              </a:rPr>
              <a:t>Displays the plot on screen.</a:t>
            </a:r>
            <a:endParaRPr lang="en-US" sz="62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4" name="Shape 1"/>
          <p:cNvSpPr/>
          <p:nvPr/>
        </p:nvSpPr>
        <p:spPr>
          <a:xfrm>
            <a:off x="0" y="914400"/>
            <a:ext cx="9144000" cy="14288"/>
          </a:xfrm>
          <a:prstGeom prst="rect">
            <a:avLst/>
          </a:prstGeom>
          <a:solidFill>
            <a:srgbClr val="E0E0E0"/>
          </a:solidFill>
          <a:ln/>
        </p:spPr>
        <p:txBody>
          <a:bodyPr/>
          <a:lstStyle/>
          <a:p>
            <a:endParaRPr lang="en-MU"/>
          </a:p>
        </p:txBody>
      </p:sp>
      <p:sp>
        <p:nvSpPr>
          <p:cNvPr id="5" name="Text 2"/>
          <p:cNvSpPr/>
          <p:nvPr/>
        </p:nvSpPr>
        <p:spPr>
          <a:xfrm>
            <a:off x="428625" y="285750"/>
            <a:ext cx="1930913" cy="265778"/>
          </a:xfrm>
          <a:prstGeom prst="rect">
            <a:avLst/>
          </a:prstGeom>
          <a:noFill/>
          <a:ln/>
        </p:spPr>
        <p:txBody>
          <a:bodyPr wrap="none" lIns="0" tIns="0" rIns="0" bIns="0" rtlCol="0" anchor="t">
            <a:spAutoFit/>
          </a:bodyPr>
          <a:lstStyle/>
          <a:p>
            <a:pPr>
              <a:lnSpc>
                <a:spcPts val="2200"/>
              </a:lnSpc>
            </a:pPr>
            <a:r>
              <a:rPr lang="en-US" sz="1602" b="1" dirty="0">
                <a:solidFill>
                  <a:srgbClr val="1A1A1A"/>
                </a:solidFill>
              </a:rPr>
              <a:t>Building the Calculator</a:t>
            </a:r>
            <a:endParaRPr lang="en-US" sz="1602" dirty="0"/>
          </a:p>
        </p:txBody>
      </p:sp>
      <p:sp>
        <p:nvSpPr>
          <p:cNvPr id="6" name="Text 3"/>
          <p:cNvSpPr/>
          <p:nvPr/>
        </p:nvSpPr>
        <p:spPr>
          <a:xfrm>
            <a:off x="428625" y="634008"/>
            <a:ext cx="2032608" cy="347596"/>
          </a:xfrm>
          <a:prstGeom prst="rect">
            <a:avLst/>
          </a:prstGeom>
          <a:noFill/>
          <a:ln/>
        </p:spPr>
        <p:txBody>
          <a:bodyPr wrap="none" lIns="0" tIns="0" rIns="0" bIns="0" rtlCol="0" anchor="t">
            <a:spAutoFit/>
          </a:bodyPr>
          <a:lstStyle/>
          <a:p>
            <a:pPr>
              <a:lnSpc>
                <a:spcPts val="1400"/>
              </a:lnSpc>
            </a:pPr>
            <a:r>
              <a:rPr lang="en-US" sz="987" b="1" dirty="0">
                <a:solidFill>
                  <a:srgbClr val="007BFF"/>
                </a:solidFill>
              </a:rPr>
              <a:t>Interactive House Price Prediction Tool</a:t>
            </a:r>
            <a:endParaRPr lang="en-US" sz="987" dirty="0"/>
          </a:p>
          <a:p>
            <a:pPr marL="0" indent="0" algn="l">
              <a:lnSpc>
                <a:spcPts val="1400"/>
              </a:lnSpc>
              <a:buNone/>
            </a:pPr>
            <a:endParaRPr lang="en-US" sz="987" dirty="0"/>
          </a:p>
        </p:txBody>
      </p:sp>
      <p:sp>
        <p:nvSpPr>
          <p:cNvPr id="7" name="Shape 4"/>
          <p:cNvSpPr/>
          <p:nvPr/>
        </p:nvSpPr>
        <p:spPr>
          <a:xfrm>
            <a:off x="428625" y="971550"/>
            <a:ext cx="4439841" cy="1837813"/>
          </a:xfrm>
          <a:prstGeom prst="rect">
            <a:avLst/>
          </a:prstGeom>
          <a:solidFill>
            <a:srgbClr val="F8F9FA"/>
          </a:solidFill>
          <a:ln/>
        </p:spPr>
        <p:txBody>
          <a:bodyPr/>
          <a:lstStyle/>
          <a:p>
            <a:endParaRPr lang="en-MU"/>
          </a:p>
        </p:txBody>
      </p:sp>
      <p:sp>
        <p:nvSpPr>
          <p:cNvPr id="8" name="Shape 5"/>
          <p:cNvSpPr/>
          <p:nvPr/>
        </p:nvSpPr>
        <p:spPr>
          <a:xfrm>
            <a:off x="428625" y="971550"/>
            <a:ext cx="28575" cy="1837813"/>
          </a:xfrm>
          <a:prstGeom prst="rect">
            <a:avLst/>
          </a:prstGeom>
          <a:solidFill>
            <a:srgbClr val="007BFF"/>
          </a:solidFill>
          <a:ln/>
        </p:spPr>
        <p:txBody>
          <a:bodyPr/>
          <a:lstStyle/>
          <a:p>
            <a:endParaRPr lang="en-MU"/>
          </a:p>
        </p:txBody>
      </p:sp>
      <p:sp>
        <p:nvSpPr>
          <p:cNvPr id="9" name="Shape 6"/>
          <p:cNvSpPr/>
          <p:nvPr/>
        </p:nvSpPr>
        <p:spPr>
          <a:xfrm>
            <a:off x="471488" y="1014413"/>
            <a:ext cx="4354116" cy="2040430"/>
          </a:xfrm>
          <a:prstGeom prst="rect">
            <a:avLst/>
          </a:prstGeom>
          <a:solidFill>
            <a:srgbClr val="1A1A1A"/>
          </a:solidFill>
          <a:ln/>
        </p:spPr>
        <p:txBody>
          <a:bodyPr/>
          <a:lstStyle/>
          <a:p>
            <a:endParaRPr lang="en-MU"/>
          </a:p>
        </p:txBody>
      </p:sp>
      <p:sp>
        <p:nvSpPr>
          <p:cNvPr id="10" name="Text 7"/>
          <p:cNvSpPr/>
          <p:nvPr/>
        </p:nvSpPr>
        <p:spPr>
          <a:xfrm>
            <a:off x="471488" y="1014413"/>
            <a:ext cx="4354116" cy="2040430"/>
          </a:xfrm>
          <a:prstGeom prst="rect">
            <a:avLst/>
          </a:prstGeom>
          <a:noFill/>
          <a:ln/>
        </p:spPr>
        <p:txBody>
          <a:bodyPr wrap="square" lIns="68072" tIns="34036" rIns="68072" bIns="34036" rtlCol="0" anchor="t">
            <a:spAutoFit/>
          </a:bodyPr>
          <a:lstStyle/>
          <a:p>
            <a:pPr>
              <a:lnSpc>
                <a:spcPts val="600"/>
              </a:lnSpc>
            </a:pPr>
            <a:r>
              <a:rPr lang="en-US" sz="568" dirty="0">
                <a:solidFill>
                  <a:srgbClr val="28A745"/>
                </a:solidFill>
              </a:rPr>
              <a:t>#1 – Define Calculator Function</a:t>
            </a:r>
            <a:endParaRPr lang="en-US" sz="568" dirty="0"/>
          </a:p>
          <a:p>
            <a:pPr>
              <a:lnSpc>
                <a:spcPts val="700"/>
              </a:lnSpc>
            </a:pPr>
            <a:r>
              <a:rPr lang="en-US" sz="570" dirty="0">
                <a:solidFill>
                  <a:srgbClr val="28A745"/>
                </a:solidFill>
              </a:rPr>
              <a:t>def </a:t>
            </a:r>
            <a:r>
              <a:rPr lang="en-US" sz="570" dirty="0" err="1">
                <a:solidFill>
                  <a:srgbClr val="28A745"/>
                </a:solidFill>
              </a:rPr>
              <a:t>get_float</a:t>
            </a:r>
            <a:r>
              <a:rPr lang="en-US" sz="570" dirty="0">
                <a:solidFill>
                  <a:srgbClr val="28A745"/>
                </a:solidFill>
              </a:rPr>
              <a:t>(prompt):</a:t>
            </a:r>
          </a:p>
          <a:p>
            <a:pPr>
              <a:lnSpc>
                <a:spcPts val="700"/>
              </a:lnSpc>
            </a:pPr>
            <a:r>
              <a:rPr lang="en-US" sz="570" dirty="0">
                <a:solidFill>
                  <a:srgbClr val="28A745"/>
                </a:solidFill>
              </a:rPr>
              <a:t>    while True:</a:t>
            </a:r>
          </a:p>
          <a:p>
            <a:pPr>
              <a:lnSpc>
                <a:spcPts val="700"/>
              </a:lnSpc>
            </a:pPr>
            <a:r>
              <a:rPr lang="en-US" sz="570" dirty="0">
                <a:solidFill>
                  <a:srgbClr val="28A745"/>
                </a:solidFill>
              </a:rPr>
              <a:t>        try:</a:t>
            </a:r>
          </a:p>
          <a:p>
            <a:pPr>
              <a:lnSpc>
                <a:spcPts val="700"/>
              </a:lnSpc>
            </a:pPr>
            <a:r>
              <a:rPr lang="en-US" sz="570" dirty="0">
                <a:solidFill>
                  <a:srgbClr val="28A745"/>
                </a:solidFill>
              </a:rPr>
              <a:t>            value = float(input(prompt))</a:t>
            </a:r>
          </a:p>
          <a:p>
            <a:pPr>
              <a:lnSpc>
                <a:spcPts val="700"/>
              </a:lnSpc>
            </a:pPr>
            <a:r>
              <a:rPr lang="en-US" sz="570" dirty="0">
                <a:solidFill>
                  <a:srgbClr val="28A745"/>
                </a:solidFill>
              </a:rPr>
              <a:t>            if value &lt;= 0:</a:t>
            </a:r>
          </a:p>
          <a:p>
            <a:pPr>
              <a:lnSpc>
                <a:spcPts val="700"/>
              </a:lnSpc>
            </a:pPr>
            <a:r>
              <a:rPr lang="en-US" sz="570" dirty="0">
                <a:solidFill>
                  <a:srgbClr val="28A745"/>
                </a:solidFill>
              </a:rPr>
              <a:t>                print("Please enter a positive number.")</a:t>
            </a:r>
          </a:p>
          <a:p>
            <a:pPr>
              <a:lnSpc>
                <a:spcPts val="700"/>
              </a:lnSpc>
            </a:pPr>
            <a:r>
              <a:rPr lang="en-US" sz="570" dirty="0">
                <a:solidFill>
                  <a:srgbClr val="28A745"/>
                </a:solidFill>
              </a:rPr>
              <a:t>            else:</a:t>
            </a:r>
          </a:p>
          <a:p>
            <a:pPr>
              <a:lnSpc>
                <a:spcPts val="700"/>
              </a:lnSpc>
            </a:pPr>
            <a:r>
              <a:rPr lang="en-US" sz="570" dirty="0">
                <a:solidFill>
                  <a:srgbClr val="28A745"/>
                </a:solidFill>
              </a:rPr>
              <a:t>                return value</a:t>
            </a:r>
          </a:p>
          <a:p>
            <a:pPr>
              <a:lnSpc>
                <a:spcPts val="700"/>
              </a:lnSpc>
            </a:pPr>
            <a:r>
              <a:rPr lang="en-US" sz="570" dirty="0">
                <a:solidFill>
                  <a:srgbClr val="28A745"/>
                </a:solidFill>
              </a:rPr>
              <a:t>        except </a:t>
            </a:r>
            <a:r>
              <a:rPr lang="en-US" sz="570" dirty="0" err="1">
                <a:solidFill>
                  <a:srgbClr val="28A745"/>
                </a:solidFill>
              </a:rPr>
              <a:t>ValueError</a:t>
            </a:r>
            <a:r>
              <a:rPr lang="en-US" sz="570" dirty="0">
                <a:solidFill>
                  <a:srgbClr val="28A745"/>
                </a:solidFill>
              </a:rPr>
              <a:t>:</a:t>
            </a:r>
          </a:p>
          <a:p>
            <a:pPr>
              <a:lnSpc>
                <a:spcPts val="700"/>
              </a:lnSpc>
            </a:pPr>
            <a:r>
              <a:rPr lang="en-US" sz="570" dirty="0">
                <a:solidFill>
                  <a:srgbClr val="28A745"/>
                </a:solidFill>
              </a:rPr>
              <a:t>            print("Invalid input. Enter a numeric value.")</a:t>
            </a:r>
          </a:p>
          <a:p>
            <a:pPr>
              <a:lnSpc>
                <a:spcPts val="700"/>
              </a:lnSpc>
            </a:pPr>
            <a:endParaRPr lang="en-US" sz="570" dirty="0">
              <a:solidFill>
                <a:srgbClr val="28A745"/>
              </a:solidFill>
            </a:endParaRPr>
          </a:p>
          <a:p>
            <a:pPr>
              <a:lnSpc>
                <a:spcPts val="700"/>
              </a:lnSpc>
            </a:pPr>
            <a:r>
              <a:rPr lang="en-US" sz="570" dirty="0">
                <a:solidFill>
                  <a:srgbClr val="28A745"/>
                </a:solidFill>
              </a:rPr>
              <a:t>def </a:t>
            </a:r>
            <a:r>
              <a:rPr lang="en-US" sz="570" dirty="0" err="1">
                <a:solidFill>
                  <a:srgbClr val="28A745"/>
                </a:solidFill>
              </a:rPr>
              <a:t>get_int</a:t>
            </a:r>
            <a:r>
              <a:rPr lang="en-US" sz="570" dirty="0">
                <a:solidFill>
                  <a:srgbClr val="28A745"/>
                </a:solidFill>
              </a:rPr>
              <a:t>(prompt):</a:t>
            </a:r>
          </a:p>
          <a:p>
            <a:pPr>
              <a:lnSpc>
                <a:spcPts val="700"/>
              </a:lnSpc>
            </a:pPr>
            <a:r>
              <a:rPr lang="en-US" sz="570" dirty="0">
                <a:solidFill>
                  <a:srgbClr val="28A745"/>
                </a:solidFill>
              </a:rPr>
              <a:t>    while True:</a:t>
            </a:r>
          </a:p>
          <a:p>
            <a:pPr>
              <a:lnSpc>
                <a:spcPts val="700"/>
              </a:lnSpc>
            </a:pPr>
            <a:r>
              <a:rPr lang="en-US" sz="570" dirty="0">
                <a:solidFill>
                  <a:srgbClr val="28A745"/>
                </a:solidFill>
              </a:rPr>
              <a:t>        try:</a:t>
            </a:r>
          </a:p>
          <a:p>
            <a:pPr>
              <a:lnSpc>
                <a:spcPts val="700"/>
              </a:lnSpc>
            </a:pPr>
            <a:r>
              <a:rPr lang="en-US" sz="570" dirty="0">
                <a:solidFill>
                  <a:srgbClr val="28A745"/>
                </a:solidFill>
              </a:rPr>
              <a:t>            value = int(input(prompt))</a:t>
            </a:r>
          </a:p>
          <a:p>
            <a:pPr>
              <a:lnSpc>
                <a:spcPts val="700"/>
              </a:lnSpc>
            </a:pPr>
            <a:r>
              <a:rPr lang="en-US" sz="570" dirty="0">
                <a:solidFill>
                  <a:srgbClr val="28A745"/>
                </a:solidFill>
              </a:rPr>
              <a:t>            if value &lt; 0:</a:t>
            </a:r>
          </a:p>
          <a:p>
            <a:pPr>
              <a:lnSpc>
                <a:spcPts val="700"/>
              </a:lnSpc>
            </a:pPr>
            <a:r>
              <a:rPr lang="en-US" sz="570" dirty="0">
                <a:solidFill>
                  <a:srgbClr val="28A745"/>
                </a:solidFill>
              </a:rPr>
              <a:t>                print("Please enter a non-negative integer.")</a:t>
            </a:r>
          </a:p>
          <a:p>
            <a:pPr>
              <a:lnSpc>
                <a:spcPts val="700"/>
              </a:lnSpc>
            </a:pPr>
            <a:r>
              <a:rPr lang="en-US" sz="570" dirty="0">
                <a:solidFill>
                  <a:srgbClr val="28A745"/>
                </a:solidFill>
              </a:rPr>
              <a:t>            else:</a:t>
            </a:r>
          </a:p>
          <a:p>
            <a:pPr>
              <a:lnSpc>
                <a:spcPts val="700"/>
              </a:lnSpc>
            </a:pPr>
            <a:r>
              <a:rPr lang="en-US" sz="570" dirty="0">
                <a:solidFill>
                  <a:srgbClr val="28A745"/>
                </a:solidFill>
              </a:rPr>
              <a:t>                return value</a:t>
            </a:r>
          </a:p>
          <a:p>
            <a:pPr>
              <a:lnSpc>
                <a:spcPts val="700"/>
              </a:lnSpc>
            </a:pPr>
            <a:r>
              <a:rPr lang="en-US" sz="570" dirty="0">
                <a:solidFill>
                  <a:srgbClr val="28A745"/>
                </a:solidFill>
              </a:rPr>
              <a:t>        except </a:t>
            </a:r>
            <a:r>
              <a:rPr lang="en-US" sz="570" dirty="0" err="1">
                <a:solidFill>
                  <a:srgbClr val="28A745"/>
                </a:solidFill>
              </a:rPr>
              <a:t>ValueError</a:t>
            </a:r>
            <a:r>
              <a:rPr lang="en-US" sz="570" dirty="0">
                <a:solidFill>
                  <a:srgbClr val="28A745"/>
                </a:solidFill>
              </a:rPr>
              <a:t>:</a:t>
            </a:r>
          </a:p>
          <a:p>
            <a:pPr>
              <a:lnSpc>
                <a:spcPts val="700"/>
              </a:lnSpc>
            </a:pPr>
            <a:r>
              <a:rPr lang="en-US" sz="570" dirty="0">
                <a:solidFill>
                  <a:srgbClr val="28A745"/>
                </a:solidFill>
              </a:rPr>
              <a:t>            print("Invalid input. Enter an integer.")</a:t>
            </a:r>
            <a:endParaRPr lang="en-US" sz="570" dirty="0"/>
          </a:p>
        </p:txBody>
      </p:sp>
      <p:sp>
        <p:nvSpPr>
          <p:cNvPr id="20" name="Shape 17"/>
          <p:cNvSpPr/>
          <p:nvPr/>
        </p:nvSpPr>
        <p:spPr>
          <a:xfrm>
            <a:off x="428625" y="2837938"/>
            <a:ext cx="28575" cy="887164"/>
          </a:xfrm>
          <a:prstGeom prst="rect">
            <a:avLst/>
          </a:prstGeom>
          <a:solidFill>
            <a:srgbClr val="007BFF"/>
          </a:solidFill>
          <a:ln/>
        </p:spPr>
        <p:txBody>
          <a:bodyPr/>
          <a:lstStyle/>
          <a:p>
            <a:endParaRPr lang="en-MU"/>
          </a:p>
        </p:txBody>
      </p:sp>
      <p:sp>
        <p:nvSpPr>
          <p:cNvPr id="31" name="Shape 28"/>
          <p:cNvSpPr/>
          <p:nvPr/>
        </p:nvSpPr>
        <p:spPr>
          <a:xfrm>
            <a:off x="428625" y="3753678"/>
            <a:ext cx="4439841" cy="1052140"/>
          </a:xfrm>
          <a:prstGeom prst="rect">
            <a:avLst/>
          </a:prstGeom>
          <a:solidFill>
            <a:srgbClr val="F8F9FA"/>
          </a:solidFill>
          <a:ln/>
        </p:spPr>
        <p:txBody>
          <a:bodyPr/>
          <a:lstStyle/>
          <a:p>
            <a:endParaRPr lang="en-MU"/>
          </a:p>
        </p:txBody>
      </p:sp>
      <p:sp>
        <p:nvSpPr>
          <p:cNvPr id="32" name="Shape 29"/>
          <p:cNvSpPr/>
          <p:nvPr/>
        </p:nvSpPr>
        <p:spPr>
          <a:xfrm>
            <a:off x="428625" y="3753678"/>
            <a:ext cx="28575" cy="1052140"/>
          </a:xfrm>
          <a:prstGeom prst="rect">
            <a:avLst/>
          </a:prstGeom>
          <a:solidFill>
            <a:srgbClr val="007BFF"/>
          </a:solidFill>
          <a:ln/>
        </p:spPr>
        <p:txBody>
          <a:bodyPr/>
          <a:lstStyle/>
          <a:p>
            <a:endParaRPr lang="en-MU"/>
          </a:p>
        </p:txBody>
      </p:sp>
      <p:sp>
        <p:nvSpPr>
          <p:cNvPr id="33" name="Shape 30"/>
          <p:cNvSpPr/>
          <p:nvPr/>
        </p:nvSpPr>
        <p:spPr>
          <a:xfrm>
            <a:off x="471488" y="3084426"/>
            <a:ext cx="4354116" cy="783967"/>
          </a:xfrm>
          <a:prstGeom prst="rect">
            <a:avLst/>
          </a:prstGeom>
          <a:solidFill>
            <a:srgbClr val="1A1A1A"/>
          </a:solidFill>
          <a:ln/>
        </p:spPr>
        <p:txBody>
          <a:bodyPr/>
          <a:lstStyle/>
          <a:p>
            <a:r>
              <a:rPr lang="en-US" sz="570" dirty="0">
                <a:solidFill>
                  <a:srgbClr val="28A745"/>
                </a:solidFill>
              </a:rPr>
              <a:t>#2-Function user input</a:t>
            </a:r>
          </a:p>
          <a:p>
            <a:r>
              <a:rPr lang="en-US" sz="570" dirty="0">
                <a:solidFill>
                  <a:srgbClr val="28A745"/>
                </a:solidFill>
              </a:rPr>
              <a:t>def </a:t>
            </a:r>
            <a:r>
              <a:rPr lang="en-US" sz="570" dirty="0" err="1">
                <a:solidFill>
                  <a:srgbClr val="28A745"/>
                </a:solidFill>
              </a:rPr>
              <a:t>predict_new_house</a:t>
            </a:r>
            <a:r>
              <a:rPr lang="en-US" sz="570" dirty="0">
                <a:solidFill>
                  <a:srgbClr val="28A745"/>
                </a:solidFill>
              </a:rPr>
              <a:t>():</a:t>
            </a:r>
          </a:p>
          <a:p>
            <a:r>
              <a:rPr lang="en-US" sz="570" dirty="0">
                <a:solidFill>
                  <a:srgbClr val="28A745"/>
                </a:solidFill>
              </a:rPr>
              <a:t>    print("\</a:t>
            </a:r>
            <a:r>
              <a:rPr lang="en-US" sz="570" dirty="0" err="1">
                <a:solidFill>
                  <a:srgbClr val="28A745"/>
                </a:solidFill>
              </a:rPr>
              <a:t>nCan</a:t>
            </a:r>
            <a:r>
              <a:rPr lang="en-US" sz="570" dirty="0">
                <a:solidFill>
                  <a:srgbClr val="28A745"/>
                </a:solidFill>
              </a:rPr>
              <a:t> you please give me the details of the house to predict its price:")</a:t>
            </a:r>
          </a:p>
          <a:p>
            <a:r>
              <a:rPr lang="en-US" sz="570" dirty="0">
                <a:solidFill>
                  <a:srgbClr val="28A745"/>
                </a:solidFill>
              </a:rPr>
              <a:t>    area = </a:t>
            </a:r>
            <a:r>
              <a:rPr lang="en-US" sz="570" dirty="0" err="1">
                <a:solidFill>
                  <a:srgbClr val="28A745"/>
                </a:solidFill>
              </a:rPr>
              <a:t>get_float</a:t>
            </a:r>
            <a:r>
              <a:rPr lang="en-US" sz="570" dirty="0">
                <a:solidFill>
                  <a:srgbClr val="28A745"/>
                </a:solidFill>
              </a:rPr>
              <a:t>("Area (in </a:t>
            </a:r>
            <a:r>
              <a:rPr lang="en-US" sz="570" dirty="0" err="1">
                <a:solidFill>
                  <a:srgbClr val="28A745"/>
                </a:solidFill>
              </a:rPr>
              <a:t>sqft</a:t>
            </a:r>
            <a:r>
              <a:rPr lang="en-US" sz="570" dirty="0">
                <a:solidFill>
                  <a:srgbClr val="28A745"/>
                </a:solidFill>
              </a:rPr>
              <a:t>): ")</a:t>
            </a:r>
          </a:p>
          <a:p>
            <a:r>
              <a:rPr lang="en-US" sz="570" dirty="0">
                <a:solidFill>
                  <a:srgbClr val="28A745"/>
                </a:solidFill>
              </a:rPr>
              <a:t>    bedrooms = </a:t>
            </a:r>
            <a:r>
              <a:rPr lang="en-US" sz="570" dirty="0" err="1">
                <a:solidFill>
                  <a:srgbClr val="28A745"/>
                </a:solidFill>
              </a:rPr>
              <a:t>get_int</a:t>
            </a:r>
            <a:r>
              <a:rPr lang="en-US" sz="570" dirty="0">
                <a:solidFill>
                  <a:srgbClr val="28A745"/>
                </a:solidFill>
              </a:rPr>
              <a:t>("Number of bedrooms: ")</a:t>
            </a:r>
          </a:p>
          <a:p>
            <a:r>
              <a:rPr lang="en-US" sz="570" dirty="0">
                <a:solidFill>
                  <a:srgbClr val="28A745"/>
                </a:solidFill>
              </a:rPr>
              <a:t>    bathrooms = </a:t>
            </a:r>
            <a:r>
              <a:rPr lang="en-US" sz="570" dirty="0" err="1">
                <a:solidFill>
                  <a:srgbClr val="28A745"/>
                </a:solidFill>
              </a:rPr>
              <a:t>get_int</a:t>
            </a:r>
            <a:r>
              <a:rPr lang="en-US" sz="570" dirty="0">
                <a:solidFill>
                  <a:srgbClr val="28A745"/>
                </a:solidFill>
              </a:rPr>
              <a:t>("Number of bathrooms: ")</a:t>
            </a:r>
          </a:p>
          <a:p>
            <a:r>
              <a:rPr lang="en-US" sz="570" dirty="0">
                <a:solidFill>
                  <a:srgbClr val="28A745"/>
                </a:solidFill>
              </a:rPr>
              <a:t>    stories = </a:t>
            </a:r>
            <a:r>
              <a:rPr lang="en-US" sz="570" dirty="0" err="1">
                <a:solidFill>
                  <a:srgbClr val="28A745"/>
                </a:solidFill>
              </a:rPr>
              <a:t>get_int</a:t>
            </a:r>
            <a:r>
              <a:rPr lang="en-US" sz="570" dirty="0">
                <a:solidFill>
                  <a:srgbClr val="28A745"/>
                </a:solidFill>
              </a:rPr>
              <a:t>("Number of stories: ")</a:t>
            </a:r>
          </a:p>
          <a:p>
            <a:r>
              <a:rPr lang="en-US" sz="570" dirty="0">
                <a:solidFill>
                  <a:srgbClr val="28A745"/>
                </a:solidFill>
              </a:rPr>
              <a:t>    parking = </a:t>
            </a:r>
            <a:r>
              <a:rPr lang="en-US" sz="570" dirty="0" err="1">
                <a:solidFill>
                  <a:srgbClr val="28A745"/>
                </a:solidFill>
              </a:rPr>
              <a:t>get_int</a:t>
            </a:r>
            <a:r>
              <a:rPr lang="en-US" sz="570" dirty="0">
                <a:solidFill>
                  <a:srgbClr val="28A745"/>
                </a:solidFill>
              </a:rPr>
              <a:t>("Number of parking spaces: ")</a:t>
            </a:r>
            <a:endParaRPr lang="en-MU" sz="570" dirty="0"/>
          </a:p>
        </p:txBody>
      </p:sp>
      <p:sp>
        <p:nvSpPr>
          <p:cNvPr id="41" name="Shape 38"/>
          <p:cNvSpPr/>
          <p:nvPr/>
        </p:nvSpPr>
        <p:spPr>
          <a:xfrm>
            <a:off x="5039915" y="3880290"/>
            <a:ext cx="3632597" cy="697620"/>
          </a:xfrm>
          <a:prstGeom prst="rect">
            <a:avLst/>
          </a:prstGeom>
          <a:solidFill>
            <a:srgbClr val="F8F9FA"/>
          </a:solidFill>
          <a:ln w="9144">
            <a:solidFill>
              <a:srgbClr val="E0E0E0"/>
            </a:solidFill>
            <a:prstDash val="solid"/>
          </a:ln>
        </p:spPr>
        <p:txBody>
          <a:bodyPr/>
          <a:lstStyle/>
          <a:p>
            <a:endParaRPr lang="en-MU"/>
          </a:p>
        </p:txBody>
      </p:sp>
      <p:sp>
        <p:nvSpPr>
          <p:cNvPr id="46" name="Shape 43"/>
          <p:cNvSpPr/>
          <p:nvPr/>
        </p:nvSpPr>
        <p:spPr>
          <a:xfrm>
            <a:off x="5168503" y="3958407"/>
            <a:ext cx="3489722" cy="448577"/>
          </a:xfrm>
          <a:prstGeom prst="rect">
            <a:avLst/>
          </a:prstGeom>
          <a:solidFill>
            <a:srgbClr val="E8F5E9"/>
          </a:solidFill>
          <a:ln/>
        </p:spPr>
        <p:txBody>
          <a:bodyPr/>
          <a:lstStyle/>
          <a:p>
            <a:endParaRPr lang="en-MU"/>
          </a:p>
        </p:txBody>
      </p:sp>
      <p:sp>
        <p:nvSpPr>
          <p:cNvPr id="48" name="Text 45"/>
          <p:cNvSpPr/>
          <p:nvPr/>
        </p:nvSpPr>
        <p:spPr>
          <a:xfrm>
            <a:off x="5147072" y="4029945"/>
            <a:ext cx="3489722" cy="475900"/>
          </a:xfrm>
          <a:prstGeom prst="rect">
            <a:avLst/>
          </a:prstGeom>
          <a:noFill/>
          <a:ln/>
        </p:spPr>
        <p:txBody>
          <a:bodyPr wrap="square" lIns="68072" tIns="68072" rIns="68072" bIns="68072" rtlCol="0" anchor="t">
            <a:spAutoFit/>
          </a:bodyPr>
          <a:lstStyle/>
          <a:p>
            <a:pPr marL="0" indent="0" algn="l">
              <a:lnSpc>
                <a:spcPts val="900"/>
              </a:lnSpc>
              <a:buNone/>
            </a:pPr>
            <a:r>
              <a:rPr lang="en-US" sz="584" b="1" dirty="0">
                <a:solidFill>
                  <a:srgbClr val="28A745"/>
                </a:solidFill>
              </a:rPr>
              <a:t>Prediction Result:</a:t>
            </a:r>
            <a:r>
              <a:rPr lang="en-US" sz="621" dirty="0">
                <a:solidFill>
                  <a:srgbClr val="1A1A1A"/>
                </a:solidFill>
              </a:rPr>
              <a:t> This 7500 sqft, 4-bedroom house in a preferred area with modern amenities is predicted to cost approximately ₨5.42 Million. The model is 54.6% confident in this prediction, with an estimated range of ₨4.61M to ₨6.23M.</a:t>
            </a:r>
            <a:endParaRPr lang="en-US" sz="584" dirty="0"/>
          </a:p>
        </p:txBody>
      </p:sp>
      <p:sp>
        <p:nvSpPr>
          <p:cNvPr id="52" name="Shape 30">
            <a:extLst>
              <a:ext uri="{FF2B5EF4-FFF2-40B4-BE49-F238E27FC236}">
                <a16:creationId xmlns:a16="http://schemas.microsoft.com/office/drawing/2014/main" id="{E53AD15E-2D27-6E65-5ED4-0348DCE6B0FF}"/>
              </a:ext>
            </a:extLst>
          </p:cNvPr>
          <p:cNvSpPr/>
          <p:nvPr/>
        </p:nvSpPr>
        <p:spPr>
          <a:xfrm>
            <a:off x="471488" y="3945122"/>
            <a:ext cx="4354116" cy="783967"/>
          </a:xfrm>
          <a:prstGeom prst="rect">
            <a:avLst/>
          </a:prstGeom>
          <a:solidFill>
            <a:srgbClr val="1A1A1A"/>
          </a:solidFill>
          <a:ln/>
        </p:spPr>
        <p:txBody>
          <a:bodyPr/>
          <a:lstStyle/>
          <a:p>
            <a:pPr>
              <a:lnSpc>
                <a:spcPts val="600"/>
              </a:lnSpc>
            </a:pPr>
            <a:r>
              <a:rPr lang="en-US" sz="568" dirty="0">
                <a:solidFill>
                  <a:srgbClr val="28A745"/>
                </a:solidFill>
              </a:rPr>
              <a:t>#3 – Prepare Data</a:t>
            </a:r>
            <a:endParaRPr lang="en-US" sz="568" dirty="0"/>
          </a:p>
          <a:p>
            <a:r>
              <a:rPr lang="en-US" sz="570" dirty="0" err="1">
                <a:solidFill>
                  <a:srgbClr val="28A745"/>
                </a:solidFill>
              </a:rPr>
              <a:t>new_house</a:t>
            </a:r>
            <a:r>
              <a:rPr lang="en-US" sz="570" dirty="0">
                <a:solidFill>
                  <a:srgbClr val="28A745"/>
                </a:solidFill>
              </a:rPr>
              <a:t> = </a:t>
            </a:r>
            <a:r>
              <a:rPr lang="en-US" sz="570" dirty="0" err="1">
                <a:solidFill>
                  <a:srgbClr val="28A745"/>
                </a:solidFill>
              </a:rPr>
              <a:t>pd.DataFrame</a:t>
            </a:r>
            <a:r>
              <a:rPr lang="en-US" sz="570" dirty="0">
                <a:solidFill>
                  <a:srgbClr val="28A745"/>
                </a:solidFill>
              </a:rPr>
              <a:t>({</a:t>
            </a:r>
          </a:p>
          <a:p>
            <a:r>
              <a:rPr lang="en-US" sz="570" dirty="0">
                <a:solidFill>
                  <a:srgbClr val="28A745"/>
                </a:solidFill>
              </a:rPr>
              <a:t>        'area': [area],</a:t>
            </a:r>
          </a:p>
          <a:p>
            <a:r>
              <a:rPr lang="en-US" sz="570" dirty="0">
                <a:solidFill>
                  <a:srgbClr val="28A745"/>
                </a:solidFill>
              </a:rPr>
              <a:t>        'bedrooms': [bedrooms],</a:t>
            </a:r>
          </a:p>
          <a:p>
            <a:r>
              <a:rPr lang="en-US" sz="570" dirty="0">
                <a:solidFill>
                  <a:srgbClr val="28A745"/>
                </a:solidFill>
              </a:rPr>
              <a:t>        'bathrooms': [bathrooms],</a:t>
            </a:r>
          </a:p>
          <a:p>
            <a:r>
              <a:rPr lang="en-US" sz="570" dirty="0">
                <a:solidFill>
                  <a:srgbClr val="28A745"/>
                </a:solidFill>
              </a:rPr>
              <a:t>        'stories': [stories],</a:t>
            </a:r>
          </a:p>
          <a:p>
            <a:r>
              <a:rPr lang="en-US" sz="570" dirty="0">
                <a:solidFill>
                  <a:srgbClr val="28A745"/>
                </a:solidFill>
              </a:rPr>
              <a:t>        'parking': [parking]</a:t>
            </a:r>
          </a:p>
          <a:p>
            <a:r>
              <a:rPr lang="en-US" sz="570" dirty="0">
                <a:solidFill>
                  <a:srgbClr val="28A745"/>
                </a:solidFill>
              </a:rPr>
              <a:t>    })</a:t>
            </a:r>
          </a:p>
        </p:txBody>
      </p:sp>
      <p:sp>
        <p:nvSpPr>
          <p:cNvPr id="53" name="Shape 30">
            <a:extLst>
              <a:ext uri="{FF2B5EF4-FFF2-40B4-BE49-F238E27FC236}">
                <a16:creationId xmlns:a16="http://schemas.microsoft.com/office/drawing/2014/main" id="{370F0987-91FD-45CE-AF18-BAEA2D6DEFE0}"/>
              </a:ext>
            </a:extLst>
          </p:cNvPr>
          <p:cNvSpPr/>
          <p:nvPr/>
        </p:nvSpPr>
        <p:spPr>
          <a:xfrm>
            <a:off x="4911329" y="1014413"/>
            <a:ext cx="3861196" cy="574291"/>
          </a:xfrm>
          <a:prstGeom prst="rect">
            <a:avLst/>
          </a:prstGeom>
          <a:solidFill>
            <a:srgbClr val="1A1A1A"/>
          </a:solidFill>
          <a:ln/>
        </p:spPr>
        <p:txBody>
          <a:bodyPr/>
          <a:lstStyle/>
          <a:p>
            <a:r>
              <a:rPr lang="en-US" sz="568" dirty="0">
                <a:solidFill>
                  <a:srgbClr val="28A745"/>
                </a:solidFill>
              </a:rPr>
              <a:t>#4 – Make Prediction</a:t>
            </a:r>
            <a:endParaRPr lang="en-US" sz="568" dirty="0"/>
          </a:p>
          <a:p>
            <a:r>
              <a:rPr lang="en-US" sz="570" dirty="0" err="1">
                <a:solidFill>
                  <a:srgbClr val="28A745"/>
                </a:solidFill>
              </a:rPr>
              <a:t>predicted_price</a:t>
            </a:r>
            <a:r>
              <a:rPr lang="en-US" sz="570" dirty="0">
                <a:solidFill>
                  <a:srgbClr val="28A745"/>
                </a:solidFill>
              </a:rPr>
              <a:t> = </a:t>
            </a:r>
            <a:r>
              <a:rPr lang="en-US" sz="570" dirty="0" err="1">
                <a:solidFill>
                  <a:srgbClr val="28A745"/>
                </a:solidFill>
              </a:rPr>
              <a:t>best_rf.predict</a:t>
            </a:r>
            <a:r>
              <a:rPr lang="en-US" sz="570" dirty="0">
                <a:solidFill>
                  <a:srgbClr val="28A745"/>
                </a:solidFill>
              </a:rPr>
              <a:t>(</a:t>
            </a:r>
            <a:r>
              <a:rPr lang="en-US" sz="570" dirty="0" err="1">
                <a:solidFill>
                  <a:srgbClr val="28A745"/>
                </a:solidFill>
              </a:rPr>
              <a:t>new_house</a:t>
            </a:r>
            <a:r>
              <a:rPr lang="en-US" sz="570" dirty="0">
                <a:solidFill>
                  <a:srgbClr val="28A745"/>
                </a:solidFill>
              </a:rPr>
              <a:t>)</a:t>
            </a:r>
          </a:p>
          <a:p>
            <a:r>
              <a:rPr lang="en-US" sz="570" dirty="0">
                <a:solidFill>
                  <a:srgbClr val="28A745"/>
                </a:solidFill>
              </a:rPr>
              <a:t>    print(f"\</a:t>
            </a:r>
            <a:r>
              <a:rPr lang="en-US" sz="570" dirty="0" err="1">
                <a:solidFill>
                  <a:srgbClr val="28A745"/>
                </a:solidFill>
              </a:rPr>
              <a:t>nPredicted</a:t>
            </a:r>
            <a:r>
              <a:rPr lang="en-US" sz="570" dirty="0">
                <a:solidFill>
                  <a:srgbClr val="28A745"/>
                </a:solidFill>
              </a:rPr>
              <a:t> Price for this house: {</a:t>
            </a:r>
            <a:r>
              <a:rPr lang="en-US" sz="570" dirty="0" err="1">
                <a:solidFill>
                  <a:srgbClr val="28A745"/>
                </a:solidFill>
              </a:rPr>
              <a:t>predicted_price</a:t>
            </a:r>
            <a:r>
              <a:rPr lang="en-US" sz="570" dirty="0">
                <a:solidFill>
                  <a:srgbClr val="28A745"/>
                </a:solidFill>
              </a:rPr>
              <a:t>[0]:,.2f}")</a:t>
            </a:r>
          </a:p>
          <a:p>
            <a:endParaRPr lang="en-US" sz="570" dirty="0">
              <a:solidFill>
                <a:srgbClr val="28A745"/>
              </a:solidFill>
            </a:endParaRPr>
          </a:p>
          <a:p>
            <a:r>
              <a:rPr lang="en-US" sz="570" dirty="0" err="1">
                <a:solidFill>
                  <a:srgbClr val="28A745"/>
                </a:solidFill>
              </a:rPr>
              <a:t>predict_new_house</a:t>
            </a:r>
            <a:r>
              <a:rPr lang="en-US" sz="570" dirty="0">
                <a:solidFill>
                  <a:srgbClr val="28A745"/>
                </a:solidFill>
              </a:rPr>
              <a:t>()</a:t>
            </a:r>
          </a:p>
        </p:txBody>
      </p:sp>
      <p:sp>
        <p:nvSpPr>
          <p:cNvPr id="54" name="Shape 0">
            <a:extLst>
              <a:ext uri="{FF2B5EF4-FFF2-40B4-BE49-F238E27FC236}">
                <a16:creationId xmlns:a16="http://schemas.microsoft.com/office/drawing/2014/main" id="{1B75CEE1-3882-528E-7054-6636A921A04A}"/>
              </a:ext>
            </a:extLst>
          </p:cNvPr>
          <p:cNvSpPr/>
          <p:nvPr/>
        </p:nvSpPr>
        <p:spPr>
          <a:xfrm>
            <a:off x="-42863" y="710664"/>
            <a:ext cx="9144000" cy="928688"/>
          </a:xfrm>
          <a:prstGeom prst="rect">
            <a:avLst/>
          </a:prstGeom>
          <a:solidFill>
            <a:srgbClr val="000000">
              <a:alpha val="0"/>
            </a:srgbClr>
          </a:solidFill>
          <a:ln/>
        </p:spPr>
        <p:txBody>
          <a:bodyPr/>
          <a:lstStyle/>
          <a:p>
            <a:endParaRPr lang="en-MU"/>
          </a:p>
        </p:txBody>
      </p:sp>
      <p:sp>
        <p:nvSpPr>
          <p:cNvPr id="55" name="Shape 38">
            <a:extLst>
              <a:ext uri="{FF2B5EF4-FFF2-40B4-BE49-F238E27FC236}">
                <a16:creationId xmlns:a16="http://schemas.microsoft.com/office/drawing/2014/main" id="{A00840F1-5C6B-403D-A8E6-E8E4C3DEA2AB}"/>
              </a:ext>
            </a:extLst>
          </p:cNvPr>
          <p:cNvSpPr/>
          <p:nvPr/>
        </p:nvSpPr>
        <p:spPr>
          <a:xfrm>
            <a:off x="5039915" y="1682214"/>
            <a:ext cx="3632597" cy="1724323"/>
          </a:xfrm>
          <a:prstGeom prst="rect">
            <a:avLst/>
          </a:prstGeom>
          <a:solidFill>
            <a:srgbClr val="F8F9FA"/>
          </a:solidFill>
          <a:ln w="9144">
            <a:solidFill>
              <a:srgbClr val="E0E0E0"/>
            </a:solidFill>
            <a:prstDash val="solid"/>
          </a:ln>
        </p:spPr>
        <p:txBody>
          <a:bodyPr/>
          <a:lstStyle/>
          <a:p>
            <a:endParaRPr lang="en-MU"/>
          </a:p>
        </p:txBody>
      </p:sp>
      <p:sp>
        <p:nvSpPr>
          <p:cNvPr id="56" name="Text 39">
            <a:extLst>
              <a:ext uri="{FF2B5EF4-FFF2-40B4-BE49-F238E27FC236}">
                <a16:creationId xmlns:a16="http://schemas.microsoft.com/office/drawing/2014/main" id="{AC4C03D9-943B-E42F-13A8-271DDD3A84BF}"/>
              </a:ext>
            </a:extLst>
          </p:cNvPr>
          <p:cNvSpPr/>
          <p:nvPr/>
        </p:nvSpPr>
        <p:spPr>
          <a:xfrm>
            <a:off x="5097065" y="1739364"/>
            <a:ext cx="3518297" cy="135731"/>
          </a:xfrm>
          <a:prstGeom prst="rect">
            <a:avLst/>
          </a:prstGeom>
          <a:noFill/>
          <a:ln/>
        </p:spPr>
        <p:txBody>
          <a:bodyPr wrap="none" lIns="0" tIns="0" rIns="0" bIns="0" rtlCol="0" anchor="t">
            <a:spAutoFit/>
          </a:bodyPr>
          <a:lstStyle/>
          <a:p>
            <a:pPr marL="0" indent="0" algn="ctr">
              <a:lnSpc>
                <a:spcPts val="900"/>
              </a:lnSpc>
              <a:buNone/>
            </a:pPr>
            <a:r>
              <a:rPr lang="en-US" sz="683" b="1" dirty="0">
                <a:solidFill>
                  <a:srgbClr val="1A1A1A"/>
                </a:solidFill>
              </a:rPr>
              <a:t>Calculator Features</a:t>
            </a:r>
            <a:endParaRPr lang="en-US" sz="683" dirty="0"/>
          </a:p>
        </p:txBody>
      </p:sp>
      <p:sp>
        <p:nvSpPr>
          <p:cNvPr id="57" name="Text 42">
            <a:extLst>
              <a:ext uri="{FF2B5EF4-FFF2-40B4-BE49-F238E27FC236}">
                <a16:creationId xmlns:a16="http://schemas.microsoft.com/office/drawing/2014/main" id="{A55F90ED-C946-2748-0D95-B09D26FAB3FB}"/>
              </a:ext>
            </a:extLst>
          </p:cNvPr>
          <p:cNvSpPr/>
          <p:nvPr/>
        </p:nvSpPr>
        <p:spPr>
          <a:xfrm>
            <a:off x="5097065" y="1917958"/>
            <a:ext cx="3518297" cy="289992"/>
          </a:xfrm>
          <a:prstGeom prst="rect">
            <a:avLst/>
          </a:prstGeom>
          <a:noFill/>
          <a:ln/>
        </p:spPr>
        <p:txBody>
          <a:bodyPr wrap="square" lIns="51054" tIns="51054" rIns="51054" bIns="51054" rtlCol="0" anchor="t">
            <a:spAutoFit/>
          </a:bodyPr>
          <a:lstStyle/>
          <a:p>
            <a:pPr marL="0" indent="0" algn="l">
              <a:lnSpc>
                <a:spcPts val="800"/>
              </a:lnSpc>
              <a:buNone/>
            </a:pPr>
            <a:r>
              <a:rPr lang="en-US" sz="534" b="1" dirty="0">
                <a:solidFill>
                  <a:srgbClr val="1A1A1A"/>
                </a:solidFill>
              </a:rPr>
              <a:t>Input Parameters:</a:t>
            </a:r>
            <a:r>
              <a:rPr lang="en-US" sz="568" dirty="0">
                <a:solidFill>
                  <a:srgbClr val="495057"/>
                </a:solidFill>
              </a:rPr>
              <a:t> Accepts 12 house features (area, bedrooms, bathrooms, stories, parking, amenities, furnishing status).</a:t>
            </a:r>
            <a:endParaRPr lang="en-US" sz="534" dirty="0"/>
          </a:p>
        </p:txBody>
      </p:sp>
      <p:sp>
        <p:nvSpPr>
          <p:cNvPr id="58" name="Shape 43">
            <a:extLst>
              <a:ext uri="{FF2B5EF4-FFF2-40B4-BE49-F238E27FC236}">
                <a16:creationId xmlns:a16="http://schemas.microsoft.com/office/drawing/2014/main" id="{5EB539D0-EE14-09EC-ED8A-C849FFA8AAFE}"/>
              </a:ext>
            </a:extLst>
          </p:cNvPr>
          <p:cNvSpPr/>
          <p:nvPr/>
        </p:nvSpPr>
        <p:spPr>
          <a:xfrm>
            <a:off x="5097065" y="2250812"/>
            <a:ext cx="3518297" cy="289992"/>
          </a:xfrm>
          <a:prstGeom prst="rect">
            <a:avLst/>
          </a:prstGeom>
          <a:solidFill>
            <a:srgbClr val="E6F0FF"/>
          </a:solidFill>
          <a:ln/>
        </p:spPr>
        <p:txBody>
          <a:bodyPr/>
          <a:lstStyle/>
          <a:p>
            <a:endParaRPr lang="en-MU"/>
          </a:p>
        </p:txBody>
      </p:sp>
      <p:sp>
        <p:nvSpPr>
          <p:cNvPr id="59" name="Text 45">
            <a:extLst>
              <a:ext uri="{FF2B5EF4-FFF2-40B4-BE49-F238E27FC236}">
                <a16:creationId xmlns:a16="http://schemas.microsoft.com/office/drawing/2014/main" id="{C0568CEB-DC6A-90CF-30BB-3476650B4B36}"/>
              </a:ext>
            </a:extLst>
          </p:cNvPr>
          <p:cNvSpPr/>
          <p:nvPr/>
        </p:nvSpPr>
        <p:spPr>
          <a:xfrm>
            <a:off x="5097065" y="2250812"/>
            <a:ext cx="3518297" cy="289992"/>
          </a:xfrm>
          <a:prstGeom prst="rect">
            <a:avLst/>
          </a:prstGeom>
          <a:noFill/>
          <a:ln/>
        </p:spPr>
        <p:txBody>
          <a:bodyPr wrap="square" lIns="51054" tIns="51054" rIns="51054" bIns="51054" rtlCol="0" anchor="t">
            <a:spAutoFit/>
          </a:bodyPr>
          <a:lstStyle/>
          <a:p>
            <a:pPr marL="0" indent="0" algn="l">
              <a:lnSpc>
                <a:spcPts val="800"/>
              </a:lnSpc>
              <a:buNone/>
            </a:pPr>
            <a:r>
              <a:rPr lang="en-US" sz="534" b="1" dirty="0">
                <a:solidFill>
                  <a:srgbClr val="1A1A1A"/>
                </a:solidFill>
              </a:rPr>
              <a:t>Data Preprocessing:</a:t>
            </a:r>
            <a:r>
              <a:rPr lang="en-US" sz="568" dirty="0">
                <a:solidFill>
                  <a:srgbClr val="495057"/>
                </a:solidFill>
              </a:rPr>
              <a:t> Automatically applies one-hot encoding and feature scaling to match training data format.</a:t>
            </a:r>
            <a:endParaRPr lang="en-US" sz="534" dirty="0"/>
          </a:p>
        </p:txBody>
      </p:sp>
      <p:sp>
        <p:nvSpPr>
          <p:cNvPr id="60" name="Text 48">
            <a:extLst>
              <a:ext uri="{FF2B5EF4-FFF2-40B4-BE49-F238E27FC236}">
                <a16:creationId xmlns:a16="http://schemas.microsoft.com/office/drawing/2014/main" id="{E0E5186E-CC65-1A57-68E7-A448CF6A384F}"/>
              </a:ext>
            </a:extLst>
          </p:cNvPr>
          <p:cNvSpPr/>
          <p:nvPr/>
        </p:nvSpPr>
        <p:spPr>
          <a:xfrm>
            <a:off x="5097065" y="2583666"/>
            <a:ext cx="3518297" cy="289992"/>
          </a:xfrm>
          <a:prstGeom prst="rect">
            <a:avLst/>
          </a:prstGeom>
          <a:noFill/>
          <a:ln/>
        </p:spPr>
        <p:txBody>
          <a:bodyPr wrap="square" lIns="51054" tIns="51054" rIns="51054" bIns="51054" rtlCol="0" anchor="t">
            <a:spAutoFit/>
          </a:bodyPr>
          <a:lstStyle/>
          <a:p>
            <a:pPr marL="0" indent="0" algn="l">
              <a:lnSpc>
                <a:spcPts val="800"/>
              </a:lnSpc>
              <a:buNone/>
            </a:pPr>
            <a:r>
              <a:rPr lang="en-US" sz="534" b="1" dirty="0">
                <a:solidFill>
                  <a:srgbClr val="1A1A1A"/>
                </a:solidFill>
              </a:rPr>
              <a:t>Model Integration:</a:t>
            </a:r>
            <a:r>
              <a:rPr lang="en-US" sz="568" dirty="0">
                <a:solidFill>
                  <a:srgbClr val="495057"/>
                </a:solidFill>
              </a:rPr>
              <a:t> Uses the trained Random Forest model (best performer) for predictions.</a:t>
            </a:r>
            <a:endParaRPr lang="en-US" sz="534" dirty="0"/>
          </a:p>
        </p:txBody>
      </p:sp>
      <p:sp>
        <p:nvSpPr>
          <p:cNvPr id="61" name="Shape 49">
            <a:extLst>
              <a:ext uri="{FF2B5EF4-FFF2-40B4-BE49-F238E27FC236}">
                <a16:creationId xmlns:a16="http://schemas.microsoft.com/office/drawing/2014/main" id="{DDA2F18C-A9B4-0E99-7893-15ECD1B32728}"/>
              </a:ext>
            </a:extLst>
          </p:cNvPr>
          <p:cNvSpPr/>
          <p:nvPr/>
        </p:nvSpPr>
        <p:spPr>
          <a:xfrm>
            <a:off x="5097065" y="2814387"/>
            <a:ext cx="3518297" cy="187858"/>
          </a:xfrm>
          <a:prstGeom prst="rect">
            <a:avLst/>
          </a:prstGeom>
          <a:solidFill>
            <a:srgbClr val="E6F0FF"/>
          </a:solidFill>
          <a:ln/>
        </p:spPr>
        <p:txBody>
          <a:bodyPr/>
          <a:lstStyle/>
          <a:p>
            <a:endParaRPr lang="en-MU"/>
          </a:p>
        </p:txBody>
      </p:sp>
      <p:sp>
        <p:nvSpPr>
          <p:cNvPr id="62" name="Text 54">
            <a:extLst>
              <a:ext uri="{FF2B5EF4-FFF2-40B4-BE49-F238E27FC236}">
                <a16:creationId xmlns:a16="http://schemas.microsoft.com/office/drawing/2014/main" id="{C42B21A0-A39C-4707-C575-044E2368D773}"/>
              </a:ext>
            </a:extLst>
          </p:cNvPr>
          <p:cNvSpPr/>
          <p:nvPr/>
        </p:nvSpPr>
        <p:spPr>
          <a:xfrm>
            <a:off x="5097065" y="3045108"/>
            <a:ext cx="3518297" cy="187858"/>
          </a:xfrm>
          <a:prstGeom prst="rect">
            <a:avLst/>
          </a:prstGeom>
          <a:noFill/>
          <a:ln/>
        </p:spPr>
        <p:txBody>
          <a:bodyPr wrap="square" lIns="51054" tIns="51054" rIns="51054" bIns="51054" rtlCol="0" anchor="t">
            <a:spAutoFit/>
          </a:bodyPr>
          <a:lstStyle/>
          <a:p>
            <a:pPr marL="0" indent="0" algn="l">
              <a:lnSpc>
                <a:spcPts val="800"/>
              </a:lnSpc>
              <a:buNone/>
            </a:pPr>
            <a:r>
              <a:rPr lang="en-US" sz="534" b="1" dirty="0">
                <a:solidFill>
                  <a:srgbClr val="1A1A1A"/>
                </a:solidFill>
              </a:rPr>
              <a:t>Validation:</a:t>
            </a:r>
            <a:r>
              <a:rPr lang="en-US" sz="568" dirty="0">
                <a:solidFill>
                  <a:srgbClr val="495057"/>
                </a:solidFill>
              </a:rPr>
              <a:t> Ensures all inputs are properly formatted and encoded before prediction.</a:t>
            </a:r>
            <a:endParaRPr lang="en-US" sz="534" dirty="0"/>
          </a:p>
        </p:txBody>
      </p:sp>
      <p:sp>
        <p:nvSpPr>
          <p:cNvPr id="63" name="Shape 55">
            <a:extLst>
              <a:ext uri="{FF2B5EF4-FFF2-40B4-BE49-F238E27FC236}">
                <a16:creationId xmlns:a16="http://schemas.microsoft.com/office/drawing/2014/main" id="{8FD726C6-8E9C-19A7-CAE1-3B094E7113E2}"/>
              </a:ext>
            </a:extLst>
          </p:cNvPr>
          <p:cNvSpPr/>
          <p:nvPr/>
        </p:nvSpPr>
        <p:spPr>
          <a:xfrm>
            <a:off x="5039915" y="3374390"/>
            <a:ext cx="3632597" cy="420700"/>
          </a:xfrm>
          <a:prstGeom prst="rect">
            <a:avLst/>
          </a:prstGeom>
          <a:solidFill>
            <a:srgbClr val="FFF3CD"/>
          </a:solidFill>
          <a:ln/>
        </p:spPr>
        <p:txBody>
          <a:bodyPr/>
          <a:lstStyle/>
          <a:p>
            <a:pPr>
              <a:lnSpc>
                <a:spcPts val="800"/>
              </a:lnSpc>
            </a:pPr>
            <a:r>
              <a:rPr lang="en-US" sz="570" b="1" dirty="0">
                <a:solidFill>
                  <a:srgbClr val="FFA500"/>
                </a:solidFill>
              </a:rPr>
              <a:t>Calculator Usage:</a:t>
            </a:r>
            <a:r>
              <a:rPr lang="en-US" sz="570" dirty="0">
                <a:solidFill>
                  <a:srgbClr val="1A1A1A"/>
                </a:solidFill>
              </a:rPr>
              <a:t> This function bridges the gap between the trained model and real-world predictions. Users provide house features; the calculator preprocesses them exactly like the training data and returns an accurate price prediction using the Random Forest model.</a:t>
            </a:r>
            <a:endParaRPr lang="en-US" sz="5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1727"/>
          </a:xfrm>
          <a:prstGeom prst="rect">
            <a:avLst/>
          </a:prstGeom>
        </p:spPr>
      </p:pic>
      <p:sp>
        <p:nvSpPr>
          <p:cNvPr id="3" name="Shape 0"/>
          <p:cNvSpPr/>
          <p:nvPr/>
        </p:nvSpPr>
        <p:spPr>
          <a:xfrm>
            <a:off x="0" y="0"/>
            <a:ext cx="9144000" cy="950119"/>
          </a:xfrm>
          <a:prstGeom prst="rect">
            <a:avLst/>
          </a:prstGeom>
          <a:solidFill>
            <a:srgbClr val="000000">
              <a:alpha val="0"/>
            </a:srgbClr>
          </a:solidFill>
          <a:ln/>
        </p:spPr>
        <p:txBody>
          <a:bodyPr/>
          <a:lstStyle/>
          <a:p>
            <a:endParaRPr lang="en-MU"/>
          </a:p>
        </p:txBody>
      </p:sp>
      <p:sp>
        <p:nvSpPr>
          <p:cNvPr id="4" name="Shape 1"/>
          <p:cNvSpPr/>
          <p:nvPr/>
        </p:nvSpPr>
        <p:spPr>
          <a:xfrm>
            <a:off x="0" y="935831"/>
            <a:ext cx="9144000" cy="14288"/>
          </a:xfrm>
          <a:prstGeom prst="rect">
            <a:avLst/>
          </a:prstGeom>
          <a:solidFill>
            <a:srgbClr val="E0E0E0"/>
          </a:solidFill>
          <a:ln/>
        </p:spPr>
        <p:txBody>
          <a:bodyPr/>
          <a:lstStyle/>
          <a:p>
            <a:endParaRPr lang="en-MU"/>
          </a:p>
        </p:txBody>
      </p:sp>
      <p:sp>
        <p:nvSpPr>
          <p:cNvPr id="5" name="Text 2"/>
          <p:cNvSpPr/>
          <p:nvPr/>
        </p:nvSpPr>
        <p:spPr>
          <a:xfrm>
            <a:off x="428625" y="285750"/>
            <a:ext cx="8286750" cy="312539"/>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1A1A1A"/>
                </a:solidFill>
              </a:rPr>
              <a:t>Project Recap: Our Data Science Journey</a:t>
            </a:r>
            <a:endParaRPr lang="en-US" sz="1602" dirty="0"/>
          </a:p>
        </p:txBody>
      </p:sp>
      <p:sp>
        <p:nvSpPr>
          <p:cNvPr id="6" name="Text 3"/>
          <p:cNvSpPr/>
          <p:nvPr/>
        </p:nvSpPr>
        <p:spPr>
          <a:xfrm>
            <a:off x="428625" y="634008"/>
            <a:ext cx="8286750" cy="194667"/>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007BFF"/>
                </a:solidFill>
              </a:rPr>
              <a:t>From Raw Data to Predictive Model</a:t>
            </a:r>
            <a:endParaRPr lang="en-US" sz="987" dirty="0"/>
          </a:p>
        </p:txBody>
      </p:sp>
      <p:sp>
        <p:nvSpPr>
          <p:cNvPr id="7" name="Shape 4"/>
          <p:cNvSpPr/>
          <p:nvPr/>
        </p:nvSpPr>
        <p:spPr>
          <a:xfrm>
            <a:off x="428625" y="1078706"/>
            <a:ext cx="4089797" cy="1371488"/>
          </a:xfrm>
          <a:prstGeom prst="rect">
            <a:avLst/>
          </a:prstGeom>
          <a:solidFill>
            <a:srgbClr val="F8F9FA"/>
          </a:solidFill>
          <a:ln/>
        </p:spPr>
        <p:txBody>
          <a:bodyPr/>
          <a:lstStyle/>
          <a:p>
            <a:endParaRPr lang="en-MU"/>
          </a:p>
        </p:txBody>
      </p:sp>
      <p:sp>
        <p:nvSpPr>
          <p:cNvPr id="8" name="Shape 5"/>
          <p:cNvSpPr/>
          <p:nvPr/>
        </p:nvSpPr>
        <p:spPr>
          <a:xfrm>
            <a:off x="428625" y="1078706"/>
            <a:ext cx="4089797" cy="14288"/>
          </a:xfrm>
          <a:prstGeom prst="rect">
            <a:avLst/>
          </a:prstGeom>
          <a:solidFill>
            <a:srgbClr val="E0E0E0"/>
          </a:solidFill>
          <a:ln/>
        </p:spPr>
        <p:txBody>
          <a:bodyPr/>
          <a:lstStyle/>
          <a:p>
            <a:endParaRPr lang="en-MU"/>
          </a:p>
        </p:txBody>
      </p:sp>
      <p:sp>
        <p:nvSpPr>
          <p:cNvPr id="9" name="Shape 6"/>
          <p:cNvSpPr/>
          <p:nvPr/>
        </p:nvSpPr>
        <p:spPr>
          <a:xfrm>
            <a:off x="4504134" y="1078706"/>
            <a:ext cx="14288" cy="1371488"/>
          </a:xfrm>
          <a:prstGeom prst="rect">
            <a:avLst/>
          </a:prstGeom>
          <a:solidFill>
            <a:srgbClr val="E0E0E0"/>
          </a:solidFill>
          <a:ln/>
        </p:spPr>
        <p:txBody>
          <a:bodyPr/>
          <a:lstStyle/>
          <a:p>
            <a:endParaRPr lang="en-MU"/>
          </a:p>
        </p:txBody>
      </p:sp>
      <p:sp>
        <p:nvSpPr>
          <p:cNvPr id="10" name="Shape 7"/>
          <p:cNvSpPr/>
          <p:nvPr/>
        </p:nvSpPr>
        <p:spPr>
          <a:xfrm>
            <a:off x="428625" y="2435907"/>
            <a:ext cx="4089797" cy="14288"/>
          </a:xfrm>
          <a:prstGeom prst="rect">
            <a:avLst/>
          </a:prstGeom>
          <a:solidFill>
            <a:srgbClr val="E0E0E0"/>
          </a:solidFill>
          <a:ln/>
        </p:spPr>
        <p:txBody>
          <a:bodyPr/>
          <a:lstStyle/>
          <a:p>
            <a:endParaRPr lang="en-MU"/>
          </a:p>
        </p:txBody>
      </p:sp>
      <p:sp>
        <p:nvSpPr>
          <p:cNvPr id="11" name="Shape 8"/>
          <p:cNvSpPr/>
          <p:nvPr/>
        </p:nvSpPr>
        <p:spPr>
          <a:xfrm>
            <a:off x="428625" y="1078706"/>
            <a:ext cx="42863" cy="1371488"/>
          </a:xfrm>
          <a:prstGeom prst="rect">
            <a:avLst/>
          </a:prstGeom>
          <a:solidFill>
            <a:srgbClr val="007BFF"/>
          </a:solidFill>
          <a:ln/>
        </p:spPr>
        <p:txBody>
          <a:bodyPr/>
          <a:lstStyle/>
          <a:p>
            <a:endParaRPr lang="en-MU"/>
          </a:p>
        </p:txBody>
      </p:sp>
      <p:sp>
        <p:nvSpPr>
          <p:cNvPr id="12" name="Text 9"/>
          <p:cNvSpPr/>
          <p:nvPr/>
        </p:nvSpPr>
        <p:spPr>
          <a:xfrm>
            <a:off x="514350" y="1164431"/>
            <a:ext cx="3918347" cy="192881"/>
          </a:xfrm>
          <a:prstGeom prst="rect">
            <a:avLst/>
          </a:prstGeom>
          <a:noFill/>
          <a:ln/>
        </p:spPr>
        <p:txBody>
          <a:bodyPr wrap="square" lIns="0" tIns="0" rIns="0" bIns="51054" rtlCol="0" anchor="t">
            <a:spAutoFit/>
          </a:bodyPr>
          <a:lstStyle/>
          <a:p>
            <a:pPr marL="0" indent="0" algn="l">
              <a:lnSpc>
                <a:spcPts val="900"/>
              </a:lnSpc>
              <a:buNone/>
            </a:pPr>
            <a:r>
              <a:rPr lang="en-US" sz="683" b="1" dirty="0">
                <a:solidFill>
                  <a:srgbClr val="007BFF"/>
                </a:solidFill>
              </a:rPr>
              <a:t>1. Data Preparation</a:t>
            </a:r>
            <a:endParaRPr lang="en-US" sz="683" dirty="0"/>
          </a:p>
        </p:txBody>
      </p:sp>
      <p:sp>
        <p:nvSpPr>
          <p:cNvPr id="13" name="Text 10"/>
          <p:cNvSpPr/>
          <p:nvPr/>
        </p:nvSpPr>
        <p:spPr>
          <a:xfrm>
            <a:off x="514350" y="1416248"/>
            <a:ext cx="572923"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What We Did:</a:t>
            </a:r>
            <a:endParaRPr lang="en-US" sz="584" dirty="0"/>
          </a:p>
        </p:txBody>
      </p:sp>
      <p:sp>
        <p:nvSpPr>
          <p:cNvPr id="14" name="Text 11"/>
          <p:cNvSpPr/>
          <p:nvPr/>
        </p:nvSpPr>
        <p:spPr>
          <a:xfrm>
            <a:off x="614363" y="1563030"/>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Loaded 545 houses from Kaggle CSV</a:t>
            </a:r>
            <a:endParaRPr lang="en-US" sz="621" dirty="0"/>
          </a:p>
        </p:txBody>
      </p:sp>
      <p:sp>
        <p:nvSpPr>
          <p:cNvPr id="15" name="Text 12"/>
          <p:cNvSpPr/>
          <p:nvPr/>
        </p:nvSpPr>
        <p:spPr>
          <a:xfrm>
            <a:off x="614363" y="1704454"/>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Removed 24 outliers (4.4%) using quantile filtering</a:t>
            </a:r>
            <a:endParaRPr lang="en-US" sz="621" dirty="0"/>
          </a:p>
        </p:txBody>
      </p:sp>
      <p:sp>
        <p:nvSpPr>
          <p:cNvPr id="16" name="Text 13"/>
          <p:cNvSpPr/>
          <p:nvPr/>
        </p:nvSpPr>
        <p:spPr>
          <a:xfrm>
            <a:off x="614363" y="1845878"/>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Applied one-hot encoding to 7 categorical features</a:t>
            </a:r>
            <a:endParaRPr lang="en-US" sz="621" dirty="0"/>
          </a:p>
        </p:txBody>
      </p:sp>
      <p:sp>
        <p:nvSpPr>
          <p:cNvPr id="17" name="Text 14"/>
          <p:cNvSpPr/>
          <p:nvPr/>
        </p:nvSpPr>
        <p:spPr>
          <a:xfrm>
            <a:off x="614363" y="1987302"/>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Final dataset: 521 houses × 20 features</a:t>
            </a:r>
            <a:endParaRPr lang="en-US" sz="621" dirty="0"/>
          </a:p>
        </p:txBody>
      </p:sp>
      <p:sp>
        <p:nvSpPr>
          <p:cNvPr id="18" name="Shape 15"/>
          <p:cNvSpPr/>
          <p:nvPr/>
        </p:nvSpPr>
        <p:spPr>
          <a:xfrm>
            <a:off x="514350" y="2171588"/>
            <a:ext cx="3918347" cy="164306"/>
          </a:xfrm>
          <a:prstGeom prst="rect">
            <a:avLst/>
          </a:prstGeom>
          <a:solidFill>
            <a:srgbClr val="E6F0FF"/>
          </a:solidFill>
          <a:ln/>
        </p:spPr>
        <p:txBody>
          <a:bodyPr/>
          <a:lstStyle/>
          <a:p>
            <a:endParaRPr lang="en-MU"/>
          </a:p>
        </p:txBody>
      </p:sp>
      <p:sp>
        <p:nvSpPr>
          <p:cNvPr id="19" name="Text 16"/>
          <p:cNvSpPr/>
          <p:nvPr/>
        </p:nvSpPr>
        <p:spPr>
          <a:xfrm>
            <a:off x="514350" y="2171588"/>
            <a:ext cx="3918347" cy="164306"/>
          </a:xfrm>
          <a:prstGeom prst="rect">
            <a:avLst/>
          </a:prstGeom>
          <a:noFill/>
          <a:ln/>
        </p:spPr>
        <p:txBody>
          <a:bodyPr wrap="square" lIns="51054" tIns="34036" rIns="51054" bIns="34036" rtlCol="0" anchor="t">
            <a:spAutoFit/>
          </a:bodyPr>
          <a:lstStyle/>
          <a:p>
            <a:pPr marL="0" indent="0" algn="ctr">
              <a:lnSpc>
                <a:spcPts val="700"/>
              </a:lnSpc>
              <a:buNone/>
            </a:pPr>
            <a:r>
              <a:rPr lang="en-US" sz="534" b="1" dirty="0">
                <a:solidFill>
                  <a:srgbClr val="007BFF"/>
                </a:solidFill>
              </a:rPr>
              <a:t>521 Clean Records</a:t>
            </a:r>
            <a:endParaRPr lang="en-US" sz="534" dirty="0"/>
          </a:p>
        </p:txBody>
      </p:sp>
      <p:sp>
        <p:nvSpPr>
          <p:cNvPr id="20" name="Shape 17"/>
          <p:cNvSpPr/>
          <p:nvPr/>
        </p:nvSpPr>
        <p:spPr>
          <a:xfrm>
            <a:off x="4625578" y="1078706"/>
            <a:ext cx="4089797" cy="1371488"/>
          </a:xfrm>
          <a:prstGeom prst="rect">
            <a:avLst/>
          </a:prstGeom>
          <a:solidFill>
            <a:srgbClr val="F8F9FA"/>
          </a:solidFill>
          <a:ln/>
        </p:spPr>
        <p:txBody>
          <a:bodyPr/>
          <a:lstStyle/>
          <a:p>
            <a:endParaRPr lang="en-MU"/>
          </a:p>
        </p:txBody>
      </p:sp>
      <p:sp>
        <p:nvSpPr>
          <p:cNvPr id="21" name="Shape 18"/>
          <p:cNvSpPr/>
          <p:nvPr/>
        </p:nvSpPr>
        <p:spPr>
          <a:xfrm>
            <a:off x="4625578" y="1078706"/>
            <a:ext cx="4089797" cy="14288"/>
          </a:xfrm>
          <a:prstGeom prst="rect">
            <a:avLst/>
          </a:prstGeom>
          <a:solidFill>
            <a:srgbClr val="E0E0E0"/>
          </a:solidFill>
          <a:ln/>
        </p:spPr>
        <p:txBody>
          <a:bodyPr/>
          <a:lstStyle/>
          <a:p>
            <a:endParaRPr lang="en-MU"/>
          </a:p>
        </p:txBody>
      </p:sp>
      <p:sp>
        <p:nvSpPr>
          <p:cNvPr id="22" name="Shape 19"/>
          <p:cNvSpPr/>
          <p:nvPr/>
        </p:nvSpPr>
        <p:spPr>
          <a:xfrm>
            <a:off x="8701088" y="1078706"/>
            <a:ext cx="14288" cy="1371488"/>
          </a:xfrm>
          <a:prstGeom prst="rect">
            <a:avLst/>
          </a:prstGeom>
          <a:solidFill>
            <a:srgbClr val="E0E0E0"/>
          </a:solidFill>
          <a:ln/>
        </p:spPr>
        <p:txBody>
          <a:bodyPr/>
          <a:lstStyle/>
          <a:p>
            <a:endParaRPr lang="en-MU"/>
          </a:p>
        </p:txBody>
      </p:sp>
      <p:sp>
        <p:nvSpPr>
          <p:cNvPr id="23" name="Shape 20"/>
          <p:cNvSpPr/>
          <p:nvPr/>
        </p:nvSpPr>
        <p:spPr>
          <a:xfrm>
            <a:off x="4625578" y="2435907"/>
            <a:ext cx="4089797" cy="14288"/>
          </a:xfrm>
          <a:prstGeom prst="rect">
            <a:avLst/>
          </a:prstGeom>
          <a:solidFill>
            <a:srgbClr val="E0E0E0"/>
          </a:solidFill>
          <a:ln/>
        </p:spPr>
        <p:txBody>
          <a:bodyPr/>
          <a:lstStyle/>
          <a:p>
            <a:endParaRPr lang="en-MU"/>
          </a:p>
        </p:txBody>
      </p:sp>
      <p:sp>
        <p:nvSpPr>
          <p:cNvPr id="24" name="Shape 21"/>
          <p:cNvSpPr/>
          <p:nvPr/>
        </p:nvSpPr>
        <p:spPr>
          <a:xfrm>
            <a:off x="4625578" y="1078706"/>
            <a:ext cx="42863" cy="1371488"/>
          </a:xfrm>
          <a:prstGeom prst="rect">
            <a:avLst/>
          </a:prstGeom>
          <a:solidFill>
            <a:srgbClr val="28A745"/>
          </a:solidFill>
          <a:ln/>
        </p:spPr>
        <p:txBody>
          <a:bodyPr/>
          <a:lstStyle/>
          <a:p>
            <a:endParaRPr lang="en-MU"/>
          </a:p>
        </p:txBody>
      </p:sp>
      <p:sp>
        <p:nvSpPr>
          <p:cNvPr id="25" name="Text 22"/>
          <p:cNvSpPr/>
          <p:nvPr/>
        </p:nvSpPr>
        <p:spPr>
          <a:xfrm>
            <a:off x="4711303" y="1164431"/>
            <a:ext cx="3918347" cy="192881"/>
          </a:xfrm>
          <a:prstGeom prst="rect">
            <a:avLst/>
          </a:prstGeom>
          <a:noFill/>
          <a:ln/>
        </p:spPr>
        <p:txBody>
          <a:bodyPr wrap="square" lIns="0" tIns="0" rIns="0" bIns="51054" rtlCol="0" anchor="t">
            <a:spAutoFit/>
          </a:bodyPr>
          <a:lstStyle/>
          <a:p>
            <a:pPr marL="0" indent="0" algn="l">
              <a:lnSpc>
                <a:spcPts val="900"/>
              </a:lnSpc>
              <a:buNone/>
            </a:pPr>
            <a:r>
              <a:rPr lang="en-US" sz="683" b="1" dirty="0">
                <a:solidFill>
                  <a:srgbClr val="28A745"/>
                </a:solidFill>
              </a:rPr>
              <a:t>2. Analysis &amp; Visualization</a:t>
            </a:r>
            <a:endParaRPr lang="en-US" sz="683" dirty="0"/>
          </a:p>
        </p:txBody>
      </p:sp>
      <p:sp>
        <p:nvSpPr>
          <p:cNvPr id="26" name="Text 23"/>
          <p:cNvSpPr/>
          <p:nvPr/>
        </p:nvSpPr>
        <p:spPr>
          <a:xfrm>
            <a:off x="4711303" y="1416248"/>
            <a:ext cx="898243"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What We Discovered:</a:t>
            </a:r>
            <a:endParaRPr lang="en-US" sz="584" dirty="0"/>
          </a:p>
        </p:txBody>
      </p:sp>
      <p:sp>
        <p:nvSpPr>
          <p:cNvPr id="27" name="Text 24"/>
          <p:cNvSpPr/>
          <p:nvPr/>
        </p:nvSpPr>
        <p:spPr>
          <a:xfrm>
            <a:off x="4811316" y="1563030"/>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Created boxplot &amp; histogram visualizations</a:t>
            </a:r>
            <a:endParaRPr lang="en-US" sz="621" dirty="0"/>
          </a:p>
        </p:txBody>
      </p:sp>
      <p:sp>
        <p:nvSpPr>
          <p:cNvPr id="28" name="Text 25"/>
          <p:cNvSpPr/>
          <p:nvPr/>
        </p:nvSpPr>
        <p:spPr>
          <a:xfrm>
            <a:off x="4811316" y="1704454"/>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Identified top 3 features: Area (0.54), Bathrooms (0.52), Stories (0.43)</a:t>
            </a:r>
            <a:endParaRPr lang="en-US" sz="621" dirty="0"/>
          </a:p>
        </p:txBody>
      </p:sp>
      <p:sp>
        <p:nvSpPr>
          <p:cNvPr id="29" name="Text 26"/>
          <p:cNvSpPr/>
          <p:nvPr/>
        </p:nvSpPr>
        <p:spPr>
          <a:xfrm>
            <a:off x="4811316" y="1845878"/>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Found right-skewed price distribution</a:t>
            </a:r>
            <a:endParaRPr lang="en-US" sz="621" dirty="0"/>
          </a:p>
        </p:txBody>
      </p:sp>
      <p:sp>
        <p:nvSpPr>
          <p:cNvPr id="30" name="Text 27"/>
          <p:cNvSpPr/>
          <p:nvPr/>
        </p:nvSpPr>
        <p:spPr>
          <a:xfrm>
            <a:off x="4811316" y="1987302"/>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Median price: ₨3.85M, Range: ₨1.1M - ₨13.5M</a:t>
            </a:r>
            <a:endParaRPr lang="en-US" sz="621" dirty="0"/>
          </a:p>
        </p:txBody>
      </p:sp>
      <p:sp>
        <p:nvSpPr>
          <p:cNvPr id="31" name="Shape 28"/>
          <p:cNvSpPr/>
          <p:nvPr/>
        </p:nvSpPr>
        <p:spPr>
          <a:xfrm>
            <a:off x="4711303" y="2171588"/>
            <a:ext cx="3918347" cy="164306"/>
          </a:xfrm>
          <a:prstGeom prst="rect">
            <a:avLst/>
          </a:prstGeom>
          <a:solidFill>
            <a:srgbClr val="E8F5E9"/>
          </a:solidFill>
          <a:ln/>
        </p:spPr>
        <p:txBody>
          <a:bodyPr/>
          <a:lstStyle/>
          <a:p>
            <a:endParaRPr lang="en-MU"/>
          </a:p>
        </p:txBody>
      </p:sp>
      <p:sp>
        <p:nvSpPr>
          <p:cNvPr id="32" name="Text 29"/>
          <p:cNvSpPr/>
          <p:nvPr/>
        </p:nvSpPr>
        <p:spPr>
          <a:xfrm>
            <a:off x="4711303" y="2171588"/>
            <a:ext cx="3918347" cy="164306"/>
          </a:xfrm>
          <a:prstGeom prst="rect">
            <a:avLst/>
          </a:prstGeom>
          <a:noFill/>
          <a:ln/>
        </p:spPr>
        <p:txBody>
          <a:bodyPr wrap="square" lIns="51054" tIns="34036" rIns="51054" bIns="34036" rtlCol="0" anchor="t">
            <a:spAutoFit/>
          </a:bodyPr>
          <a:lstStyle/>
          <a:p>
            <a:pPr marL="0" indent="0" algn="ctr">
              <a:lnSpc>
                <a:spcPts val="700"/>
              </a:lnSpc>
              <a:buNone/>
            </a:pPr>
            <a:r>
              <a:rPr lang="en-US" sz="534" b="1" dirty="0">
                <a:solidFill>
                  <a:srgbClr val="28A745"/>
                </a:solidFill>
              </a:rPr>
              <a:t>3 Key Features</a:t>
            </a:r>
            <a:endParaRPr lang="en-US" sz="534" dirty="0"/>
          </a:p>
        </p:txBody>
      </p:sp>
      <p:sp>
        <p:nvSpPr>
          <p:cNvPr id="33" name="Shape 30"/>
          <p:cNvSpPr/>
          <p:nvPr/>
        </p:nvSpPr>
        <p:spPr>
          <a:xfrm>
            <a:off x="428625" y="2528776"/>
            <a:ext cx="4089797" cy="1371488"/>
          </a:xfrm>
          <a:prstGeom prst="rect">
            <a:avLst/>
          </a:prstGeom>
          <a:solidFill>
            <a:srgbClr val="F8F9FA"/>
          </a:solidFill>
          <a:ln/>
        </p:spPr>
        <p:txBody>
          <a:bodyPr/>
          <a:lstStyle/>
          <a:p>
            <a:endParaRPr lang="en-MU"/>
          </a:p>
        </p:txBody>
      </p:sp>
      <p:sp>
        <p:nvSpPr>
          <p:cNvPr id="34" name="Shape 31"/>
          <p:cNvSpPr/>
          <p:nvPr/>
        </p:nvSpPr>
        <p:spPr>
          <a:xfrm>
            <a:off x="428625" y="2528776"/>
            <a:ext cx="4089797" cy="14288"/>
          </a:xfrm>
          <a:prstGeom prst="rect">
            <a:avLst/>
          </a:prstGeom>
          <a:solidFill>
            <a:srgbClr val="E0E0E0"/>
          </a:solidFill>
          <a:ln/>
        </p:spPr>
        <p:txBody>
          <a:bodyPr/>
          <a:lstStyle/>
          <a:p>
            <a:endParaRPr lang="en-MU"/>
          </a:p>
        </p:txBody>
      </p:sp>
      <p:sp>
        <p:nvSpPr>
          <p:cNvPr id="35" name="Shape 32"/>
          <p:cNvSpPr/>
          <p:nvPr/>
        </p:nvSpPr>
        <p:spPr>
          <a:xfrm>
            <a:off x="4504134" y="2528776"/>
            <a:ext cx="14288" cy="1371488"/>
          </a:xfrm>
          <a:prstGeom prst="rect">
            <a:avLst/>
          </a:prstGeom>
          <a:solidFill>
            <a:srgbClr val="E0E0E0"/>
          </a:solidFill>
          <a:ln/>
        </p:spPr>
        <p:txBody>
          <a:bodyPr/>
          <a:lstStyle/>
          <a:p>
            <a:endParaRPr lang="en-MU"/>
          </a:p>
        </p:txBody>
      </p:sp>
      <p:sp>
        <p:nvSpPr>
          <p:cNvPr id="36" name="Shape 33"/>
          <p:cNvSpPr/>
          <p:nvPr/>
        </p:nvSpPr>
        <p:spPr>
          <a:xfrm>
            <a:off x="428625" y="3885977"/>
            <a:ext cx="4089797" cy="14288"/>
          </a:xfrm>
          <a:prstGeom prst="rect">
            <a:avLst/>
          </a:prstGeom>
          <a:solidFill>
            <a:srgbClr val="E0E0E0"/>
          </a:solidFill>
          <a:ln/>
        </p:spPr>
        <p:txBody>
          <a:bodyPr/>
          <a:lstStyle/>
          <a:p>
            <a:endParaRPr lang="en-MU"/>
          </a:p>
        </p:txBody>
      </p:sp>
      <p:sp>
        <p:nvSpPr>
          <p:cNvPr id="37" name="Shape 34"/>
          <p:cNvSpPr/>
          <p:nvPr/>
        </p:nvSpPr>
        <p:spPr>
          <a:xfrm>
            <a:off x="428625" y="2528776"/>
            <a:ext cx="42863" cy="1371488"/>
          </a:xfrm>
          <a:prstGeom prst="rect">
            <a:avLst/>
          </a:prstGeom>
          <a:solidFill>
            <a:srgbClr val="FFA500"/>
          </a:solidFill>
          <a:ln/>
        </p:spPr>
        <p:txBody>
          <a:bodyPr/>
          <a:lstStyle/>
          <a:p>
            <a:endParaRPr lang="en-MU"/>
          </a:p>
        </p:txBody>
      </p:sp>
      <p:sp>
        <p:nvSpPr>
          <p:cNvPr id="38" name="Text 35"/>
          <p:cNvSpPr/>
          <p:nvPr/>
        </p:nvSpPr>
        <p:spPr>
          <a:xfrm>
            <a:off x="514350" y="2614501"/>
            <a:ext cx="3918347" cy="192881"/>
          </a:xfrm>
          <a:prstGeom prst="rect">
            <a:avLst/>
          </a:prstGeom>
          <a:noFill/>
          <a:ln/>
        </p:spPr>
        <p:txBody>
          <a:bodyPr wrap="square" lIns="0" tIns="0" rIns="0" bIns="51054" rtlCol="0" anchor="t">
            <a:spAutoFit/>
          </a:bodyPr>
          <a:lstStyle/>
          <a:p>
            <a:pPr marL="0" indent="0" algn="l">
              <a:lnSpc>
                <a:spcPts val="900"/>
              </a:lnSpc>
              <a:buNone/>
            </a:pPr>
            <a:r>
              <a:rPr lang="en-US" sz="683" b="1" dirty="0">
                <a:solidFill>
                  <a:srgbClr val="FFA500"/>
                </a:solidFill>
              </a:rPr>
              <a:t>3. Model Training &amp; Comparison</a:t>
            </a:r>
            <a:endParaRPr lang="en-US" sz="683" dirty="0"/>
          </a:p>
        </p:txBody>
      </p:sp>
      <p:sp>
        <p:nvSpPr>
          <p:cNvPr id="39" name="Text 36"/>
          <p:cNvSpPr/>
          <p:nvPr/>
        </p:nvSpPr>
        <p:spPr>
          <a:xfrm>
            <a:off x="514350" y="2866318"/>
            <a:ext cx="632501"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What We Built:</a:t>
            </a:r>
            <a:endParaRPr lang="en-US" sz="584" dirty="0"/>
          </a:p>
        </p:txBody>
      </p:sp>
      <p:sp>
        <p:nvSpPr>
          <p:cNvPr id="40" name="Text 37"/>
          <p:cNvSpPr/>
          <p:nvPr/>
        </p:nvSpPr>
        <p:spPr>
          <a:xfrm>
            <a:off x="614363" y="3013100"/>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Trained 3 regression models</a:t>
            </a:r>
            <a:endParaRPr lang="en-US" sz="621" dirty="0"/>
          </a:p>
        </p:txBody>
      </p:sp>
      <p:sp>
        <p:nvSpPr>
          <p:cNvPr id="41" name="Text 38"/>
          <p:cNvSpPr/>
          <p:nvPr/>
        </p:nvSpPr>
        <p:spPr>
          <a:xfrm>
            <a:off x="614363" y="3154524"/>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Linear Regression: R² = 0.512, MAE = ₨1.25M</a:t>
            </a:r>
            <a:endParaRPr lang="en-US" sz="621" dirty="0"/>
          </a:p>
        </p:txBody>
      </p:sp>
      <p:sp>
        <p:nvSpPr>
          <p:cNvPr id="42" name="Text 39"/>
          <p:cNvSpPr/>
          <p:nvPr/>
        </p:nvSpPr>
        <p:spPr>
          <a:xfrm>
            <a:off x="614363" y="3295948"/>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Decision Tree: R² = 0.524, MAE = ₨1.16M</a:t>
            </a:r>
            <a:endParaRPr lang="en-US" sz="621" dirty="0"/>
          </a:p>
        </p:txBody>
      </p:sp>
      <p:sp>
        <p:nvSpPr>
          <p:cNvPr id="43" name="Text 40"/>
          <p:cNvSpPr/>
          <p:nvPr/>
        </p:nvSpPr>
        <p:spPr>
          <a:xfrm>
            <a:off x="614363" y="3437372"/>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Random Forest: R² = 0.546, MAE = ₨0.96M ✓</a:t>
            </a:r>
            <a:endParaRPr lang="en-US" sz="621" dirty="0"/>
          </a:p>
        </p:txBody>
      </p:sp>
      <p:sp>
        <p:nvSpPr>
          <p:cNvPr id="44" name="Shape 41"/>
          <p:cNvSpPr/>
          <p:nvPr/>
        </p:nvSpPr>
        <p:spPr>
          <a:xfrm>
            <a:off x="514350" y="3621658"/>
            <a:ext cx="3918347" cy="164306"/>
          </a:xfrm>
          <a:prstGeom prst="rect">
            <a:avLst/>
          </a:prstGeom>
          <a:solidFill>
            <a:srgbClr val="FFF3CD"/>
          </a:solidFill>
          <a:ln/>
        </p:spPr>
        <p:txBody>
          <a:bodyPr/>
          <a:lstStyle/>
          <a:p>
            <a:endParaRPr lang="en-MU"/>
          </a:p>
        </p:txBody>
      </p:sp>
      <p:sp>
        <p:nvSpPr>
          <p:cNvPr id="45" name="Text 42"/>
          <p:cNvSpPr/>
          <p:nvPr/>
        </p:nvSpPr>
        <p:spPr>
          <a:xfrm>
            <a:off x="514350" y="3621658"/>
            <a:ext cx="3918347" cy="164306"/>
          </a:xfrm>
          <a:prstGeom prst="rect">
            <a:avLst/>
          </a:prstGeom>
          <a:noFill/>
          <a:ln/>
        </p:spPr>
        <p:txBody>
          <a:bodyPr wrap="square" lIns="51054" tIns="34036" rIns="51054" bIns="34036" rtlCol="0" anchor="t">
            <a:spAutoFit/>
          </a:bodyPr>
          <a:lstStyle/>
          <a:p>
            <a:pPr marL="0" indent="0" algn="ctr">
              <a:lnSpc>
                <a:spcPts val="700"/>
              </a:lnSpc>
              <a:buNone/>
            </a:pPr>
            <a:r>
              <a:rPr lang="en-US" sz="534" b="1" dirty="0">
                <a:solidFill>
                  <a:srgbClr val="FFA500"/>
                </a:solidFill>
              </a:rPr>
              <a:t>Random Forest Winner</a:t>
            </a:r>
            <a:endParaRPr lang="en-US" sz="534" dirty="0"/>
          </a:p>
        </p:txBody>
      </p:sp>
      <p:sp>
        <p:nvSpPr>
          <p:cNvPr id="46" name="Shape 43"/>
          <p:cNvSpPr/>
          <p:nvPr/>
        </p:nvSpPr>
        <p:spPr>
          <a:xfrm>
            <a:off x="4625578" y="2528776"/>
            <a:ext cx="4089797" cy="1371488"/>
          </a:xfrm>
          <a:prstGeom prst="rect">
            <a:avLst/>
          </a:prstGeom>
          <a:solidFill>
            <a:srgbClr val="F8F9FA"/>
          </a:solidFill>
          <a:ln/>
        </p:spPr>
        <p:txBody>
          <a:bodyPr/>
          <a:lstStyle/>
          <a:p>
            <a:endParaRPr lang="en-MU"/>
          </a:p>
        </p:txBody>
      </p:sp>
      <p:sp>
        <p:nvSpPr>
          <p:cNvPr id="47" name="Shape 44"/>
          <p:cNvSpPr/>
          <p:nvPr/>
        </p:nvSpPr>
        <p:spPr>
          <a:xfrm>
            <a:off x="4625578" y="2528776"/>
            <a:ext cx="4089797" cy="14288"/>
          </a:xfrm>
          <a:prstGeom prst="rect">
            <a:avLst/>
          </a:prstGeom>
          <a:solidFill>
            <a:srgbClr val="E0E0E0"/>
          </a:solidFill>
          <a:ln/>
        </p:spPr>
        <p:txBody>
          <a:bodyPr/>
          <a:lstStyle/>
          <a:p>
            <a:endParaRPr lang="en-MU"/>
          </a:p>
        </p:txBody>
      </p:sp>
      <p:sp>
        <p:nvSpPr>
          <p:cNvPr id="48" name="Shape 45"/>
          <p:cNvSpPr/>
          <p:nvPr/>
        </p:nvSpPr>
        <p:spPr>
          <a:xfrm>
            <a:off x="8701088" y="2528776"/>
            <a:ext cx="14288" cy="1371488"/>
          </a:xfrm>
          <a:prstGeom prst="rect">
            <a:avLst/>
          </a:prstGeom>
          <a:solidFill>
            <a:srgbClr val="E0E0E0"/>
          </a:solidFill>
          <a:ln/>
        </p:spPr>
        <p:txBody>
          <a:bodyPr/>
          <a:lstStyle/>
          <a:p>
            <a:endParaRPr lang="en-MU"/>
          </a:p>
        </p:txBody>
      </p:sp>
      <p:sp>
        <p:nvSpPr>
          <p:cNvPr id="49" name="Shape 46"/>
          <p:cNvSpPr/>
          <p:nvPr/>
        </p:nvSpPr>
        <p:spPr>
          <a:xfrm>
            <a:off x="4625578" y="3885977"/>
            <a:ext cx="4089797" cy="14288"/>
          </a:xfrm>
          <a:prstGeom prst="rect">
            <a:avLst/>
          </a:prstGeom>
          <a:solidFill>
            <a:srgbClr val="E0E0E0"/>
          </a:solidFill>
          <a:ln/>
        </p:spPr>
        <p:txBody>
          <a:bodyPr/>
          <a:lstStyle/>
          <a:p>
            <a:endParaRPr lang="en-MU"/>
          </a:p>
        </p:txBody>
      </p:sp>
      <p:sp>
        <p:nvSpPr>
          <p:cNvPr id="50" name="Shape 47"/>
          <p:cNvSpPr/>
          <p:nvPr/>
        </p:nvSpPr>
        <p:spPr>
          <a:xfrm>
            <a:off x="4625578" y="2528776"/>
            <a:ext cx="42863" cy="1371488"/>
          </a:xfrm>
          <a:prstGeom prst="rect">
            <a:avLst/>
          </a:prstGeom>
          <a:solidFill>
            <a:srgbClr val="DC3545"/>
          </a:solidFill>
          <a:ln/>
        </p:spPr>
        <p:txBody>
          <a:bodyPr/>
          <a:lstStyle/>
          <a:p>
            <a:endParaRPr lang="en-MU"/>
          </a:p>
        </p:txBody>
      </p:sp>
      <p:sp>
        <p:nvSpPr>
          <p:cNvPr id="51" name="Text 48"/>
          <p:cNvSpPr/>
          <p:nvPr/>
        </p:nvSpPr>
        <p:spPr>
          <a:xfrm>
            <a:off x="4711303" y="2614501"/>
            <a:ext cx="3918347" cy="192881"/>
          </a:xfrm>
          <a:prstGeom prst="rect">
            <a:avLst/>
          </a:prstGeom>
          <a:noFill/>
          <a:ln/>
        </p:spPr>
        <p:txBody>
          <a:bodyPr wrap="square" lIns="0" tIns="0" rIns="0" bIns="51054" rtlCol="0" anchor="t">
            <a:spAutoFit/>
          </a:bodyPr>
          <a:lstStyle/>
          <a:p>
            <a:pPr marL="0" indent="0" algn="l">
              <a:lnSpc>
                <a:spcPts val="900"/>
              </a:lnSpc>
              <a:buNone/>
            </a:pPr>
            <a:r>
              <a:rPr lang="en-US" sz="683" b="1" dirty="0">
                <a:solidFill>
                  <a:srgbClr val="DC3545"/>
                </a:solidFill>
              </a:rPr>
              <a:t>4. Deployment &amp; Calculator</a:t>
            </a:r>
            <a:endParaRPr lang="en-US" sz="683" dirty="0"/>
          </a:p>
        </p:txBody>
      </p:sp>
      <p:sp>
        <p:nvSpPr>
          <p:cNvPr id="52" name="Text 49"/>
          <p:cNvSpPr/>
          <p:nvPr/>
        </p:nvSpPr>
        <p:spPr>
          <a:xfrm>
            <a:off x="4711303" y="2866318"/>
            <a:ext cx="837047" cy="116086"/>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What We Delivered:</a:t>
            </a:r>
            <a:endParaRPr lang="en-US" sz="584" dirty="0"/>
          </a:p>
        </p:txBody>
      </p:sp>
      <p:sp>
        <p:nvSpPr>
          <p:cNvPr id="53" name="Text 50"/>
          <p:cNvSpPr/>
          <p:nvPr/>
        </p:nvSpPr>
        <p:spPr>
          <a:xfrm>
            <a:off x="4811316" y="3013100"/>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Created predict_house_price() function</a:t>
            </a:r>
            <a:endParaRPr lang="en-US" sz="621" dirty="0"/>
          </a:p>
        </p:txBody>
      </p:sp>
      <p:sp>
        <p:nvSpPr>
          <p:cNvPr id="54" name="Text 51"/>
          <p:cNvSpPr/>
          <p:nvPr/>
        </p:nvSpPr>
        <p:spPr>
          <a:xfrm>
            <a:off x="4811316" y="3154524"/>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Accepts 12 house features as input</a:t>
            </a:r>
            <a:endParaRPr lang="en-US" sz="621" dirty="0"/>
          </a:p>
        </p:txBody>
      </p:sp>
      <p:sp>
        <p:nvSpPr>
          <p:cNvPr id="55" name="Text 52"/>
          <p:cNvSpPr/>
          <p:nvPr/>
        </p:nvSpPr>
        <p:spPr>
          <a:xfrm>
            <a:off x="4811316" y="3295948"/>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Automatically encodes &amp; scales data</a:t>
            </a:r>
            <a:endParaRPr lang="en-US" sz="621" dirty="0"/>
          </a:p>
        </p:txBody>
      </p:sp>
      <p:sp>
        <p:nvSpPr>
          <p:cNvPr id="56" name="Text 53"/>
          <p:cNvSpPr/>
          <p:nvPr/>
        </p:nvSpPr>
        <p:spPr>
          <a:xfrm>
            <a:off x="4811316" y="3437372"/>
            <a:ext cx="3818334"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495057"/>
                </a:solidFill>
              </a:rPr>
              <a:t>Returns accurate price predictions</a:t>
            </a:r>
            <a:endParaRPr lang="en-US" sz="621" dirty="0"/>
          </a:p>
        </p:txBody>
      </p:sp>
      <p:sp>
        <p:nvSpPr>
          <p:cNvPr id="57" name="Shape 54"/>
          <p:cNvSpPr/>
          <p:nvPr/>
        </p:nvSpPr>
        <p:spPr>
          <a:xfrm>
            <a:off x="4711303" y="3621658"/>
            <a:ext cx="3918347" cy="164306"/>
          </a:xfrm>
          <a:prstGeom prst="rect">
            <a:avLst/>
          </a:prstGeom>
          <a:solidFill>
            <a:srgbClr val="F8D7DA"/>
          </a:solidFill>
          <a:ln/>
        </p:spPr>
        <p:txBody>
          <a:bodyPr/>
          <a:lstStyle/>
          <a:p>
            <a:endParaRPr lang="en-MU"/>
          </a:p>
        </p:txBody>
      </p:sp>
      <p:sp>
        <p:nvSpPr>
          <p:cNvPr id="58" name="Text 55"/>
          <p:cNvSpPr/>
          <p:nvPr/>
        </p:nvSpPr>
        <p:spPr>
          <a:xfrm>
            <a:off x="4711303" y="3621658"/>
            <a:ext cx="3918347" cy="164306"/>
          </a:xfrm>
          <a:prstGeom prst="rect">
            <a:avLst/>
          </a:prstGeom>
          <a:noFill/>
          <a:ln/>
        </p:spPr>
        <p:txBody>
          <a:bodyPr wrap="square" lIns="51054" tIns="34036" rIns="51054" bIns="34036" rtlCol="0" anchor="t">
            <a:spAutoFit/>
          </a:bodyPr>
          <a:lstStyle/>
          <a:p>
            <a:pPr marL="0" indent="0" algn="ctr">
              <a:lnSpc>
                <a:spcPts val="700"/>
              </a:lnSpc>
              <a:buNone/>
            </a:pPr>
            <a:r>
              <a:rPr lang="en-US" sz="534" b="1" dirty="0">
                <a:solidFill>
                  <a:srgbClr val="DC3545"/>
                </a:solidFill>
              </a:rPr>
              <a:t>Production Ready</a:t>
            </a:r>
            <a:endParaRPr lang="en-US" sz="534" dirty="0"/>
          </a:p>
        </p:txBody>
      </p:sp>
      <p:sp>
        <p:nvSpPr>
          <p:cNvPr id="59" name="Shape 56"/>
          <p:cNvSpPr/>
          <p:nvPr/>
        </p:nvSpPr>
        <p:spPr>
          <a:xfrm>
            <a:off x="428625" y="4121721"/>
            <a:ext cx="8286750" cy="1048569"/>
          </a:xfrm>
          <a:prstGeom prst="rect">
            <a:avLst/>
          </a:prstGeom>
          <a:solidFill>
            <a:srgbClr val="E6F0FF"/>
          </a:solidFill>
          <a:ln/>
        </p:spPr>
        <p:txBody>
          <a:bodyPr/>
          <a:lstStyle/>
          <a:p>
            <a:endParaRPr lang="en-MU"/>
          </a:p>
        </p:txBody>
      </p:sp>
      <p:sp>
        <p:nvSpPr>
          <p:cNvPr id="60" name="Shape 57"/>
          <p:cNvSpPr/>
          <p:nvPr/>
        </p:nvSpPr>
        <p:spPr>
          <a:xfrm>
            <a:off x="428625" y="4121721"/>
            <a:ext cx="28575" cy="1048569"/>
          </a:xfrm>
          <a:prstGeom prst="rect">
            <a:avLst/>
          </a:prstGeom>
          <a:solidFill>
            <a:srgbClr val="007BFF"/>
          </a:solidFill>
          <a:ln/>
        </p:spPr>
        <p:txBody>
          <a:bodyPr/>
          <a:lstStyle/>
          <a:p>
            <a:endParaRPr lang="en-MU"/>
          </a:p>
        </p:txBody>
      </p:sp>
      <p:sp>
        <p:nvSpPr>
          <p:cNvPr id="61" name="Text 58"/>
          <p:cNvSpPr/>
          <p:nvPr/>
        </p:nvSpPr>
        <p:spPr>
          <a:xfrm>
            <a:off x="514350" y="4207446"/>
            <a:ext cx="8115300" cy="119993"/>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007BFF"/>
                </a:solidFill>
              </a:rPr>
              <a:t>Key Achievements &amp; Metrics</a:t>
            </a:r>
            <a:endParaRPr lang="en-US" sz="584" dirty="0"/>
          </a:p>
        </p:txBody>
      </p:sp>
      <p:sp>
        <p:nvSpPr>
          <p:cNvPr id="62" name="Text 59"/>
          <p:cNvSpPr/>
          <p:nvPr/>
        </p:nvSpPr>
        <p:spPr>
          <a:xfrm>
            <a:off x="514350" y="4370301"/>
            <a:ext cx="8115300" cy="119993"/>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 Data Quality:</a:t>
            </a:r>
            <a:r>
              <a:rPr lang="en-US" sz="621" dirty="0">
                <a:solidFill>
                  <a:srgbClr val="495057"/>
                </a:solidFill>
              </a:rPr>
              <a:t> Cleaned dataset from 545 to 521 records (95.6% retention), removed outliers while preserving data integrity</a:t>
            </a:r>
            <a:endParaRPr lang="en-US" sz="584" dirty="0"/>
          </a:p>
        </p:txBody>
      </p:sp>
      <p:sp>
        <p:nvSpPr>
          <p:cNvPr id="63" name="Text 60"/>
          <p:cNvSpPr/>
          <p:nvPr/>
        </p:nvSpPr>
        <p:spPr>
          <a:xfrm>
            <a:off x="514350" y="4518868"/>
            <a:ext cx="8115300" cy="119993"/>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 Feature Engineering:</a:t>
            </a:r>
            <a:r>
              <a:rPr lang="en-US" sz="621" dirty="0">
                <a:solidFill>
                  <a:srgbClr val="495057"/>
                </a:solidFill>
              </a:rPr>
              <a:t> Transformed 13 original features into 20 engineered features through one-hot encoding</a:t>
            </a:r>
            <a:endParaRPr lang="en-US" sz="584" dirty="0"/>
          </a:p>
        </p:txBody>
      </p:sp>
      <p:sp>
        <p:nvSpPr>
          <p:cNvPr id="64" name="Text 61"/>
          <p:cNvSpPr/>
          <p:nvPr/>
        </p:nvSpPr>
        <p:spPr>
          <a:xfrm>
            <a:off x="514350" y="4667436"/>
            <a:ext cx="8115300" cy="119993"/>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 Model Performance:</a:t>
            </a:r>
            <a:r>
              <a:rPr lang="en-US" sz="621" dirty="0">
                <a:solidFill>
                  <a:srgbClr val="495057"/>
                </a:solidFill>
              </a:rPr>
              <a:t> Random Forest achieved 54.6% variance explanation (R²) with average prediction error of ₨963,923</a:t>
            </a:r>
            <a:endParaRPr lang="en-US" sz="584" dirty="0"/>
          </a:p>
        </p:txBody>
      </p:sp>
      <p:sp>
        <p:nvSpPr>
          <p:cNvPr id="65" name="Text 62"/>
          <p:cNvSpPr/>
          <p:nvPr/>
        </p:nvSpPr>
        <p:spPr>
          <a:xfrm>
            <a:off x="514350" y="4816004"/>
            <a:ext cx="8115300" cy="119993"/>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 Deployment:</a:t>
            </a:r>
            <a:r>
              <a:rPr lang="en-US" sz="621" dirty="0">
                <a:solidFill>
                  <a:srgbClr val="495057"/>
                </a:solidFill>
              </a:rPr>
              <a:t> Created a fully functional calculator tool ready for real-world use in real estate applications</a:t>
            </a:r>
            <a:endParaRPr lang="en-US" sz="584" dirty="0"/>
          </a:p>
        </p:txBody>
      </p:sp>
      <p:sp>
        <p:nvSpPr>
          <p:cNvPr id="66" name="Text 63"/>
          <p:cNvSpPr/>
          <p:nvPr/>
        </p:nvSpPr>
        <p:spPr>
          <a:xfrm>
            <a:off x="514350" y="4964571"/>
            <a:ext cx="8115300" cy="119993"/>
          </a:xfrm>
          <a:prstGeom prst="rect">
            <a:avLst/>
          </a:prstGeom>
          <a:noFill/>
          <a:ln/>
        </p:spPr>
        <p:txBody>
          <a:bodyPr wrap="none" lIns="0" tIns="0" rIns="0" bIns="0" rtlCol="0" anchor="t">
            <a:spAutoFit/>
          </a:bodyPr>
          <a:lstStyle/>
          <a:p>
            <a:pPr marL="0" indent="0" algn="l">
              <a:lnSpc>
                <a:spcPts val="900"/>
              </a:lnSpc>
              <a:buNone/>
            </a:pPr>
            <a:r>
              <a:rPr lang="en-US" sz="584" b="1" dirty="0">
                <a:solidFill>
                  <a:srgbClr val="1A1A1A"/>
                </a:solidFill>
              </a:rPr>
              <a:t>✓ Documentation:</a:t>
            </a:r>
            <a:r>
              <a:rPr lang="en-US" sz="621" dirty="0">
                <a:solidFill>
                  <a:srgbClr val="495057"/>
                </a:solidFill>
              </a:rPr>
              <a:t> Comprehensive 17-slide presentation with detailed code explanations and interactive visualizations</a:t>
            </a:r>
            <a:endParaRPr lang="en-US" sz="584" dirty="0"/>
          </a:p>
        </p:txBody>
      </p:sp>
      <p:sp>
        <p:nvSpPr>
          <p:cNvPr id="67" name="Text 58">
            <a:extLst>
              <a:ext uri="{FF2B5EF4-FFF2-40B4-BE49-F238E27FC236}">
                <a16:creationId xmlns:a16="http://schemas.microsoft.com/office/drawing/2014/main" id="{755E8412-8961-3796-47D6-49462115957B}"/>
              </a:ext>
            </a:extLst>
          </p:cNvPr>
          <p:cNvSpPr/>
          <p:nvPr/>
        </p:nvSpPr>
        <p:spPr>
          <a:xfrm>
            <a:off x="4711303" y="4221063"/>
            <a:ext cx="3918347" cy="106376"/>
          </a:xfrm>
          <a:prstGeom prst="rect">
            <a:avLst/>
          </a:prstGeom>
          <a:noFill/>
          <a:ln/>
        </p:spPr>
        <p:txBody>
          <a:bodyPr wrap="square" lIns="0" tIns="0" rIns="0" bIns="0" rtlCol="0" anchor="t">
            <a:spAutoFit/>
          </a:bodyPr>
          <a:lstStyle/>
          <a:p>
            <a:pPr marL="0" indent="0" algn="l">
              <a:lnSpc>
                <a:spcPts val="900"/>
              </a:lnSpc>
              <a:buNone/>
            </a:pPr>
            <a:r>
              <a:rPr lang="en-US" sz="584" b="1" dirty="0">
                <a:solidFill>
                  <a:srgbClr val="007BFF"/>
                </a:solidFill>
              </a:rPr>
              <a:t>Problem encounter during the process</a:t>
            </a:r>
            <a:endParaRPr lang="en-US" sz="584" dirty="0"/>
          </a:p>
        </p:txBody>
      </p:sp>
      <p:sp>
        <p:nvSpPr>
          <p:cNvPr id="68" name="Text 59">
            <a:extLst>
              <a:ext uri="{FF2B5EF4-FFF2-40B4-BE49-F238E27FC236}">
                <a16:creationId xmlns:a16="http://schemas.microsoft.com/office/drawing/2014/main" id="{3421589E-D6D9-9045-1A11-CE633F493152}"/>
              </a:ext>
            </a:extLst>
          </p:cNvPr>
          <p:cNvSpPr/>
          <p:nvPr/>
        </p:nvSpPr>
        <p:spPr>
          <a:xfrm>
            <a:off x="4668441" y="4351114"/>
            <a:ext cx="4312104" cy="453842"/>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495057"/>
                </a:solidFill>
              </a:rPr>
              <a:t>Missing Values scattered across key column</a:t>
            </a:r>
          </a:p>
          <a:p>
            <a:pPr marL="0" indent="0" algn="l">
              <a:lnSpc>
                <a:spcPts val="900"/>
              </a:lnSpc>
              <a:buNone/>
            </a:pPr>
            <a:r>
              <a:rPr lang="en-US" sz="621" dirty="0">
                <a:solidFill>
                  <a:srgbClr val="495057"/>
                </a:solidFill>
              </a:rPr>
              <a:t>Outliers in price and squared footage</a:t>
            </a:r>
          </a:p>
          <a:p>
            <a:pPr marL="0" indent="0" algn="l">
              <a:lnSpc>
                <a:spcPts val="900"/>
              </a:lnSpc>
              <a:buNone/>
            </a:pPr>
            <a:r>
              <a:rPr lang="en-US" sz="621" dirty="0">
                <a:solidFill>
                  <a:srgbClr val="495057"/>
                </a:solidFill>
              </a:rPr>
              <a:t>Library was not installing properly</a:t>
            </a:r>
          </a:p>
          <a:p>
            <a:pPr marL="0" indent="0" algn="l">
              <a:lnSpc>
                <a:spcPts val="900"/>
              </a:lnSpc>
              <a:buNone/>
            </a:pPr>
            <a:r>
              <a:rPr lang="en-US" sz="621" dirty="0">
                <a:solidFill>
                  <a:srgbClr val="495057"/>
                </a:solidFill>
              </a:rPr>
              <a:t>Needed to  </a:t>
            </a:r>
            <a:endParaRPr lang="en-US" sz="5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1347</TotalTime>
  <Words>4625</Words>
  <Application>Microsoft Office PowerPoint</Application>
  <PresentationFormat>On-screen Show (16:9)</PresentationFormat>
  <Paragraphs>691</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AWOL 5 (Prod ADM)</cp:lastModifiedBy>
  <cp:revision>19</cp:revision>
  <dcterms:created xsi:type="dcterms:W3CDTF">2025-12-04T09:31:31Z</dcterms:created>
  <dcterms:modified xsi:type="dcterms:W3CDTF">2025-12-06T03:14:23Z</dcterms:modified>
</cp:coreProperties>
</file>